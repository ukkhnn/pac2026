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2"/>
  </p:notesMasterIdLst>
  <p:sldIdLst>
    <p:sldId id="305" r:id="rId2"/>
    <p:sldId id="294" r:id="rId3"/>
    <p:sldId id="257" r:id="rId4"/>
    <p:sldId id="303" r:id="rId5"/>
    <p:sldId id="304" r:id="rId6"/>
    <p:sldId id="296" r:id="rId7"/>
    <p:sldId id="261" r:id="rId8"/>
    <p:sldId id="259" r:id="rId9"/>
    <p:sldId id="268" r:id="rId10"/>
    <p:sldId id="265" r:id="rId11"/>
    <p:sldId id="267" r:id="rId12"/>
    <p:sldId id="260" r:id="rId13"/>
    <p:sldId id="264" r:id="rId14"/>
    <p:sldId id="298" r:id="rId15"/>
    <p:sldId id="269" r:id="rId16"/>
    <p:sldId id="262" r:id="rId17"/>
    <p:sldId id="272" r:id="rId18"/>
    <p:sldId id="297" r:id="rId19"/>
    <p:sldId id="274" r:id="rId20"/>
    <p:sldId id="275" r:id="rId21"/>
    <p:sldId id="276" r:id="rId22"/>
    <p:sldId id="302" r:id="rId23"/>
    <p:sldId id="278" r:id="rId24"/>
    <p:sldId id="279" r:id="rId25"/>
    <p:sldId id="295" r:id="rId26"/>
    <p:sldId id="281" r:id="rId27"/>
    <p:sldId id="301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9" r:id="rId40"/>
    <p:sldId id="300" r:id="rId41"/>
  </p:sldIdLst>
  <p:sldSz cx="15240000" cy="8572500"/>
  <p:notesSz cx="6858000" cy="9144000"/>
  <p:defaultTextStyle>
    <a:defPPr>
      <a:defRPr lang="ko-Kore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206"/>
    <p:restoredTop sz="83082"/>
  </p:normalViewPr>
  <p:slideViewPr>
    <p:cSldViewPr snapToGrid="0">
      <p:cViewPr>
        <p:scale>
          <a:sx n="70" d="100"/>
          <a:sy n="70" d="100"/>
        </p:scale>
        <p:origin x="64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[1장 · 20초] </a:t>
            </a:r>
            <a:r>
              <a:rPr dirty="0" err="1"/>
              <a:t>저희가</a:t>
            </a:r>
            <a:r>
              <a:rPr dirty="0"/>
              <a:t> </a:t>
            </a:r>
            <a:r>
              <a:rPr dirty="0" err="1"/>
              <a:t>만들려는</a:t>
            </a:r>
            <a:r>
              <a:rPr dirty="0"/>
              <a:t> </a:t>
            </a:r>
            <a:r>
              <a:rPr dirty="0" err="1"/>
              <a:t>ContextWeld의</a:t>
            </a:r>
            <a:r>
              <a:rPr dirty="0"/>
              <a:t> </a:t>
            </a:r>
            <a:r>
              <a:rPr dirty="0" err="1"/>
              <a:t>목표는</a:t>
            </a:r>
            <a:r>
              <a:rPr dirty="0"/>
              <a:t> </a:t>
            </a:r>
            <a:r>
              <a:rPr dirty="0" err="1"/>
              <a:t>용접</a:t>
            </a:r>
            <a:r>
              <a:rPr dirty="0"/>
              <a:t> </a:t>
            </a:r>
            <a:r>
              <a:rPr dirty="0" err="1"/>
              <a:t>작업</a:t>
            </a:r>
            <a:r>
              <a:rPr dirty="0"/>
              <a:t> </a:t>
            </a:r>
            <a:r>
              <a:rPr dirty="0" err="1"/>
              <a:t>준비의</a:t>
            </a:r>
            <a:r>
              <a:rPr dirty="0"/>
              <a:t> </a:t>
            </a:r>
            <a:r>
              <a:rPr dirty="0" err="1"/>
              <a:t>자동화입니다</a:t>
            </a:r>
            <a:r>
              <a:rPr dirty="0"/>
              <a:t>. </a:t>
            </a:r>
            <a:r>
              <a:rPr dirty="0" err="1"/>
              <a:t>현장</a:t>
            </a:r>
            <a:r>
              <a:rPr dirty="0"/>
              <a:t> </a:t>
            </a:r>
            <a:r>
              <a:rPr dirty="0" err="1"/>
              <a:t>표기를</a:t>
            </a:r>
            <a:r>
              <a:rPr dirty="0"/>
              <a:t> </a:t>
            </a:r>
            <a:r>
              <a:rPr dirty="0" err="1"/>
              <a:t>작업</a:t>
            </a:r>
            <a:r>
              <a:rPr dirty="0"/>
              <a:t> </a:t>
            </a:r>
            <a:r>
              <a:rPr dirty="0" err="1"/>
              <a:t>대상과</a:t>
            </a:r>
            <a:r>
              <a:rPr dirty="0"/>
              <a:t> </a:t>
            </a:r>
            <a:r>
              <a:rPr dirty="0" err="1"/>
              <a:t>용접조건에</a:t>
            </a:r>
            <a:r>
              <a:rPr dirty="0"/>
              <a:t> </a:t>
            </a:r>
            <a:r>
              <a:rPr dirty="0" err="1"/>
              <a:t>연결하고</a:t>
            </a:r>
            <a:r>
              <a:rPr dirty="0"/>
              <a:t>, </a:t>
            </a:r>
            <a:r>
              <a:rPr dirty="0" err="1"/>
              <a:t>로봇에</a:t>
            </a:r>
            <a:r>
              <a:rPr dirty="0"/>
              <a:t> </a:t>
            </a:r>
            <a:r>
              <a:rPr dirty="0" err="1"/>
              <a:t>전달할</a:t>
            </a:r>
            <a:r>
              <a:rPr dirty="0"/>
              <a:t> </a:t>
            </a:r>
            <a:r>
              <a:rPr dirty="0" err="1"/>
              <a:t>작업</a:t>
            </a:r>
            <a:r>
              <a:rPr dirty="0"/>
              <a:t> </a:t>
            </a:r>
            <a:r>
              <a:rPr dirty="0" err="1"/>
              <a:t>정보까지</a:t>
            </a:r>
            <a:r>
              <a:rPr dirty="0"/>
              <a:t> </a:t>
            </a:r>
            <a:r>
              <a:rPr dirty="0" err="1"/>
              <a:t>준비해</a:t>
            </a:r>
            <a:r>
              <a:rPr dirty="0"/>
              <a:t> </a:t>
            </a:r>
            <a:r>
              <a:rPr dirty="0" err="1"/>
              <a:t>사람의</a:t>
            </a:r>
            <a:r>
              <a:rPr dirty="0"/>
              <a:t> </a:t>
            </a:r>
            <a:r>
              <a:rPr dirty="0" err="1"/>
              <a:t>반복</a:t>
            </a:r>
            <a:r>
              <a:rPr dirty="0"/>
              <a:t> </a:t>
            </a:r>
            <a:r>
              <a:rPr dirty="0" err="1"/>
              <a:t>개입을</a:t>
            </a:r>
            <a:r>
              <a:rPr dirty="0"/>
              <a:t> </a:t>
            </a:r>
            <a:r>
              <a:rPr dirty="0" err="1"/>
              <a:t>줄이려</a:t>
            </a:r>
            <a:r>
              <a:rPr dirty="0"/>
              <a:t> </a:t>
            </a:r>
            <a:r>
              <a:rPr dirty="0" err="1"/>
              <a:t>합니다</a:t>
            </a:r>
            <a:r>
              <a:rPr dirty="0"/>
              <a:t>. </a:t>
            </a:r>
            <a:r>
              <a:rPr dirty="0" err="1"/>
              <a:t>부재</a:t>
            </a:r>
            <a:r>
              <a:rPr dirty="0"/>
              <a:t> </a:t>
            </a:r>
            <a:r>
              <a:rPr dirty="0" err="1"/>
              <a:t>표기를</a:t>
            </a:r>
            <a:r>
              <a:rPr dirty="0"/>
              <a:t> </a:t>
            </a:r>
            <a:r>
              <a:rPr dirty="0" err="1"/>
              <a:t>읽어도</a:t>
            </a:r>
            <a:r>
              <a:rPr dirty="0"/>
              <a:t> </a:t>
            </a:r>
            <a:r>
              <a:rPr dirty="0" err="1"/>
              <a:t>어느</a:t>
            </a:r>
            <a:r>
              <a:rPr dirty="0"/>
              <a:t> </a:t>
            </a:r>
            <a:r>
              <a:rPr dirty="0" err="1"/>
              <a:t>작업과</a:t>
            </a:r>
            <a:r>
              <a:rPr dirty="0"/>
              <a:t> </a:t>
            </a:r>
            <a:r>
              <a:rPr dirty="0" err="1"/>
              <a:t>문서</a:t>
            </a:r>
            <a:r>
              <a:rPr dirty="0"/>
              <a:t> </a:t>
            </a:r>
            <a:r>
              <a:rPr dirty="0" err="1"/>
              <a:t>개정에</a:t>
            </a:r>
            <a:r>
              <a:rPr dirty="0"/>
              <a:t> </a:t>
            </a:r>
            <a:r>
              <a:rPr dirty="0" err="1"/>
              <a:t>연결할지</a:t>
            </a:r>
            <a:r>
              <a:rPr dirty="0"/>
              <a:t>, </a:t>
            </a:r>
            <a:r>
              <a:rPr dirty="0" err="1"/>
              <a:t>어떤</a:t>
            </a:r>
            <a:r>
              <a:rPr dirty="0"/>
              <a:t> </a:t>
            </a:r>
            <a:r>
              <a:rPr dirty="0" err="1"/>
              <a:t>조건을</a:t>
            </a:r>
            <a:r>
              <a:rPr dirty="0"/>
              <a:t> </a:t>
            </a:r>
            <a:r>
              <a:rPr dirty="0" err="1"/>
              <a:t>준비할지는</a:t>
            </a:r>
            <a:r>
              <a:rPr dirty="0"/>
              <a:t> </a:t>
            </a:r>
            <a:r>
              <a:rPr dirty="0" err="1"/>
              <a:t>별도</a:t>
            </a:r>
            <a:r>
              <a:rPr dirty="0"/>
              <a:t> </a:t>
            </a:r>
            <a:r>
              <a:rPr dirty="0" err="1"/>
              <a:t>확인이</a:t>
            </a:r>
            <a:r>
              <a:rPr dirty="0"/>
              <a:t> </a:t>
            </a:r>
            <a:r>
              <a:rPr dirty="0" err="1"/>
              <a:t>필요합니다</a:t>
            </a:r>
            <a:r>
              <a:rPr dirty="0"/>
              <a:t>. </a:t>
            </a:r>
            <a:r>
              <a:rPr dirty="0" err="1"/>
              <a:t>이</a:t>
            </a:r>
            <a:r>
              <a:rPr dirty="0"/>
              <a:t> </a:t>
            </a:r>
            <a:r>
              <a:rPr dirty="0" err="1"/>
              <a:t>연결과</a:t>
            </a:r>
            <a:r>
              <a:rPr dirty="0"/>
              <a:t> </a:t>
            </a:r>
            <a:r>
              <a:rPr dirty="0" err="1"/>
              <a:t>근거</a:t>
            </a:r>
            <a:r>
              <a:rPr dirty="0"/>
              <a:t> </a:t>
            </a:r>
            <a:r>
              <a:rPr dirty="0" err="1"/>
              <a:t>추적을</a:t>
            </a:r>
            <a:r>
              <a:rPr dirty="0"/>
              <a:t> </a:t>
            </a:r>
            <a:r>
              <a:rPr dirty="0" err="1"/>
              <a:t>자동화하는</a:t>
            </a:r>
            <a:r>
              <a:rPr dirty="0"/>
              <a:t> </a:t>
            </a:r>
            <a:r>
              <a:rPr dirty="0" err="1"/>
              <a:t>구조를</a:t>
            </a:r>
            <a:r>
              <a:rPr dirty="0"/>
              <a:t> </a:t>
            </a:r>
            <a:r>
              <a:rPr dirty="0" err="1"/>
              <a:t>제안합니다</a:t>
            </a:r>
            <a:r>
              <a:rPr dirty="0"/>
              <a:t>.</a:t>
            </a:r>
          </a:p>
          <a:p>
            <a:r>
              <a:rPr dirty="0"/>
              <a:t>[</a:t>
            </a:r>
            <a:r>
              <a:rPr dirty="0" err="1"/>
              <a:t>전환</a:t>
            </a:r>
            <a:r>
              <a:rPr dirty="0"/>
              <a:t>] </a:t>
            </a:r>
            <a:r>
              <a:rPr dirty="0" err="1"/>
              <a:t>이</a:t>
            </a:r>
            <a:r>
              <a:rPr dirty="0"/>
              <a:t> </a:t>
            </a:r>
            <a:r>
              <a:rPr dirty="0" err="1"/>
              <a:t>서비스에</a:t>
            </a:r>
            <a:r>
              <a:rPr dirty="0"/>
              <a:t> </a:t>
            </a:r>
            <a:r>
              <a:rPr dirty="0" err="1"/>
              <a:t>무엇을</a:t>
            </a:r>
            <a:r>
              <a:rPr dirty="0"/>
              <a:t> </a:t>
            </a:r>
            <a:r>
              <a:rPr dirty="0" err="1"/>
              <a:t>넣고</a:t>
            </a:r>
            <a:r>
              <a:rPr dirty="0"/>
              <a:t> </a:t>
            </a:r>
            <a:r>
              <a:rPr dirty="0" err="1"/>
              <a:t>어떤</a:t>
            </a:r>
            <a:r>
              <a:rPr dirty="0"/>
              <a:t> </a:t>
            </a:r>
            <a:r>
              <a:rPr dirty="0" err="1"/>
              <a:t>결과를</a:t>
            </a:r>
            <a:r>
              <a:rPr dirty="0"/>
              <a:t> </a:t>
            </a:r>
            <a:r>
              <a:rPr dirty="0" err="1"/>
              <a:t>받는지</a:t>
            </a:r>
            <a:r>
              <a:rPr dirty="0"/>
              <a:t> </a:t>
            </a:r>
            <a:r>
              <a:rPr dirty="0" err="1"/>
              <a:t>먼저</a:t>
            </a:r>
            <a:r>
              <a:rPr dirty="0"/>
              <a:t> </a:t>
            </a:r>
            <a:r>
              <a:rPr dirty="0" err="1"/>
              <a:t>보여드리겠습니다</a:t>
            </a:r>
            <a:r>
              <a:rPr dirty="0"/>
              <a:t>.</a:t>
            </a:r>
          </a:p>
          <a:p>
            <a:r>
              <a:rPr dirty="0"/>
              <a:t>[</a:t>
            </a:r>
            <a:r>
              <a:rPr dirty="0" err="1"/>
              <a:t>구분</a:t>
            </a:r>
            <a:r>
              <a:rPr dirty="0"/>
              <a:t>]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용접</a:t>
            </a:r>
            <a:r>
              <a:rPr dirty="0"/>
              <a:t> </a:t>
            </a:r>
            <a:r>
              <a:rPr dirty="0" err="1"/>
              <a:t>실행은</a:t>
            </a:r>
            <a:r>
              <a:rPr dirty="0"/>
              <a:t> </a:t>
            </a:r>
            <a:r>
              <a:rPr dirty="0" err="1"/>
              <a:t>범위</a:t>
            </a:r>
            <a:r>
              <a:rPr dirty="0"/>
              <a:t> </a:t>
            </a:r>
            <a:r>
              <a:rPr dirty="0" err="1"/>
              <a:t>밖</a:t>
            </a:r>
            <a:r>
              <a:rPr dirty="0"/>
              <a:t>. </a:t>
            </a:r>
            <a:r>
              <a:rPr dirty="0" err="1"/>
              <a:t>현장</a:t>
            </a:r>
            <a:r>
              <a:rPr dirty="0"/>
              <a:t> </a:t>
            </a:r>
            <a:r>
              <a:rPr dirty="0" err="1"/>
              <a:t>수치·현장</a:t>
            </a:r>
            <a:r>
              <a:rPr dirty="0"/>
              <a:t> </a:t>
            </a:r>
            <a:r>
              <a:rPr dirty="0" err="1"/>
              <a:t>검증은</a:t>
            </a:r>
            <a:r>
              <a:rPr dirty="0"/>
              <a:t> </a:t>
            </a:r>
            <a:r>
              <a:rPr dirty="0" err="1"/>
              <a:t>만들지</a:t>
            </a:r>
            <a:r>
              <a:rPr dirty="0"/>
              <a:t> </a:t>
            </a:r>
            <a:r>
              <a:rPr dirty="0" err="1"/>
              <a:t>않음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마무리</a:t>
            </a:r>
            <a:r>
              <a:rPr dirty="0"/>
              <a:t>: </a:t>
            </a:r>
            <a:r>
              <a:rPr dirty="0" err="1"/>
              <a:t>사진</a:t>
            </a:r>
            <a:r>
              <a:rPr dirty="0"/>
              <a:t> </a:t>
            </a:r>
            <a:r>
              <a:rPr dirty="0" err="1"/>
              <a:t>영역에</a:t>
            </a:r>
            <a:r>
              <a:rPr dirty="0"/>
              <a:t> </a:t>
            </a:r>
            <a:r>
              <a:rPr dirty="0" err="1"/>
              <a:t>어두운</a:t>
            </a:r>
            <a:r>
              <a:rPr dirty="0"/>
              <a:t> </a:t>
            </a:r>
            <a:r>
              <a:rPr dirty="0" err="1"/>
              <a:t>배경</a:t>
            </a:r>
            <a:r>
              <a:rPr dirty="0"/>
              <a:t> </a:t>
            </a:r>
            <a:r>
              <a:rPr dirty="0" err="1"/>
              <a:t>이미지를</a:t>
            </a:r>
            <a:r>
              <a:rPr dirty="0"/>
              <a:t> </a:t>
            </a:r>
            <a:r>
              <a:rPr dirty="0" err="1"/>
              <a:t>삽입하는</a:t>
            </a:r>
            <a:r>
              <a:rPr dirty="0"/>
              <a:t> </a:t>
            </a:r>
            <a:r>
              <a:rPr dirty="0" err="1"/>
              <a:t>전체</a:t>
            </a:r>
            <a:r>
              <a:rPr dirty="0"/>
              <a:t> </a:t>
            </a:r>
            <a:r>
              <a:rPr dirty="0" err="1"/>
              <a:t>화면</a:t>
            </a:r>
            <a:r>
              <a:rPr dirty="0"/>
              <a:t> </a:t>
            </a:r>
            <a:r>
              <a:rPr dirty="0" err="1"/>
              <a:t>레이아웃</a:t>
            </a:r>
            <a:r>
              <a:rPr dirty="0"/>
              <a:t>.</a:t>
            </a:r>
          </a:p>
          <a:p>
            <a:r>
              <a:rPr dirty="0" err="1"/>
              <a:t>텍스트와</a:t>
            </a:r>
            <a:r>
              <a:rPr dirty="0"/>
              <a:t> </a:t>
            </a:r>
            <a:r>
              <a:rPr dirty="0" err="1"/>
              <a:t>도형은</a:t>
            </a:r>
            <a:r>
              <a:rPr dirty="0"/>
              <a:t> </a:t>
            </a:r>
            <a:r>
              <a:rPr dirty="0" err="1"/>
              <a:t>편집</a:t>
            </a:r>
            <a:r>
              <a:rPr dirty="0"/>
              <a:t> </a:t>
            </a:r>
            <a:r>
              <a:rPr dirty="0" err="1"/>
              <a:t>가능한</a:t>
            </a:r>
            <a:r>
              <a:rPr dirty="0"/>
              <a:t> PowerPoint </a:t>
            </a:r>
            <a:r>
              <a:rPr dirty="0" err="1"/>
              <a:t>개체입니다</a:t>
            </a:r>
            <a:r>
              <a:rPr dirty="0"/>
              <a:t>. </a:t>
            </a:r>
            <a:r>
              <a:rPr dirty="0" err="1"/>
              <a:t>표시된</a:t>
            </a:r>
            <a:r>
              <a:rPr dirty="0"/>
              <a:t> </a:t>
            </a:r>
            <a:r>
              <a:rPr dirty="0" err="1"/>
              <a:t>문구와</a:t>
            </a:r>
            <a:r>
              <a:rPr dirty="0"/>
              <a:t> </a:t>
            </a:r>
            <a:r>
              <a:rPr dirty="0" err="1"/>
              <a:t>숫자는</a:t>
            </a:r>
            <a:r>
              <a:rPr dirty="0"/>
              <a:t> </a:t>
            </a:r>
            <a:r>
              <a:rPr dirty="0" err="1"/>
              <a:t>디자인</a:t>
            </a:r>
            <a:r>
              <a:rPr dirty="0"/>
              <a:t> </a:t>
            </a:r>
            <a:r>
              <a:rPr dirty="0" err="1"/>
              <a:t>템플릿용</a:t>
            </a:r>
            <a:r>
              <a:rPr dirty="0"/>
              <a:t> </a:t>
            </a:r>
            <a:r>
              <a:rPr dirty="0" err="1"/>
              <a:t>예시이며</a:t>
            </a:r>
            <a:r>
              <a:rPr dirty="0"/>
              <a:t>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사업</a:t>
            </a:r>
            <a:r>
              <a:rPr dirty="0"/>
              <a:t> </a:t>
            </a:r>
            <a:r>
              <a:rPr dirty="0" err="1"/>
              <a:t>정보가</a:t>
            </a:r>
            <a:r>
              <a:rPr dirty="0"/>
              <a:t> </a:t>
            </a:r>
            <a:r>
              <a:rPr dirty="0" err="1"/>
              <a:t>아닙니다</a:t>
            </a:r>
            <a:r>
              <a:rPr dirty="0"/>
              <a:t>.</a:t>
            </a:r>
          </a:p>
          <a:p>
            <a:r>
              <a:rPr dirty="0" err="1"/>
              <a:t>디자인</a:t>
            </a:r>
            <a:r>
              <a:rPr dirty="0"/>
              <a:t> </a:t>
            </a:r>
            <a:r>
              <a:rPr dirty="0" err="1"/>
              <a:t>참고</a:t>
            </a:r>
            <a:r>
              <a:rPr dirty="0"/>
              <a:t>: </a:t>
            </a:r>
            <a:r>
              <a:rPr dirty="0" err="1"/>
              <a:t>사용자가</a:t>
            </a:r>
            <a:r>
              <a:rPr dirty="0"/>
              <a:t> </a:t>
            </a:r>
            <a:r>
              <a:rPr dirty="0" err="1"/>
              <a:t>제공한</a:t>
            </a:r>
            <a:r>
              <a:rPr dirty="0"/>
              <a:t> </a:t>
            </a:r>
            <a:r>
              <a:rPr dirty="0" err="1"/>
              <a:t>HD현대</a:t>
            </a:r>
            <a:r>
              <a:rPr dirty="0"/>
              <a:t> IR </a:t>
            </a:r>
            <a:r>
              <a:rPr dirty="0" err="1"/>
              <a:t>화면과</a:t>
            </a:r>
            <a:r>
              <a:rPr dirty="0"/>
              <a:t> https://</a:t>
            </a:r>
            <a:r>
              <a:rPr dirty="0" err="1"/>
              <a:t>esg.hd.com</a:t>
            </a:r>
            <a:r>
              <a:rPr dirty="0"/>
              <a:t>/ko/</a:t>
            </a:r>
            <a:r>
              <a:rPr dirty="0" err="1"/>
              <a:t>esg</a:t>
            </a:r>
            <a:r>
              <a:rPr dirty="0"/>
              <a:t>-approach/vision. </a:t>
            </a:r>
            <a:r>
              <a:rPr dirty="0" err="1"/>
              <a:t>HD현대</a:t>
            </a:r>
            <a:r>
              <a:rPr dirty="0"/>
              <a:t> </a:t>
            </a:r>
            <a:r>
              <a:rPr dirty="0" err="1"/>
              <a:t>로고와</a:t>
            </a:r>
            <a:r>
              <a:rPr dirty="0"/>
              <a:t> </a:t>
            </a:r>
            <a:r>
              <a:rPr dirty="0" err="1"/>
              <a:t>사진은</a:t>
            </a:r>
            <a:r>
              <a:rPr dirty="0"/>
              <a:t> </a:t>
            </a:r>
            <a:r>
              <a:rPr dirty="0" err="1"/>
              <a:t>사용하지</a:t>
            </a:r>
            <a:r>
              <a:rPr dirty="0"/>
              <a:t> </a:t>
            </a:r>
            <a:r>
              <a:rPr dirty="0" err="1"/>
              <a:t>않았습니다</a:t>
            </a:r>
            <a:r>
              <a:rPr dirty="0"/>
              <a:t>.</a:t>
            </a:r>
          </a:p>
          <a:p>
            <a:r>
              <a:rPr dirty="0" err="1"/>
              <a:t>아이콘</a:t>
            </a:r>
            <a:r>
              <a:rPr dirty="0"/>
              <a:t>: </a:t>
            </a:r>
            <a:r>
              <a:rPr dirty="0" err="1"/>
              <a:t>Lucide</a:t>
            </a:r>
            <a:r>
              <a:rPr dirty="0"/>
              <a:t> (ISC).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</a:t>
            </a:r>
            <a:r>
              <a:rPr dirty="0" err="1"/>
              <a:t>목차</a:t>
            </a:r>
            <a:r>
              <a:rPr dirty="0"/>
              <a:t> · </a:t>
            </a:r>
            <a:r>
              <a:rPr dirty="0" err="1"/>
              <a:t>발화</a:t>
            </a:r>
            <a:r>
              <a:rPr dirty="0"/>
              <a:t> </a:t>
            </a:r>
            <a:r>
              <a:rPr dirty="0" err="1"/>
              <a:t>없음</a:t>
            </a:r>
            <a:r>
              <a:rPr dirty="0"/>
              <a:t>] </a:t>
            </a:r>
            <a:r>
              <a:rPr dirty="0" err="1"/>
              <a:t>본문</a:t>
            </a:r>
            <a:r>
              <a:rPr dirty="0"/>
              <a:t> 11장은 </a:t>
            </a:r>
            <a:r>
              <a:rPr dirty="0" err="1"/>
              <a:t>네</a:t>
            </a:r>
            <a:r>
              <a:rPr dirty="0"/>
              <a:t> </a:t>
            </a:r>
            <a:r>
              <a:rPr dirty="0" err="1"/>
              <a:t>묶음</a:t>
            </a:r>
            <a:r>
              <a:rPr dirty="0"/>
              <a:t>: </a:t>
            </a:r>
            <a:r>
              <a:rPr dirty="0" err="1"/>
              <a:t>목표와</a:t>
            </a:r>
            <a:r>
              <a:rPr dirty="0"/>
              <a:t> </a:t>
            </a:r>
            <a:r>
              <a:rPr dirty="0" err="1"/>
              <a:t>서비스</a:t>
            </a:r>
            <a:r>
              <a:rPr dirty="0"/>
              <a:t> </a:t>
            </a:r>
            <a:r>
              <a:rPr dirty="0" err="1"/>
              <a:t>개요</a:t>
            </a:r>
            <a:r>
              <a:rPr dirty="0"/>
              <a:t>, </a:t>
            </a:r>
            <a:r>
              <a:rPr dirty="0" err="1"/>
              <a:t>단계별</a:t>
            </a:r>
            <a:r>
              <a:rPr dirty="0"/>
              <a:t> </a:t>
            </a:r>
            <a:r>
              <a:rPr dirty="0" err="1"/>
              <a:t>설계</a:t>
            </a:r>
            <a:r>
              <a:rPr dirty="0"/>
              <a:t>, </a:t>
            </a:r>
            <a:r>
              <a:rPr dirty="0" err="1"/>
              <a:t>추적·근거·경제성</a:t>
            </a:r>
            <a:r>
              <a:rPr dirty="0"/>
              <a:t>, </a:t>
            </a:r>
            <a:r>
              <a:rPr dirty="0" err="1"/>
              <a:t>제안</a:t>
            </a:r>
            <a:r>
              <a:rPr dirty="0"/>
              <a:t>. </a:t>
            </a:r>
            <a:r>
              <a:rPr dirty="0" err="1"/>
              <a:t>별첨은</a:t>
            </a:r>
            <a:r>
              <a:rPr dirty="0"/>
              <a:t> </a:t>
            </a:r>
            <a:r>
              <a:rPr dirty="0" err="1"/>
              <a:t>질의응답용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[2장 · 40초] </a:t>
            </a:r>
            <a:r>
              <a:rPr dirty="0" err="1"/>
              <a:t>사진을</a:t>
            </a:r>
            <a:r>
              <a:rPr dirty="0"/>
              <a:t> </a:t>
            </a:r>
            <a:r>
              <a:rPr dirty="0" err="1"/>
              <a:t>읽은</a:t>
            </a:r>
            <a:r>
              <a:rPr dirty="0"/>
              <a:t> </a:t>
            </a:r>
            <a:r>
              <a:rPr dirty="0" err="1"/>
              <a:t>다음에도</a:t>
            </a:r>
            <a:r>
              <a:rPr dirty="0"/>
              <a:t> </a:t>
            </a:r>
            <a:r>
              <a:rPr dirty="0" err="1"/>
              <a:t>어느</a:t>
            </a:r>
            <a:r>
              <a:rPr dirty="0"/>
              <a:t> </a:t>
            </a:r>
            <a:r>
              <a:rPr dirty="0" err="1"/>
              <a:t>부재의</a:t>
            </a:r>
            <a:r>
              <a:rPr dirty="0"/>
              <a:t> </a:t>
            </a:r>
            <a:r>
              <a:rPr dirty="0" err="1"/>
              <a:t>어떤</a:t>
            </a:r>
            <a:r>
              <a:rPr dirty="0"/>
              <a:t> </a:t>
            </a:r>
            <a:r>
              <a:rPr dirty="0" err="1"/>
              <a:t>작업인지</a:t>
            </a:r>
            <a:r>
              <a:rPr dirty="0"/>
              <a:t> </a:t>
            </a:r>
            <a:r>
              <a:rPr dirty="0" err="1"/>
              <a:t>찾고</a:t>
            </a:r>
            <a:r>
              <a:rPr dirty="0"/>
              <a:t>, </a:t>
            </a:r>
            <a:r>
              <a:rPr dirty="0" err="1"/>
              <a:t>적용</a:t>
            </a:r>
            <a:r>
              <a:rPr dirty="0"/>
              <a:t> </a:t>
            </a:r>
            <a:r>
              <a:rPr dirty="0" err="1"/>
              <a:t>문서를</a:t>
            </a:r>
            <a:r>
              <a:rPr dirty="0"/>
              <a:t> </a:t>
            </a:r>
            <a:r>
              <a:rPr dirty="0" err="1"/>
              <a:t>확인하고</a:t>
            </a:r>
            <a:r>
              <a:rPr dirty="0"/>
              <a:t>, </a:t>
            </a:r>
            <a:r>
              <a:rPr dirty="0" err="1"/>
              <a:t>조건을</a:t>
            </a:r>
            <a:r>
              <a:rPr dirty="0"/>
              <a:t> </a:t>
            </a:r>
            <a:r>
              <a:rPr dirty="0" err="1"/>
              <a:t>장비에</a:t>
            </a:r>
            <a:r>
              <a:rPr dirty="0"/>
              <a:t> </a:t>
            </a:r>
            <a:r>
              <a:rPr dirty="0" err="1"/>
              <a:t>맞게</a:t>
            </a:r>
            <a:r>
              <a:rPr dirty="0"/>
              <a:t> </a:t>
            </a:r>
            <a:r>
              <a:rPr dirty="0" err="1"/>
              <a:t>준비해야</a:t>
            </a:r>
            <a:r>
              <a:rPr dirty="0"/>
              <a:t> </a:t>
            </a:r>
            <a:r>
              <a:rPr dirty="0" err="1"/>
              <a:t>합니다</a:t>
            </a:r>
            <a:r>
              <a:rPr dirty="0"/>
              <a:t>. </a:t>
            </a:r>
            <a:r>
              <a:rPr dirty="0" err="1"/>
              <a:t>ContextWeld는</a:t>
            </a:r>
            <a:r>
              <a:rPr dirty="0"/>
              <a:t> </a:t>
            </a:r>
            <a:r>
              <a:rPr dirty="0" err="1"/>
              <a:t>이</a:t>
            </a:r>
            <a:r>
              <a:rPr dirty="0"/>
              <a:t> </a:t>
            </a:r>
            <a:r>
              <a:rPr dirty="0" err="1"/>
              <a:t>과정을</a:t>
            </a:r>
            <a:r>
              <a:rPr dirty="0"/>
              <a:t> </a:t>
            </a:r>
            <a:r>
              <a:rPr dirty="0" err="1"/>
              <a:t>하나로</a:t>
            </a:r>
            <a:r>
              <a:rPr dirty="0"/>
              <a:t> </a:t>
            </a:r>
            <a:r>
              <a:rPr dirty="0" err="1"/>
              <a:t>연결하려는</a:t>
            </a:r>
            <a:r>
              <a:rPr dirty="0"/>
              <a:t> </a:t>
            </a:r>
            <a:r>
              <a:rPr dirty="0" err="1"/>
              <a:t>서비스입니다</a:t>
            </a:r>
            <a:r>
              <a:rPr dirty="0"/>
              <a:t>. </a:t>
            </a:r>
            <a:r>
              <a:rPr dirty="0" err="1"/>
              <a:t>정상</a:t>
            </a:r>
            <a:r>
              <a:rPr dirty="0"/>
              <a:t> </a:t>
            </a:r>
            <a:r>
              <a:rPr dirty="0" err="1"/>
              <a:t>작업은</a:t>
            </a:r>
            <a:r>
              <a:rPr dirty="0"/>
              <a:t> </a:t>
            </a:r>
            <a:r>
              <a:rPr dirty="0" err="1"/>
              <a:t>자동으로</a:t>
            </a:r>
            <a:r>
              <a:rPr dirty="0"/>
              <a:t> </a:t>
            </a:r>
            <a:r>
              <a:rPr dirty="0" err="1"/>
              <a:t>진행하고</a:t>
            </a:r>
            <a:r>
              <a:rPr dirty="0"/>
              <a:t>, </a:t>
            </a:r>
            <a:r>
              <a:rPr dirty="0" err="1"/>
              <a:t>정보가</a:t>
            </a:r>
            <a:r>
              <a:rPr dirty="0"/>
              <a:t> </a:t>
            </a:r>
            <a:r>
              <a:rPr dirty="0" err="1"/>
              <a:t>부족하면</a:t>
            </a:r>
            <a:r>
              <a:rPr dirty="0"/>
              <a:t> </a:t>
            </a:r>
            <a:r>
              <a:rPr dirty="0" err="1"/>
              <a:t>필요한</a:t>
            </a:r>
            <a:r>
              <a:rPr dirty="0"/>
              <a:t> </a:t>
            </a:r>
            <a:r>
              <a:rPr dirty="0" err="1"/>
              <a:t>부분을</a:t>
            </a:r>
            <a:r>
              <a:rPr dirty="0"/>
              <a:t> </a:t>
            </a:r>
            <a:r>
              <a:rPr dirty="0" err="1"/>
              <a:t>보완합니다</a:t>
            </a:r>
            <a:r>
              <a:rPr dirty="0"/>
              <a:t>. </a:t>
            </a:r>
            <a:r>
              <a:rPr dirty="0" err="1"/>
              <a:t>자동으로</a:t>
            </a:r>
            <a:r>
              <a:rPr dirty="0"/>
              <a:t> </a:t>
            </a:r>
            <a:r>
              <a:rPr dirty="0" err="1"/>
              <a:t>해결되지</a:t>
            </a:r>
            <a:r>
              <a:rPr dirty="0"/>
              <a:t> </a:t>
            </a:r>
            <a:r>
              <a:rPr dirty="0" err="1"/>
              <a:t>않는</a:t>
            </a:r>
            <a:r>
              <a:rPr dirty="0"/>
              <a:t> </a:t>
            </a:r>
            <a:r>
              <a:rPr dirty="0" err="1"/>
              <a:t>예외에만</a:t>
            </a:r>
            <a:r>
              <a:rPr dirty="0"/>
              <a:t> </a:t>
            </a:r>
            <a:r>
              <a:rPr dirty="0" err="1"/>
              <a:t>사람의</a:t>
            </a:r>
            <a:r>
              <a:rPr dirty="0"/>
              <a:t> </a:t>
            </a:r>
            <a:r>
              <a:rPr dirty="0" err="1"/>
              <a:t>확인을</a:t>
            </a:r>
            <a:r>
              <a:rPr dirty="0"/>
              <a:t> </a:t>
            </a:r>
            <a:r>
              <a:rPr dirty="0" err="1"/>
              <a:t>집중시키는</a:t>
            </a:r>
            <a:r>
              <a:rPr dirty="0"/>
              <a:t> </a:t>
            </a:r>
            <a:r>
              <a:rPr dirty="0" err="1"/>
              <a:t>것이</a:t>
            </a:r>
            <a:r>
              <a:rPr dirty="0"/>
              <a:t> </a:t>
            </a:r>
            <a:r>
              <a:rPr dirty="0" err="1"/>
              <a:t>설계</a:t>
            </a:r>
            <a:r>
              <a:rPr dirty="0"/>
              <a:t> </a:t>
            </a:r>
            <a:r>
              <a:rPr dirty="0" err="1"/>
              <a:t>목표입니다</a:t>
            </a:r>
            <a:r>
              <a:rPr dirty="0"/>
              <a:t>.</a:t>
            </a:r>
          </a:p>
          <a:p>
            <a:r>
              <a:rPr dirty="0"/>
              <a:t>[</a:t>
            </a:r>
            <a:r>
              <a:rPr dirty="0" err="1"/>
              <a:t>전환</a:t>
            </a:r>
            <a:r>
              <a:rPr dirty="0"/>
              <a:t>] </a:t>
            </a:r>
            <a:r>
              <a:rPr dirty="0" err="1"/>
              <a:t>이</a:t>
            </a:r>
            <a:r>
              <a:rPr dirty="0"/>
              <a:t> </a:t>
            </a:r>
            <a:r>
              <a:rPr dirty="0" err="1"/>
              <a:t>자동화가</a:t>
            </a:r>
            <a:r>
              <a:rPr dirty="0"/>
              <a:t> </a:t>
            </a:r>
            <a:r>
              <a:rPr dirty="0" err="1"/>
              <a:t>현장</a:t>
            </a:r>
            <a:r>
              <a:rPr dirty="0"/>
              <a:t> </a:t>
            </a:r>
            <a:r>
              <a:rPr dirty="0" err="1"/>
              <a:t>입력의</a:t>
            </a:r>
            <a:r>
              <a:rPr dirty="0"/>
              <a:t> </a:t>
            </a:r>
            <a:r>
              <a:rPr dirty="0" err="1"/>
              <a:t>불확실성에도</a:t>
            </a:r>
            <a:r>
              <a:rPr dirty="0"/>
              <a:t> </a:t>
            </a:r>
            <a:r>
              <a:rPr dirty="0" err="1"/>
              <a:t>이어지도록</a:t>
            </a:r>
            <a:r>
              <a:rPr dirty="0"/>
              <a:t> </a:t>
            </a:r>
            <a:r>
              <a:rPr dirty="0" err="1"/>
              <a:t>처리</a:t>
            </a:r>
            <a:r>
              <a:rPr dirty="0"/>
              <a:t> </a:t>
            </a:r>
            <a:r>
              <a:rPr dirty="0" err="1"/>
              <a:t>구조와</a:t>
            </a:r>
            <a:r>
              <a:rPr dirty="0"/>
              <a:t> </a:t>
            </a:r>
            <a:r>
              <a:rPr dirty="0" err="1"/>
              <a:t>보완</a:t>
            </a:r>
            <a:r>
              <a:rPr dirty="0"/>
              <a:t> </a:t>
            </a:r>
            <a:r>
              <a:rPr dirty="0" err="1"/>
              <a:t>경로를</a:t>
            </a:r>
            <a:r>
              <a:rPr dirty="0"/>
              <a:t> </a:t>
            </a:r>
            <a:r>
              <a:rPr dirty="0" err="1"/>
              <a:t>설계했습니다</a:t>
            </a:r>
            <a:r>
              <a:rPr dirty="0"/>
              <a:t>.</a:t>
            </a:r>
          </a:p>
          <a:p>
            <a:r>
              <a:rPr dirty="0"/>
              <a:t>[</a:t>
            </a:r>
            <a:r>
              <a:rPr dirty="0" err="1"/>
              <a:t>구분</a:t>
            </a:r>
            <a:r>
              <a:rPr dirty="0"/>
              <a:t>] </a:t>
            </a:r>
            <a:r>
              <a:rPr dirty="0" err="1"/>
              <a:t>좌표·수신</a:t>
            </a:r>
            <a:r>
              <a:rPr dirty="0"/>
              <a:t> </a:t>
            </a:r>
            <a:r>
              <a:rPr dirty="0" err="1"/>
              <a:t>조건은</a:t>
            </a:r>
            <a:r>
              <a:rPr dirty="0"/>
              <a:t> </a:t>
            </a:r>
            <a:r>
              <a:rPr dirty="0" err="1"/>
              <a:t>별도</a:t>
            </a:r>
            <a:r>
              <a:rPr dirty="0"/>
              <a:t> </a:t>
            </a:r>
            <a:r>
              <a:rPr dirty="0" err="1"/>
              <a:t>입력</a:t>
            </a:r>
            <a:r>
              <a:rPr dirty="0"/>
              <a:t>.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확인되지</a:t>
            </a:r>
            <a:r>
              <a:rPr dirty="0"/>
              <a:t> </a:t>
            </a:r>
            <a:r>
              <a:rPr dirty="0" err="1"/>
              <a:t>않은</a:t>
            </a:r>
            <a:r>
              <a:rPr dirty="0"/>
              <a:t> </a:t>
            </a:r>
            <a:r>
              <a:rPr dirty="0" err="1"/>
              <a:t>값은</a:t>
            </a:r>
            <a:r>
              <a:rPr dirty="0"/>
              <a:t> </a:t>
            </a:r>
            <a:r>
              <a:rPr dirty="0" err="1"/>
              <a:t>만들지</a:t>
            </a:r>
            <a:r>
              <a:rPr dirty="0"/>
              <a:t> </a:t>
            </a:r>
            <a:r>
              <a:rPr dirty="0" err="1"/>
              <a:t>않음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[3장 · 40초] </a:t>
            </a:r>
            <a:r>
              <a:rPr dirty="0" err="1"/>
              <a:t>서비스</a:t>
            </a:r>
            <a:r>
              <a:rPr dirty="0"/>
              <a:t> </a:t>
            </a:r>
            <a:r>
              <a:rPr dirty="0" err="1"/>
              <a:t>개요의</a:t>
            </a:r>
            <a:r>
              <a:rPr dirty="0"/>
              <a:t> </a:t>
            </a:r>
            <a:r>
              <a:rPr dirty="0" err="1"/>
              <a:t>약속을</a:t>
            </a:r>
            <a:r>
              <a:rPr dirty="0"/>
              <a:t> </a:t>
            </a:r>
            <a:r>
              <a:rPr dirty="0" err="1"/>
              <a:t>구현하는</a:t>
            </a:r>
            <a:r>
              <a:rPr dirty="0"/>
              <a:t> </a:t>
            </a:r>
            <a:r>
              <a:rPr dirty="0" err="1"/>
              <a:t>처리</a:t>
            </a:r>
            <a:r>
              <a:rPr dirty="0"/>
              <a:t> </a:t>
            </a:r>
            <a:r>
              <a:rPr dirty="0" err="1"/>
              <a:t>구조입니다</a:t>
            </a:r>
            <a:r>
              <a:rPr dirty="0"/>
              <a:t>. </a:t>
            </a:r>
            <a:r>
              <a:rPr dirty="0" err="1"/>
              <a:t>사진</a:t>
            </a:r>
            <a:r>
              <a:rPr dirty="0"/>
              <a:t> </a:t>
            </a:r>
            <a:r>
              <a:rPr dirty="0" err="1"/>
              <a:t>수집</a:t>
            </a:r>
            <a:r>
              <a:rPr dirty="0"/>
              <a:t>, </a:t>
            </a:r>
            <a:r>
              <a:rPr dirty="0" err="1"/>
              <a:t>문자·숫자와</a:t>
            </a:r>
            <a:r>
              <a:rPr dirty="0"/>
              <a:t> </a:t>
            </a:r>
            <a:r>
              <a:rPr dirty="0" err="1"/>
              <a:t>화살표·기호·접합부</a:t>
            </a:r>
            <a:r>
              <a:rPr dirty="0"/>
              <a:t> </a:t>
            </a:r>
            <a:r>
              <a:rPr dirty="0" err="1"/>
              <a:t>관측</a:t>
            </a:r>
            <a:r>
              <a:rPr dirty="0"/>
              <a:t>, </a:t>
            </a:r>
            <a:r>
              <a:rPr dirty="0" err="1"/>
              <a:t>대상·관계</a:t>
            </a:r>
            <a:r>
              <a:rPr dirty="0"/>
              <a:t> </a:t>
            </a:r>
            <a:r>
              <a:rPr dirty="0" err="1"/>
              <a:t>해석</a:t>
            </a:r>
            <a:r>
              <a:rPr dirty="0"/>
              <a:t>, </a:t>
            </a:r>
            <a:r>
              <a:rPr dirty="0" err="1"/>
              <a:t>작업문서</a:t>
            </a:r>
            <a:r>
              <a:rPr dirty="0"/>
              <a:t> </a:t>
            </a:r>
            <a:r>
              <a:rPr dirty="0" err="1"/>
              <a:t>대조와</a:t>
            </a:r>
            <a:r>
              <a:rPr dirty="0"/>
              <a:t> </a:t>
            </a:r>
            <a:r>
              <a:rPr dirty="0" err="1"/>
              <a:t>작업</a:t>
            </a:r>
            <a:r>
              <a:rPr dirty="0"/>
              <a:t> </a:t>
            </a:r>
            <a:r>
              <a:rPr dirty="0" err="1"/>
              <a:t>명세</a:t>
            </a:r>
            <a:r>
              <a:rPr dirty="0"/>
              <a:t> </a:t>
            </a:r>
            <a:r>
              <a:rPr dirty="0" err="1"/>
              <a:t>검증</a:t>
            </a:r>
            <a:r>
              <a:rPr dirty="0"/>
              <a:t>, </a:t>
            </a:r>
            <a:r>
              <a:rPr dirty="0" err="1"/>
              <a:t>수신측</a:t>
            </a:r>
            <a:r>
              <a:rPr dirty="0"/>
              <a:t> </a:t>
            </a:r>
            <a:r>
              <a:rPr dirty="0" err="1"/>
              <a:t>형식</a:t>
            </a:r>
            <a:r>
              <a:rPr dirty="0"/>
              <a:t> </a:t>
            </a:r>
            <a:r>
              <a:rPr dirty="0" err="1"/>
              <a:t>변환·전달을</a:t>
            </a:r>
            <a:r>
              <a:rPr dirty="0"/>
              <a:t> </a:t>
            </a:r>
            <a:r>
              <a:rPr dirty="0" err="1"/>
              <a:t>연결합니다</a:t>
            </a:r>
            <a:r>
              <a:rPr dirty="0"/>
              <a:t>. </a:t>
            </a:r>
            <a:r>
              <a:rPr dirty="0" err="1"/>
              <a:t>사진이</a:t>
            </a:r>
            <a:r>
              <a:rPr dirty="0"/>
              <a:t> </a:t>
            </a:r>
            <a:r>
              <a:rPr dirty="0" err="1"/>
              <a:t>부족하면</a:t>
            </a:r>
            <a:r>
              <a:rPr dirty="0"/>
              <a:t> </a:t>
            </a:r>
            <a:r>
              <a:rPr dirty="0" err="1"/>
              <a:t>재촬영</a:t>
            </a:r>
            <a:r>
              <a:rPr dirty="0"/>
              <a:t>, </a:t>
            </a:r>
            <a:r>
              <a:rPr dirty="0" err="1"/>
              <a:t>읽기·해석이</a:t>
            </a:r>
            <a:r>
              <a:rPr dirty="0"/>
              <a:t> </a:t>
            </a:r>
            <a:r>
              <a:rPr dirty="0" err="1"/>
              <a:t>모호하면</a:t>
            </a:r>
            <a:r>
              <a:rPr dirty="0"/>
              <a:t> </a:t>
            </a:r>
            <a:r>
              <a:rPr dirty="0" err="1"/>
              <a:t>재인식·재해석</a:t>
            </a:r>
            <a:r>
              <a:rPr dirty="0"/>
              <a:t>, </a:t>
            </a:r>
            <a:r>
              <a:rPr dirty="0" err="1"/>
              <a:t>적용</a:t>
            </a:r>
            <a:r>
              <a:rPr dirty="0"/>
              <a:t> </a:t>
            </a:r>
            <a:r>
              <a:rPr dirty="0" err="1"/>
              <a:t>근거가</a:t>
            </a:r>
            <a:r>
              <a:rPr dirty="0"/>
              <a:t> </a:t>
            </a:r>
            <a:r>
              <a:rPr dirty="0" err="1"/>
              <a:t>부족하면</a:t>
            </a:r>
            <a:r>
              <a:rPr dirty="0"/>
              <a:t> </a:t>
            </a:r>
            <a:r>
              <a:rPr dirty="0" err="1"/>
              <a:t>문서</a:t>
            </a:r>
            <a:r>
              <a:rPr dirty="0"/>
              <a:t> </a:t>
            </a:r>
            <a:r>
              <a:rPr dirty="0" err="1"/>
              <a:t>재조회로</a:t>
            </a:r>
            <a:r>
              <a:rPr dirty="0"/>
              <a:t> </a:t>
            </a:r>
            <a:r>
              <a:rPr dirty="0" err="1"/>
              <a:t>돌아가고</a:t>
            </a:r>
            <a:r>
              <a:rPr dirty="0"/>
              <a:t>, </a:t>
            </a:r>
            <a:r>
              <a:rPr dirty="0" err="1"/>
              <a:t>자동</a:t>
            </a:r>
            <a:r>
              <a:rPr dirty="0"/>
              <a:t> </a:t>
            </a:r>
            <a:r>
              <a:rPr dirty="0" err="1"/>
              <a:t>보완으로</a:t>
            </a:r>
            <a:r>
              <a:rPr dirty="0"/>
              <a:t> </a:t>
            </a:r>
            <a:r>
              <a:rPr dirty="0" err="1"/>
              <a:t>해결되지</a:t>
            </a:r>
            <a:r>
              <a:rPr dirty="0"/>
              <a:t> </a:t>
            </a:r>
            <a:r>
              <a:rPr dirty="0" err="1"/>
              <a:t>않는</a:t>
            </a:r>
            <a:r>
              <a:rPr dirty="0"/>
              <a:t> </a:t>
            </a:r>
            <a:r>
              <a:rPr dirty="0" err="1"/>
              <a:t>모호함·충돌은</a:t>
            </a:r>
            <a:r>
              <a:rPr dirty="0"/>
              <a:t> </a:t>
            </a:r>
            <a:r>
              <a:rPr dirty="0" err="1"/>
              <a:t>작업자</a:t>
            </a:r>
            <a:r>
              <a:rPr dirty="0"/>
              <a:t> </a:t>
            </a:r>
            <a:r>
              <a:rPr dirty="0" err="1"/>
              <a:t>확인</a:t>
            </a:r>
            <a:r>
              <a:rPr dirty="0"/>
              <a:t> </a:t>
            </a:r>
            <a:r>
              <a:rPr dirty="0" err="1"/>
              <a:t>후</a:t>
            </a:r>
            <a:r>
              <a:rPr dirty="0"/>
              <a:t> </a:t>
            </a:r>
            <a:r>
              <a:rPr dirty="0" err="1"/>
              <a:t>명시적</a:t>
            </a:r>
            <a:r>
              <a:rPr dirty="0"/>
              <a:t> </a:t>
            </a:r>
            <a:r>
              <a:rPr dirty="0" err="1"/>
              <a:t>재검토로</a:t>
            </a:r>
            <a:r>
              <a:rPr dirty="0"/>
              <a:t> </a:t>
            </a:r>
            <a:r>
              <a:rPr dirty="0" err="1"/>
              <a:t>돌아갑니다</a:t>
            </a:r>
            <a:r>
              <a:rPr dirty="0"/>
              <a:t>. </a:t>
            </a:r>
            <a:r>
              <a:rPr dirty="0" err="1"/>
              <a:t>촬영</a:t>
            </a:r>
            <a:r>
              <a:rPr dirty="0"/>
              <a:t> </a:t>
            </a:r>
            <a:r>
              <a:rPr dirty="0" err="1"/>
              <a:t>로봇</a:t>
            </a:r>
            <a:r>
              <a:rPr dirty="0"/>
              <a:t>, AI </a:t>
            </a:r>
            <a:r>
              <a:rPr dirty="0" err="1"/>
              <a:t>처리</a:t>
            </a:r>
            <a:r>
              <a:rPr dirty="0"/>
              <a:t> </a:t>
            </a:r>
            <a:r>
              <a:rPr dirty="0" err="1"/>
              <a:t>서버</a:t>
            </a:r>
            <a:r>
              <a:rPr dirty="0"/>
              <a:t>, </a:t>
            </a:r>
            <a:r>
              <a:rPr dirty="0" err="1"/>
              <a:t>작업문서</a:t>
            </a:r>
            <a:r>
              <a:rPr dirty="0"/>
              <a:t> </a:t>
            </a:r>
            <a:r>
              <a:rPr dirty="0" err="1"/>
              <a:t>저장소</a:t>
            </a:r>
            <a:r>
              <a:rPr dirty="0"/>
              <a:t>, </a:t>
            </a:r>
            <a:r>
              <a:rPr dirty="0" err="1"/>
              <a:t>장비별</a:t>
            </a:r>
            <a:r>
              <a:rPr dirty="0"/>
              <a:t> </a:t>
            </a:r>
            <a:r>
              <a:rPr dirty="0" err="1"/>
              <a:t>수신부가</a:t>
            </a:r>
            <a:r>
              <a:rPr dirty="0"/>
              <a:t> </a:t>
            </a:r>
            <a:r>
              <a:rPr dirty="0" err="1"/>
              <a:t>주</a:t>
            </a:r>
            <a:r>
              <a:rPr dirty="0"/>
              <a:t> </a:t>
            </a:r>
            <a:r>
              <a:rPr dirty="0" err="1"/>
              <a:t>경로를</a:t>
            </a:r>
            <a:r>
              <a:rPr dirty="0"/>
              <a:t> </a:t>
            </a:r>
            <a:r>
              <a:rPr dirty="0" err="1"/>
              <a:t>받치고</a:t>
            </a:r>
            <a:r>
              <a:rPr dirty="0"/>
              <a:t>, </a:t>
            </a:r>
            <a:r>
              <a:rPr dirty="0" err="1"/>
              <a:t>원본·관측·문서·수정</a:t>
            </a:r>
            <a:r>
              <a:rPr dirty="0"/>
              <a:t> </a:t>
            </a:r>
            <a:r>
              <a:rPr dirty="0" err="1"/>
              <a:t>출처를</a:t>
            </a:r>
            <a:r>
              <a:rPr dirty="0"/>
              <a:t> </a:t>
            </a:r>
            <a:r>
              <a:rPr dirty="0" err="1"/>
              <a:t>구분한</a:t>
            </a:r>
            <a:r>
              <a:rPr dirty="0"/>
              <a:t> </a:t>
            </a:r>
            <a:r>
              <a:rPr dirty="0" err="1"/>
              <a:t>기록이</a:t>
            </a:r>
            <a:r>
              <a:rPr dirty="0"/>
              <a:t> </a:t>
            </a:r>
            <a:r>
              <a:rPr dirty="0" err="1"/>
              <a:t>대시보드의</a:t>
            </a:r>
            <a:r>
              <a:rPr dirty="0"/>
              <a:t> </a:t>
            </a:r>
            <a:r>
              <a:rPr dirty="0" err="1"/>
              <a:t>바탕입니다</a:t>
            </a:r>
            <a:r>
              <a:rPr dirty="0"/>
              <a:t>. </a:t>
            </a:r>
            <a:r>
              <a:rPr dirty="0" err="1"/>
              <a:t>AI는</a:t>
            </a:r>
            <a:r>
              <a:rPr dirty="0"/>
              <a:t> </a:t>
            </a:r>
            <a:r>
              <a:rPr dirty="0" err="1"/>
              <a:t>인식과</a:t>
            </a:r>
            <a:r>
              <a:rPr dirty="0"/>
              <a:t> </a:t>
            </a:r>
            <a:r>
              <a:rPr dirty="0" err="1"/>
              <a:t>비정형</a:t>
            </a:r>
            <a:r>
              <a:rPr dirty="0"/>
              <a:t> </a:t>
            </a:r>
            <a:r>
              <a:rPr dirty="0" err="1"/>
              <a:t>해석</a:t>
            </a:r>
            <a:r>
              <a:rPr dirty="0"/>
              <a:t>, </a:t>
            </a:r>
            <a:r>
              <a:rPr dirty="0" err="1"/>
              <a:t>명시적</a:t>
            </a:r>
            <a:r>
              <a:rPr dirty="0"/>
              <a:t> </a:t>
            </a:r>
            <a:r>
              <a:rPr dirty="0" err="1"/>
              <a:t>로직은</a:t>
            </a:r>
            <a:r>
              <a:rPr dirty="0"/>
              <a:t> </a:t>
            </a:r>
            <a:r>
              <a:rPr dirty="0" err="1"/>
              <a:t>조회·검사·상태·전달을</a:t>
            </a:r>
            <a:r>
              <a:rPr dirty="0"/>
              <a:t> </a:t>
            </a:r>
            <a:r>
              <a:rPr dirty="0" err="1"/>
              <a:t>맡아</a:t>
            </a:r>
            <a:r>
              <a:rPr dirty="0"/>
              <a:t> </a:t>
            </a:r>
            <a:r>
              <a:rPr dirty="0" err="1"/>
              <a:t>사람이</a:t>
            </a:r>
            <a:r>
              <a:rPr dirty="0"/>
              <a:t> </a:t>
            </a:r>
            <a:r>
              <a:rPr dirty="0" err="1"/>
              <a:t>매번</a:t>
            </a:r>
            <a:r>
              <a:rPr dirty="0"/>
              <a:t> </a:t>
            </a:r>
            <a:r>
              <a:rPr dirty="0" err="1"/>
              <a:t>판단할</a:t>
            </a:r>
            <a:r>
              <a:rPr dirty="0"/>
              <a:t> </a:t>
            </a:r>
            <a:r>
              <a:rPr dirty="0" err="1"/>
              <a:t>구간을</a:t>
            </a:r>
            <a:r>
              <a:rPr dirty="0"/>
              <a:t> </a:t>
            </a:r>
            <a:r>
              <a:rPr dirty="0" err="1"/>
              <a:t>줄이려는</a:t>
            </a:r>
            <a:r>
              <a:rPr dirty="0"/>
              <a:t> </a:t>
            </a:r>
            <a:r>
              <a:rPr dirty="0" err="1"/>
              <a:t>설계입니다</a:t>
            </a:r>
            <a:r>
              <a:rPr dirty="0"/>
              <a:t>.</a:t>
            </a:r>
          </a:p>
          <a:p>
            <a:r>
              <a:rPr dirty="0"/>
              <a:t>[</a:t>
            </a:r>
            <a:r>
              <a:rPr dirty="0" err="1"/>
              <a:t>전환</a:t>
            </a:r>
            <a:r>
              <a:rPr dirty="0"/>
              <a:t>] </a:t>
            </a:r>
            <a:r>
              <a:rPr dirty="0" err="1"/>
              <a:t>먼저</a:t>
            </a:r>
            <a:r>
              <a:rPr dirty="0"/>
              <a:t> </a:t>
            </a:r>
            <a:r>
              <a:rPr dirty="0" err="1"/>
              <a:t>자동</a:t>
            </a:r>
            <a:r>
              <a:rPr dirty="0"/>
              <a:t> </a:t>
            </a:r>
            <a:r>
              <a:rPr dirty="0" err="1"/>
              <a:t>처리에</a:t>
            </a:r>
            <a:r>
              <a:rPr dirty="0"/>
              <a:t> </a:t>
            </a:r>
            <a:r>
              <a:rPr dirty="0" err="1"/>
              <a:t>필요한</a:t>
            </a:r>
            <a:r>
              <a:rPr dirty="0"/>
              <a:t> </a:t>
            </a:r>
            <a:r>
              <a:rPr dirty="0" err="1"/>
              <a:t>입력을</a:t>
            </a:r>
            <a:r>
              <a:rPr dirty="0"/>
              <a:t> </a:t>
            </a:r>
            <a:r>
              <a:rPr dirty="0" err="1"/>
              <a:t>확보하는</a:t>
            </a:r>
            <a:r>
              <a:rPr dirty="0"/>
              <a:t> </a:t>
            </a:r>
            <a:r>
              <a:rPr dirty="0" err="1"/>
              <a:t>단계부터</a:t>
            </a:r>
            <a:r>
              <a:rPr dirty="0"/>
              <a:t> </a:t>
            </a:r>
            <a:r>
              <a:rPr dirty="0" err="1"/>
              <a:t>보겠습니다</a:t>
            </a:r>
            <a:r>
              <a:rPr dirty="0"/>
              <a:t>.</a:t>
            </a:r>
          </a:p>
          <a:p>
            <a:r>
              <a:rPr dirty="0"/>
              <a:t>[</a:t>
            </a:r>
            <a:r>
              <a:rPr dirty="0" err="1"/>
              <a:t>구분</a:t>
            </a:r>
            <a:r>
              <a:rPr dirty="0"/>
              <a:t>] </a:t>
            </a:r>
            <a:r>
              <a:rPr dirty="0" err="1"/>
              <a:t>목표</a:t>
            </a:r>
            <a:r>
              <a:rPr dirty="0"/>
              <a:t> </a:t>
            </a:r>
            <a:r>
              <a:rPr dirty="0" err="1"/>
              <a:t>경로와</a:t>
            </a:r>
            <a:r>
              <a:rPr dirty="0"/>
              <a:t> </a:t>
            </a:r>
            <a:r>
              <a:rPr dirty="0" err="1"/>
              <a:t>현재</a:t>
            </a:r>
            <a:r>
              <a:rPr dirty="0"/>
              <a:t> </a:t>
            </a:r>
            <a:r>
              <a:rPr dirty="0" err="1"/>
              <a:t>개별</a:t>
            </a:r>
            <a:r>
              <a:rPr dirty="0"/>
              <a:t> </a:t>
            </a:r>
            <a:r>
              <a:rPr dirty="0" err="1"/>
              <a:t>실행</a:t>
            </a:r>
            <a:r>
              <a:rPr dirty="0"/>
              <a:t> </a:t>
            </a:r>
            <a:r>
              <a:rPr dirty="0" err="1"/>
              <a:t>범위를</a:t>
            </a:r>
            <a:r>
              <a:rPr dirty="0"/>
              <a:t> </a:t>
            </a:r>
            <a:r>
              <a:rPr dirty="0" err="1"/>
              <a:t>구분</a:t>
            </a:r>
            <a:r>
              <a:rPr dirty="0"/>
              <a:t>. </a:t>
            </a:r>
            <a:r>
              <a:rPr dirty="0" err="1"/>
              <a:t>재시도</a:t>
            </a:r>
            <a:r>
              <a:rPr dirty="0"/>
              <a:t> </a:t>
            </a:r>
            <a:r>
              <a:rPr dirty="0" err="1"/>
              <a:t>횟수·자동</a:t>
            </a:r>
            <a:r>
              <a:rPr dirty="0"/>
              <a:t> </a:t>
            </a:r>
            <a:r>
              <a:rPr dirty="0" err="1"/>
              <a:t>선택</a:t>
            </a:r>
            <a:r>
              <a:rPr dirty="0"/>
              <a:t> </a:t>
            </a:r>
            <a:r>
              <a:rPr dirty="0" err="1"/>
              <a:t>정책은</a:t>
            </a:r>
            <a:r>
              <a:rPr dirty="0"/>
              <a:t> </a:t>
            </a:r>
            <a:r>
              <a:rPr dirty="0" err="1"/>
              <a:t>이번</a:t>
            </a:r>
            <a:r>
              <a:rPr dirty="0"/>
              <a:t> </a:t>
            </a:r>
            <a:r>
              <a:rPr dirty="0" err="1"/>
              <a:t>구성에서</a:t>
            </a:r>
            <a:r>
              <a:rPr dirty="0"/>
              <a:t> </a:t>
            </a:r>
            <a:r>
              <a:rPr dirty="0" err="1"/>
              <a:t>확정하지</a:t>
            </a:r>
            <a:r>
              <a:rPr dirty="0"/>
              <a:t> </a:t>
            </a:r>
            <a:r>
              <a:rPr dirty="0" err="1"/>
              <a:t>않음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5019A-0B45-B8B0-108B-102AE2F4C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FECE16-36E2-AF5A-062E-FB843693DE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4AA281-690E-DD5C-B734-9D04906531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[4장 · 30초] </a:t>
            </a:r>
            <a:r>
              <a:rPr dirty="0" err="1"/>
              <a:t>입력</a:t>
            </a:r>
            <a:r>
              <a:rPr dirty="0"/>
              <a:t> </a:t>
            </a:r>
            <a:r>
              <a:rPr dirty="0" err="1"/>
              <a:t>단계입니다</a:t>
            </a:r>
            <a:r>
              <a:rPr dirty="0"/>
              <a:t>. </a:t>
            </a:r>
            <a:r>
              <a:rPr dirty="0" err="1"/>
              <a:t>로봇이</a:t>
            </a:r>
            <a:r>
              <a:rPr dirty="0"/>
              <a:t> </a:t>
            </a:r>
            <a:r>
              <a:rPr dirty="0" err="1"/>
              <a:t>보낸</a:t>
            </a:r>
            <a:r>
              <a:rPr dirty="0"/>
              <a:t> </a:t>
            </a:r>
            <a:r>
              <a:rPr dirty="0" err="1"/>
              <a:t>사진을</a:t>
            </a:r>
            <a:r>
              <a:rPr dirty="0"/>
              <a:t> </a:t>
            </a:r>
            <a:r>
              <a:rPr dirty="0" err="1"/>
              <a:t>작업과</a:t>
            </a:r>
            <a:r>
              <a:rPr dirty="0"/>
              <a:t> </a:t>
            </a:r>
            <a:r>
              <a:rPr dirty="0" err="1"/>
              <a:t>관측</a:t>
            </a:r>
            <a:r>
              <a:rPr dirty="0"/>
              <a:t> </a:t>
            </a:r>
            <a:r>
              <a:rPr dirty="0" err="1"/>
              <a:t>시도에</a:t>
            </a:r>
            <a:r>
              <a:rPr dirty="0"/>
              <a:t> </a:t>
            </a:r>
            <a:r>
              <a:rPr dirty="0" err="1"/>
              <a:t>연결해</a:t>
            </a:r>
            <a:r>
              <a:rPr dirty="0"/>
              <a:t> </a:t>
            </a:r>
            <a:r>
              <a:rPr dirty="0" err="1"/>
              <a:t>보존하고</a:t>
            </a:r>
            <a:r>
              <a:rPr dirty="0"/>
              <a:t>, </a:t>
            </a:r>
            <a:r>
              <a:rPr dirty="0" err="1"/>
              <a:t>표기가</a:t>
            </a:r>
            <a:r>
              <a:rPr dirty="0"/>
              <a:t> </a:t>
            </a:r>
            <a:r>
              <a:rPr dirty="0" err="1"/>
              <a:t>보이는지</a:t>
            </a:r>
            <a:r>
              <a:rPr dirty="0"/>
              <a:t> </a:t>
            </a:r>
            <a:r>
              <a:rPr dirty="0" err="1"/>
              <a:t>확인합니다</a:t>
            </a:r>
            <a:r>
              <a:rPr dirty="0"/>
              <a:t>. </a:t>
            </a:r>
            <a:r>
              <a:rPr dirty="0" err="1"/>
              <a:t>왼쪽</a:t>
            </a:r>
            <a:r>
              <a:rPr dirty="0"/>
              <a:t> A </a:t>
            </a:r>
            <a:r>
              <a:rPr dirty="0" err="1"/>
              <a:t>시점은</a:t>
            </a:r>
            <a:r>
              <a:rPr dirty="0"/>
              <a:t> </a:t>
            </a:r>
            <a:r>
              <a:rPr dirty="0" err="1"/>
              <a:t>작업등</a:t>
            </a:r>
            <a:r>
              <a:rPr dirty="0"/>
              <a:t> </a:t>
            </a:r>
            <a:r>
              <a:rPr dirty="0" err="1"/>
              <a:t>반사가</a:t>
            </a:r>
            <a:r>
              <a:rPr dirty="0"/>
              <a:t> </a:t>
            </a:r>
            <a:r>
              <a:rPr dirty="0" err="1"/>
              <a:t>표기</a:t>
            </a:r>
            <a:r>
              <a:rPr dirty="0"/>
              <a:t> </a:t>
            </a:r>
            <a:r>
              <a:rPr dirty="0" err="1"/>
              <a:t>일부를</a:t>
            </a:r>
            <a:r>
              <a:rPr dirty="0"/>
              <a:t> </a:t>
            </a:r>
            <a:r>
              <a:rPr dirty="0" err="1"/>
              <a:t>가렸고</a:t>
            </a:r>
            <a:r>
              <a:rPr dirty="0"/>
              <a:t>, </a:t>
            </a:r>
            <a:r>
              <a:rPr dirty="0" err="1"/>
              <a:t>오른쪽</a:t>
            </a:r>
            <a:r>
              <a:rPr dirty="0"/>
              <a:t> B </a:t>
            </a:r>
            <a:r>
              <a:rPr dirty="0" err="1"/>
              <a:t>시점에서는</a:t>
            </a:r>
            <a:r>
              <a:rPr dirty="0"/>
              <a:t> </a:t>
            </a:r>
            <a:r>
              <a:rPr dirty="0" err="1"/>
              <a:t>전체가</a:t>
            </a:r>
            <a:r>
              <a:rPr dirty="0"/>
              <a:t> </a:t>
            </a:r>
            <a:r>
              <a:rPr dirty="0" err="1"/>
              <a:t>보입니다</a:t>
            </a:r>
            <a:r>
              <a:rPr dirty="0"/>
              <a:t>. </a:t>
            </a:r>
            <a:r>
              <a:rPr dirty="0" err="1"/>
              <a:t>이는</a:t>
            </a:r>
            <a:r>
              <a:rPr dirty="0"/>
              <a:t> </a:t>
            </a:r>
            <a:r>
              <a:rPr dirty="0" err="1"/>
              <a:t>육안</a:t>
            </a:r>
            <a:r>
              <a:rPr dirty="0"/>
              <a:t> </a:t>
            </a:r>
            <a:r>
              <a:rPr dirty="0" err="1"/>
              <a:t>확인</a:t>
            </a:r>
            <a:r>
              <a:rPr dirty="0"/>
              <a:t> </a:t>
            </a:r>
            <a:r>
              <a:rPr dirty="0" err="1"/>
              <a:t>기준입니다</a:t>
            </a:r>
            <a:r>
              <a:rPr dirty="0"/>
              <a:t>. </a:t>
            </a:r>
            <a:r>
              <a:rPr dirty="0" err="1"/>
              <a:t>관측이</a:t>
            </a:r>
            <a:r>
              <a:rPr dirty="0"/>
              <a:t> </a:t>
            </a:r>
            <a:r>
              <a:rPr dirty="0" err="1"/>
              <a:t>부족하면</a:t>
            </a:r>
            <a:r>
              <a:rPr dirty="0"/>
              <a:t> </a:t>
            </a:r>
            <a:r>
              <a:rPr dirty="0" err="1"/>
              <a:t>다른</a:t>
            </a:r>
            <a:r>
              <a:rPr dirty="0"/>
              <a:t> </a:t>
            </a:r>
            <a:r>
              <a:rPr dirty="0" err="1"/>
              <a:t>시점의</a:t>
            </a:r>
            <a:r>
              <a:rPr dirty="0"/>
              <a:t> </a:t>
            </a:r>
            <a:r>
              <a:rPr dirty="0" err="1"/>
              <a:t>사진으로</a:t>
            </a:r>
            <a:r>
              <a:rPr dirty="0"/>
              <a:t> </a:t>
            </a:r>
            <a:r>
              <a:rPr dirty="0" err="1"/>
              <a:t>보완하도록</a:t>
            </a:r>
            <a:r>
              <a:rPr dirty="0"/>
              <a:t> </a:t>
            </a:r>
            <a:r>
              <a:rPr dirty="0" err="1"/>
              <a:t>설계했습니다</a:t>
            </a:r>
            <a:r>
              <a:rPr dirty="0"/>
              <a:t>. </a:t>
            </a:r>
            <a:r>
              <a:rPr dirty="0" err="1"/>
              <a:t>이</a:t>
            </a:r>
            <a:r>
              <a:rPr dirty="0"/>
              <a:t> </a:t>
            </a:r>
            <a:r>
              <a:rPr dirty="0" err="1"/>
              <a:t>영상의</a:t>
            </a:r>
            <a:r>
              <a:rPr dirty="0"/>
              <a:t> </a:t>
            </a:r>
            <a:r>
              <a:rPr dirty="0" err="1"/>
              <a:t>카메라</a:t>
            </a:r>
            <a:r>
              <a:rPr dirty="0"/>
              <a:t> </a:t>
            </a:r>
            <a:r>
              <a:rPr dirty="0" err="1"/>
              <a:t>이동은</a:t>
            </a:r>
            <a:r>
              <a:rPr dirty="0"/>
              <a:t> </a:t>
            </a:r>
            <a:r>
              <a:rPr dirty="0" err="1"/>
              <a:t>사전</a:t>
            </a:r>
            <a:r>
              <a:rPr dirty="0"/>
              <a:t> </a:t>
            </a:r>
            <a:r>
              <a:rPr dirty="0" err="1"/>
              <a:t>지정</a:t>
            </a:r>
            <a:r>
              <a:rPr dirty="0"/>
              <a:t> </a:t>
            </a:r>
            <a:r>
              <a:rPr dirty="0" err="1"/>
              <a:t>동작이며</a:t>
            </a:r>
            <a:r>
              <a:rPr dirty="0"/>
              <a:t>, </a:t>
            </a:r>
            <a:r>
              <a:rPr dirty="0" err="1"/>
              <a:t>인식</a:t>
            </a:r>
            <a:r>
              <a:rPr dirty="0"/>
              <a:t> </a:t>
            </a:r>
            <a:r>
              <a:rPr dirty="0" err="1"/>
              <a:t>결과에</a:t>
            </a:r>
            <a:r>
              <a:rPr dirty="0"/>
              <a:t> </a:t>
            </a:r>
            <a:r>
              <a:rPr dirty="0" err="1"/>
              <a:t>따른</a:t>
            </a:r>
            <a:r>
              <a:rPr dirty="0"/>
              <a:t> </a:t>
            </a:r>
            <a:r>
              <a:rPr dirty="0" err="1"/>
              <a:t>자동</a:t>
            </a:r>
            <a:r>
              <a:rPr dirty="0"/>
              <a:t> </a:t>
            </a:r>
            <a:r>
              <a:rPr dirty="0" err="1"/>
              <a:t>재촬영은</a:t>
            </a:r>
            <a:r>
              <a:rPr dirty="0"/>
              <a:t> </a:t>
            </a:r>
            <a:r>
              <a:rPr dirty="0" err="1"/>
              <a:t>목표</a:t>
            </a:r>
            <a:r>
              <a:rPr dirty="0"/>
              <a:t> </a:t>
            </a:r>
            <a:r>
              <a:rPr dirty="0" err="1"/>
              <a:t>설계입니다</a:t>
            </a:r>
            <a:r>
              <a:rPr dirty="0"/>
              <a:t>.</a:t>
            </a:r>
          </a:p>
          <a:p>
            <a:r>
              <a:rPr dirty="0"/>
              <a:t>[</a:t>
            </a:r>
            <a:r>
              <a:rPr dirty="0" err="1"/>
              <a:t>전환</a:t>
            </a:r>
            <a:r>
              <a:rPr dirty="0"/>
              <a:t>] </a:t>
            </a:r>
            <a:r>
              <a:rPr dirty="0" err="1"/>
              <a:t>확보한</a:t>
            </a:r>
            <a:r>
              <a:rPr dirty="0"/>
              <a:t> </a:t>
            </a:r>
            <a:r>
              <a:rPr dirty="0" err="1"/>
              <a:t>관측에서</a:t>
            </a:r>
            <a:r>
              <a:rPr dirty="0"/>
              <a:t> </a:t>
            </a:r>
            <a:r>
              <a:rPr dirty="0" err="1"/>
              <a:t>무엇을</a:t>
            </a:r>
            <a:r>
              <a:rPr dirty="0"/>
              <a:t> </a:t>
            </a:r>
            <a:r>
              <a:rPr dirty="0" err="1"/>
              <a:t>읽었고</a:t>
            </a:r>
            <a:r>
              <a:rPr dirty="0"/>
              <a:t> </a:t>
            </a:r>
            <a:r>
              <a:rPr dirty="0" err="1"/>
              <a:t>어떤</a:t>
            </a:r>
            <a:r>
              <a:rPr dirty="0"/>
              <a:t> </a:t>
            </a:r>
            <a:r>
              <a:rPr dirty="0" err="1"/>
              <a:t>대상을</a:t>
            </a:r>
            <a:r>
              <a:rPr dirty="0"/>
              <a:t> </a:t>
            </a:r>
            <a:r>
              <a:rPr dirty="0" err="1"/>
              <a:t>가리키는지</a:t>
            </a:r>
            <a:r>
              <a:rPr dirty="0"/>
              <a:t> </a:t>
            </a:r>
            <a:r>
              <a:rPr dirty="0" err="1"/>
              <a:t>판단합니다</a:t>
            </a:r>
            <a:r>
              <a:rPr dirty="0"/>
              <a:t>.</a:t>
            </a:r>
          </a:p>
          <a:p>
            <a:r>
              <a:rPr dirty="0"/>
              <a:t>[</a:t>
            </a:r>
            <a:r>
              <a:rPr dirty="0" err="1"/>
              <a:t>구분</a:t>
            </a:r>
            <a:r>
              <a:rPr dirty="0"/>
              <a:t>] </a:t>
            </a:r>
            <a:r>
              <a:rPr dirty="0" err="1"/>
              <a:t>모델이</a:t>
            </a:r>
            <a:r>
              <a:rPr dirty="0"/>
              <a:t> </a:t>
            </a:r>
            <a:r>
              <a:rPr dirty="0" err="1"/>
              <a:t>A의</a:t>
            </a:r>
            <a:r>
              <a:rPr dirty="0"/>
              <a:t> </a:t>
            </a:r>
            <a:r>
              <a:rPr dirty="0" err="1"/>
              <a:t>판독</a:t>
            </a:r>
            <a:r>
              <a:rPr dirty="0"/>
              <a:t> </a:t>
            </a:r>
            <a:r>
              <a:rPr dirty="0" err="1"/>
              <a:t>실패를</a:t>
            </a:r>
            <a:r>
              <a:rPr dirty="0"/>
              <a:t> </a:t>
            </a:r>
            <a:r>
              <a:rPr dirty="0" err="1"/>
              <a:t>판단해</a:t>
            </a:r>
            <a:r>
              <a:rPr dirty="0"/>
              <a:t> </a:t>
            </a:r>
            <a:r>
              <a:rPr dirty="0" err="1"/>
              <a:t>팔을</a:t>
            </a:r>
            <a:r>
              <a:rPr dirty="0"/>
              <a:t> </a:t>
            </a:r>
            <a:r>
              <a:rPr dirty="0" err="1"/>
              <a:t>움직이거나</a:t>
            </a:r>
            <a:r>
              <a:rPr dirty="0"/>
              <a:t> </a:t>
            </a:r>
            <a:r>
              <a:rPr dirty="0" err="1"/>
              <a:t>B를</a:t>
            </a:r>
            <a:r>
              <a:rPr dirty="0"/>
              <a:t> </a:t>
            </a:r>
            <a:r>
              <a:rPr dirty="0" err="1"/>
              <a:t>판독한</a:t>
            </a:r>
            <a:r>
              <a:rPr dirty="0"/>
              <a:t> </a:t>
            </a:r>
            <a:r>
              <a:rPr dirty="0" err="1"/>
              <a:t>성능</a:t>
            </a:r>
            <a:r>
              <a:rPr dirty="0"/>
              <a:t> </a:t>
            </a:r>
            <a:r>
              <a:rPr dirty="0" err="1"/>
              <a:t>결과로</a:t>
            </a:r>
            <a:r>
              <a:rPr dirty="0"/>
              <a:t> </a:t>
            </a:r>
            <a:r>
              <a:rPr dirty="0" err="1"/>
              <a:t>설명하지</a:t>
            </a:r>
            <a:r>
              <a:rPr dirty="0"/>
              <a:t> </a:t>
            </a:r>
            <a:r>
              <a:rPr dirty="0" err="1"/>
              <a:t>않음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80BFE7-BA06-9DD9-CFDC-8E02B56FB36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466326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[4장 · 30초] </a:t>
            </a:r>
            <a:r>
              <a:rPr dirty="0" err="1"/>
              <a:t>입력</a:t>
            </a:r>
            <a:r>
              <a:rPr dirty="0"/>
              <a:t> </a:t>
            </a:r>
            <a:r>
              <a:rPr dirty="0" err="1"/>
              <a:t>단계입니다</a:t>
            </a:r>
            <a:r>
              <a:rPr dirty="0"/>
              <a:t>. </a:t>
            </a:r>
            <a:r>
              <a:rPr dirty="0" err="1"/>
              <a:t>로봇이</a:t>
            </a:r>
            <a:r>
              <a:rPr dirty="0"/>
              <a:t> </a:t>
            </a:r>
            <a:r>
              <a:rPr dirty="0" err="1"/>
              <a:t>보낸</a:t>
            </a:r>
            <a:r>
              <a:rPr dirty="0"/>
              <a:t> </a:t>
            </a:r>
            <a:r>
              <a:rPr dirty="0" err="1"/>
              <a:t>사진을</a:t>
            </a:r>
            <a:r>
              <a:rPr dirty="0"/>
              <a:t> </a:t>
            </a:r>
            <a:r>
              <a:rPr dirty="0" err="1"/>
              <a:t>작업과</a:t>
            </a:r>
            <a:r>
              <a:rPr dirty="0"/>
              <a:t> </a:t>
            </a:r>
            <a:r>
              <a:rPr dirty="0" err="1"/>
              <a:t>관측</a:t>
            </a:r>
            <a:r>
              <a:rPr dirty="0"/>
              <a:t> </a:t>
            </a:r>
            <a:r>
              <a:rPr dirty="0" err="1"/>
              <a:t>시도에</a:t>
            </a:r>
            <a:r>
              <a:rPr dirty="0"/>
              <a:t> </a:t>
            </a:r>
            <a:r>
              <a:rPr dirty="0" err="1"/>
              <a:t>연결해</a:t>
            </a:r>
            <a:r>
              <a:rPr dirty="0"/>
              <a:t> </a:t>
            </a:r>
            <a:r>
              <a:rPr dirty="0" err="1"/>
              <a:t>보존하고</a:t>
            </a:r>
            <a:r>
              <a:rPr dirty="0"/>
              <a:t>, </a:t>
            </a:r>
            <a:r>
              <a:rPr dirty="0" err="1"/>
              <a:t>표기가</a:t>
            </a:r>
            <a:r>
              <a:rPr dirty="0"/>
              <a:t> </a:t>
            </a:r>
            <a:r>
              <a:rPr dirty="0" err="1"/>
              <a:t>보이는지</a:t>
            </a:r>
            <a:r>
              <a:rPr dirty="0"/>
              <a:t> </a:t>
            </a:r>
            <a:r>
              <a:rPr dirty="0" err="1"/>
              <a:t>확인합니다</a:t>
            </a:r>
            <a:r>
              <a:rPr dirty="0"/>
              <a:t>. </a:t>
            </a:r>
            <a:r>
              <a:rPr dirty="0" err="1"/>
              <a:t>왼쪽</a:t>
            </a:r>
            <a:r>
              <a:rPr dirty="0"/>
              <a:t> A </a:t>
            </a:r>
            <a:r>
              <a:rPr dirty="0" err="1"/>
              <a:t>시점은</a:t>
            </a:r>
            <a:r>
              <a:rPr dirty="0"/>
              <a:t> </a:t>
            </a:r>
            <a:r>
              <a:rPr dirty="0" err="1"/>
              <a:t>작업등</a:t>
            </a:r>
            <a:r>
              <a:rPr dirty="0"/>
              <a:t> </a:t>
            </a:r>
            <a:r>
              <a:rPr dirty="0" err="1"/>
              <a:t>반사가</a:t>
            </a:r>
            <a:r>
              <a:rPr dirty="0"/>
              <a:t> </a:t>
            </a:r>
            <a:r>
              <a:rPr dirty="0" err="1"/>
              <a:t>표기</a:t>
            </a:r>
            <a:r>
              <a:rPr dirty="0"/>
              <a:t> </a:t>
            </a:r>
            <a:r>
              <a:rPr dirty="0" err="1"/>
              <a:t>일부를</a:t>
            </a:r>
            <a:r>
              <a:rPr dirty="0"/>
              <a:t> </a:t>
            </a:r>
            <a:r>
              <a:rPr dirty="0" err="1"/>
              <a:t>가렸고</a:t>
            </a:r>
            <a:r>
              <a:rPr dirty="0"/>
              <a:t>, </a:t>
            </a:r>
            <a:r>
              <a:rPr dirty="0" err="1"/>
              <a:t>오른쪽</a:t>
            </a:r>
            <a:r>
              <a:rPr dirty="0"/>
              <a:t> B </a:t>
            </a:r>
            <a:r>
              <a:rPr dirty="0" err="1"/>
              <a:t>시점에서는</a:t>
            </a:r>
            <a:r>
              <a:rPr dirty="0"/>
              <a:t> </a:t>
            </a:r>
            <a:r>
              <a:rPr dirty="0" err="1"/>
              <a:t>전체가</a:t>
            </a:r>
            <a:r>
              <a:rPr dirty="0"/>
              <a:t> </a:t>
            </a:r>
            <a:r>
              <a:rPr dirty="0" err="1"/>
              <a:t>보입니다</a:t>
            </a:r>
            <a:r>
              <a:rPr dirty="0"/>
              <a:t>. </a:t>
            </a:r>
            <a:r>
              <a:rPr dirty="0" err="1"/>
              <a:t>이는</a:t>
            </a:r>
            <a:r>
              <a:rPr dirty="0"/>
              <a:t> </a:t>
            </a:r>
            <a:r>
              <a:rPr dirty="0" err="1"/>
              <a:t>육안</a:t>
            </a:r>
            <a:r>
              <a:rPr dirty="0"/>
              <a:t> </a:t>
            </a:r>
            <a:r>
              <a:rPr dirty="0" err="1"/>
              <a:t>확인</a:t>
            </a:r>
            <a:r>
              <a:rPr dirty="0"/>
              <a:t> </a:t>
            </a:r>
            <a:r>
              <a:rPr dirty="0" err="1"/>
              <a:t>기준입니다</a:t>
            </a:r>
            <a:r>
              <a:rPr dirty="0"/>
              <a:t>. </a:t>
            </a:r>
            <a:r>
              <a:rPr dirty="0" err="1"/>
              <a:t>관측이</a:t>
            </a:r>
            <a:r>
              <a:rPr dirty="0"/>
              <a:t> </a:t>
            </a:r>
            <a:r>
              <a:rPr dirty="0" err="1"/>
              <a:t>부족하면</a:t>
            </a:r>
            <a:r>
              <a:rPr dirty="0"/>
              <a:t> </a:t>
            </a:r>
            <a:r>
              <a:rPr dirty="0" err="1"/>
              <a:t>다른</a:t>
            </a:r>
            <a:r>
              <a:rPr dirty="0"/>
              <a:t> </a:t>
            </a:r>
            <a:r>
              <a:rPr dirty="0" err="1"/>
              <a:t>시점의</a:t>
            </a:r>
            <a:r>
              <a:rPr dirty="0"/>
              <a:t> </a:t>
            </a:r>
            <a:r>
              <a:rPr dirty="0" err="1"/>
              <a:t>사진으로</a:t>
            </a:r>
            <a:r>
              <a:rPr dirty="0"/>
              <a:t> </a:t>
            </a:r>
            <a:r>
              <a:rPr dirty="0" err="1"/>
              <a:t>보완하도록</a:t>
            </a:r>
            <a:r>
              <a:rPr dirty="0"/>
              <a:t> </a:t>
            </a:r>
            <a:r>
              <a:rPr dirty="0" err="1"/>
              <a:t>설계했습니다</a:t>
            </a:r>
            <a:r>
              <a:rPr dirty="0"/>
              <a:t>. </a:t>
            </a:r>
            <a:r>
              <a:rPr dirty="0" err="1"/>
              <a:t>이</a:t>
            </a:r>
            <a:r>
              <a:rPr dirty="0"/>
              <a:t> </a:t>
            </a:r>
            <a:r>
              <a:rPr dirty="0" err="1"/>
              <a:t>영상의</a:t>
            </a:r>
            <a:r>
              <a:rPr dirty="0"/>
              <a:t> </a:t>
            </a:r>
            <a:r>
              <a:rPr dirty="0" err="1"/>
              <a:t>카메라</a:t>
            </a:r>
            <a:r>
              <a:rPr dirty="0"/>
              <a:t> </a:t>
            </a:r>
            <a:r>
              <a:rPr dirty="0" err="1"/>
              <a:t>이동은</a:t>
            </a:r>
            <a:r>
              <a:rPr dirty="0"/>
              <a:t> </a:t>
            </a:r>
            <a:r>
              <a:rPr dirty="0" err="1"/>
              <a:t>사전</a:t>
            </a:r>
            <a:r>
              <a:rPr dirty="0"/>
              <a:t> </a:t>
            </a:r>
            <a:r>
              <a:rPr dirty="0" err="1"/>
              <a:t>지정</a:t>
            </a:r>
            <a:r>
              <a:rPr dirty="0"/>
              <a:t> </a:t>
            </a:r>
            <a:r>
              <a:rPr dirty="0" err="1"/>
              <a:t>동작이며</a:t>
            </a:r>
            <a:r>
              <a:rPr dirty="0"/>
              <a:t>, </a:t>
            </a:r>
            <a:r>
              <a:rPr dirty="0" err="1"/>
              <a:t>인식</a:t>
            </a:r>
            <a:r>
              <a:rPr dirty="0"/>
              <a:t> </a:t>
            </a:r>
            <a:r>
              <a:rPr dirty="0" err="1"/>
              <a:t>결과에</a:t>
            </a:r>
            <a:r>
              <a:rPr dirty="0"/>
              <a:t> </a:t>
            </a:r>
            <a:r>
              <a:rPr dirty="0" err="1"/>
              <a:t>따른</a:t>
            </a:r>
            <a:r>
              <a:rPr dirty="0"/>
              <a:t> </a:t>
            </a:r>
            <a:r>
              <a:rPr dirty="0" err="1"/>
              <a:t>자동</a:t>
            </a:r>
            <a:r>
              <a:rPr dirty="0"/>
              <a:t> </a:t>
            </a:r>
            <a:r>
              <a:rPr dirty="0" err="1"/>
              <a:t>재촬영은</a:t>
            </a:r>
            <a:r>
              <a:rPr dirty="0"/>
              <a:t> </a:t>
            </a:r>
            <a:r>
              <a:rPr dirty="0" err="1"/>
              <a:t>목표</a:t>
            </a:r>
            <a:r>
              <a:rPr dirty="0"/>
              <a:t> </a:t>
            </a:r>
            <a:r>
              <a:rPr dirty="0" err="1"/>
              <a:t>설계입니다</a:t>
            </a:r>
            <a:r>
              <a:rPr dirty="0"/>
              <a:t>.</a:t>
            </a:r>
          </a:p>
          <a:p>
            <a:r>
              <a:rPr dirty="0"/>
              <a:t>[</a:t>
            </a:r>
            <a:r>
              <a:rPr dirty="0" err="1"/>
              <a:t>전환</a:t>
            </a:r>
            <a:r>
              <a:rPr dirty="0"/>
              <a:t>] </a:t>
            </a:r>
            <a:r>
              <a:rPr dirty="0" err="1"/>
              <a:t>확보한</a:t>
            </a:r>
            <a:r>
              <a:rPr dirty="0"/>
              <a:t> </a:t>
            </a:r>
            <a:r>
              <a:rPr dirty="0" err="1"/>
              <a:t>관측에서</a:t>
            </a:r>
            <a:r>
              <a:rPr dirty="0"/>
              <a:t> </a:t>
            </a:r>
            <a:r>
              <a:rPr dirty="0" err="1"/>
              <a:t>무엇을</a:t>
            </a:r>
            <a:r>
              <a:rPr dirty="0"/>
              <a:t> </a:t>
            </a:r>
            <a:r>
              <a:rPr dirty="0" err="1"/>
              <a:t>읽었고</a:t>
            </a:r>
            <a:r>
              <a:rPr dirty="0"/>
              <a:t> </a:t>
            </a:r>
            <a:r>
              <a:rPr dirty="0" err="1"/>
              <a:t>어떤</a:t>
            </a:r>
            <a:r>
              <a:rPr dirty="0"/>
              <a:t> </a:t>
            </a:r>
            <a:r>
              <a:rPr dirty="0" err="1"/>
              <a:t>대상을</a:t>
            </a:r>
            <a:r>
              <a:rPr dirty="0"/>
              <a:t> </a:t>
            </a:r>
            <a:r>
              <a:rPr dirty="0" err="1"/>
              <a:t>가리키는지</a:t>
            </a:r>
            <a:r>
              <a:rPr dirty="0"/>
              <a:t> </a:t>
            </a:r>
            <a:r>
              <a:rPr dirty="0" err="1"/>
              <a:t>판단합니다</a:t>
            </a:r>
            <a:r>
              <a:rPr dirty="0"/>
              <a:t>.</a:t>
            </a:r>
          </a:p>
          <a:p>
            <a:r>
              <a:rPr dirty="0"/>
              <a:t>[</a:t>
            </a:r>
            <a:r>
              <a:rPr dirty="0" err="1"/>
              <a:t>구분</a:t>
            </a:r>
            <a:r>
              <a:rPr dirty="0"/>
              <a:t>] </a:t>
            </a:r>
            <a:r>
              <a:rPr dirty="0" err="1"/>
              <a:t>모델이</a:t>
            </a:r>
            <a:r>
              <a:rPr dirty="0"/>
              <a:t> </a:t>
            </a:r>
            <a:r>
              <a:rPr dirty="0" err="1"/>
              <a:t>A의</a:t>
            </a:r>
            <a:r>
              <a:rPr dirty="0"/>
              <a:t> </a:t>
            </a:r>
            <a:r>
              <a:rPr dirty="0" err="1"/>
              <a:t>판독</a:t>
            </a:r>
            <a:r>
              <a:rPr dirty="0"/>
              <a:t> </a:t>
            </a:r>
            <a:r>
              <a:rPr dirty="0" err="1"/>
              <a:t>실패를</a:t>
            </a:r>
            <a:r>
              <a:rPr dirty="0"/>
              <a:t> </a:t>
            </a:r>
            <a:r>
              <a:rPr dirty="0" err="1"/>
              <a:t>판단해</a:t>
            </a:r>
            <a:r>
              <a:rPr dirty="0"/>
              <a:t> </a:t>
            </a:r>
            <a:r>
              <a:rPr dirty="0" err="1"/>
              <a:t>팔을</a:t>
            </a:r>
            <a:r>
              <a:rPr dirty="0"/>
              <a:t> </a:t>
            </a:r>
            <a:r>
              <a:rPr dirty="0" err="1"/>
              <a:t>움직이거나</a:t>
            </a:r>
            <a:r>
              <a:rPr dirty="0"/>
              <a:t> </a:t>
            </a:r>
            <a:r>
              <a:rPr dirty="0" err="1"/>
              <a:t>B를</a:t>
            </a:r>
            <a:r>
              <a:rPr dirty="0"/>
              <a:t> </a:t>
            </a:r>
            <a:r>
              <a:rPr dirty="0" err="1"/>
              <a:t>판독한</a:t>
            </a:r>
            <a:r>
              <a:rPr dirty="0"/>
              <a:t> </a:t>
            </a:r>
            <a:r>
              <a:rPr dirty="0" err="1"/>
              <a:t>성능</a:t>
            </a:r>
            <a:r>
              <a:rPr dirty="0"/>
              <a:t> </a:t>
            </a:r>
            <a:r>
              <a:rPr dirty="0" err="1"/>
              <a:t>결과로</a:t>
            </a:r>
            <a:r>
              <a:rPr dirty="0"/>
              <a:t> </a:t>
            </a:r>
            <a:r>
              <a:rPr dirty="0" err="1"/>
              <a:t>설명하지</a:t>
            </a:r>
            <a:r>
              <a:rPr dirty="0"/>
              <a:t> </a:t>
            </a:r>
            <a:r>
              <a:rPr dirty="0" err="1"/>
              <a:t>않음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[5장 · 40초] </a:t>
            </a:r>
            <a:r>
              <a:rPr dirty="0" err="1"/>
              <a:t>판단</a:t>
            </a:r>
            <a:r>
              <a:rPr dirty="0"/>
              <a:t> </a:t>
            </a:r>
            <a:r>
              <a:rPr dirty="0" err="1"/>
              <a:t>단계입니다</a:t>
            </a:r>
            <a:r>
              <a:rPr dirty="0"/>
              <a:t>.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철골</a:t>
            </a:r>
            <a:r>
              <a:rPr dirty="0"/>
              <a:t> </a:t>
            </a:r>
            <a:r>
              <a:rPr dirty="0" err="1"/>
              <a:t>사진입니다</a:t>
            </a:r>
            <a:r>
              <a:rPr dirty="0"/>
              <a:t>. </a:t>
            </a:r>
            <a:r>
              <a:rPr dirty="0" err="1"/>
              <a:t>OCR은</a:t>
            </a:r>
            <a:r>
              <a:rPr dirty="0"/>
              <a:t> 0.979라는 </a:t>
            </a:r>
            <a:r>
              <a:rPr dirty="0" err="1"/>
              <a:t>높은</a:t>
            </a:r>
            <a:r>
              <a:rPr dirty="0"/>
              <a:t> </a:t>
            </a:r>
            <a:r>
              <a:rPr dirty="0" err="1"/>
              <a:t>인식</a:t>
            </a:r>
            <a:r>
              <a:rPr dirty="0"/>
              <a:t> </a:t>
            </a:r>
            <a:r>
              <a:rPr dirty="0" err="1"/>
              <a:t>점수로</a:t>
            </a:r>
            <a:r>
              <a:rPr dirty="0"/>
              <a:t> M55624-16을 </a:t>
            </a:r>
            <a:r>
              <a:rPr dirty="0" err="1"/>
              <a:t>읽었지만</a:t>
            </a:r>
            <a:r>
              <a:rPr dirty="0"/>
              <a:t> </a:t>
            </a:r>
            <a:r>
              <a:rPr dirty="0" err="1"/>
              <a:t>두</a:t>
            </a:r>
            <a:r>
              <a:rPr dirty="0"/>
              <a:t> </a:t>
            </a:r>
            <a:r>
              <a:rPr dirty="0" err="1"/>
              <a:t>글자가</a:t>
            </a:r>
            <a:r>
              <a:rPr dirty="0"/>
              <a:t> </a:t>
            </a:r>
            <a:r>
              <a:rPr dirty="0" err="1"/>
              <a:t>틀렸고</a:t>
            </a:r>
            <a:r>
              <a:rPr dirty="0"/>
              <a:t>, </a:t>
            </a:r>
            <a:r>
              <a:rPr dirty="0" err="1"/>
              <a:t>이미지와</a:t>
            </a:r>
            <a:r>
              <a:rPr dirty="0"/>
              <a:t> </a:t>
            </a:r>
            <a:r>
              <a:rPr dirty="0" err="1"/>
              <a:t>글을</a:t>
            </a:r>
            <a:r>
              <a:rPr dirty="0"/>
              <a:t> </a:t>
            </a:r>
            <a:r>
              <a:rPr dirty="0" err="1"/>
              <a:t>함께</a:t>
            </a:r>
            <a:r>
              <a:rPr dirty="0"/>
              <a:t> </a:t>
            </a:r>
            <a:r>
              <a:rPr dirty="0" err="1"/>
              <a:t>해석하는</a:t>
            </a:r>
            <a:r>
              <a:rPr dirty="0"/>
              <a:t> </a:t>
            </a:r>
            <a:r>
              <a:rPr dirty="0" err="1"/>
              <a:t>VLM은</a:t>
            </a:r>
            <a:r>
              <a:rPr dirty="0"/>
              <a:t> M5SB24-16을 </a:t>
            </a:r>
            <a:r>
              <a:rPr dirty="0" err="1"/>
              <a:t>읽었습니다</a:t>
            </a:r>
            <a:r>
              <a:rPr dirty="0"/>
              <a:t>. </a:t>
            </a:r>
            <a:r>
              <a:rPr dirty="0" err="1"/>
              <a:t>두</a:t>
            </a:r>
            <a:r>
              <a:rPr dirty="0"/>
              <a:t> </a:t>
            </a:r>
            <a:r>
              <a:rPr dirty="0" err="1"/>
              <a:t>결과가</a:t>
            </a:r>
            <a:r>
              <a:rPr dirty="0"/>
              <a:t> </a:t>
            </a:r>
            <a:r>
              <a:rPr dirty="0" err="1"/>
              <a:t>다르면</a:t>
            </a:r>
            <a:r>
              <a:rPr dirty="0"/>
              <a:t> </a:t>
            </a:r>
            <a:r>
              <a:rPr dirty="0" err="1"/>
              <a:t>시스템은</a:t>
            </a:r>
            <a:r>
              <a:rPr dirty="0"/>
              <a:t> </a:t>
            </a:r>
            <a:r>
              <a:rPr dirty="0" err="1"/>
              <a:t>확정하지</a:t>
            </a:r>
            <a:r>
              <a:rPr dirty="0"/>
              <a:t> </a:t>
            </a:r>
            <a:r>
              <a:rPr dirty="0" err="1"/>
              <a:t>않고</a:t>
            </a:r>
            <a:r>
              <a:rPr dirty="0"/>
              <a:t> </a:t>
            </a:r>
            <a:r>
              <a:rPr dirty="0" err="1"/>
              <a:t>보류한</a:t>
            </a:r>
            <a:r>
              <a:rPr dirty="0"/>
              <a:t> </a:t>
            </a:r>
            <a:r>
              <a:rPr dirty="0" err="1"/>
              <a:t>뒤</a:t>
            </a:r>
            <a:r>
              <a:rPr dirty="0"/>
              <a:t>, </a:t>
            </a:r>
            <a:r>
              <a:rPr dirty="0" err="1"/>
              <a:t>관측을</a:t>
            </a:r>
            <a:r>
              <a:rPr dirty="0"/>
              <a:t> </a:t>
            </a:r>
            <a:r>
              <a:rPr dirty="0" err="1"/>
              <a:t>보완할지</a:t>
            </a:r>
            <a:r>
              <a:rPr dirty="0"/>
              <a:t> </a:t>
            </a:r>
            <a:r>
              <a:rPr dirty="0" err="1"/>
              <a:t>문서</a:t>
            </a:r>
            <a:r>
              <a:rPr dirty="0"/>
              <a:t> </a:t>
            </a:r>
            <a:r>
              <a:rPr dirty="0" err="1"/>
              <a:t>맥락으로</a:t>
            </a:r>
            <a:r>
              <a:rPr dirty="0"/>
              <a:t> </a:t>
            </a:r>
            <a:r>
              <a:rPr dirty="0" err="1"/>
              <a:t>검토할지</a:t>
            </a:r>
            <a:r>
              <a:rPr dirty="0"/>
              <a:t> </a:t>
            </a:r>
            <a:r>
              <a:rPr dirty="0" err="1"/>
              <a:t>구분합니다</a:t>
            </a:r>
            <a:r>
              <a:rPr dirty="0"/>
              <a:t>. </a:t>
            </a:r>
            <a:r>
              <a:rPr dirty="0" err="1"/>
              <a:t>문자·숫자와</a:t>
            </a:r>
            <a:r>
              <a:rPr dirty="0"/>
              <a:t> </a:t>
            </a:r>
            <a:r>
              <a:rPr dirty="0" err="1"/>
              <a:t>화살표·기호·접합부를</a:t>
            </a:r>
            <a:r>
              <a:rPr dirty="0"/>
              <a:t> </a:t>
            </a:r>
            <a:r>
              <a:rPr dirty="0" err="1"/>
              <a:t>따로</a:t>
            </a:r>
            <a:r>
              <a:rPr dirty="0"/>
              <a:t> </a:t>
            </a:r>
            <a:r>
              <a:rPr dirty="0" err="1"/>
              <a:t>관측하고</a:t>
            </a:r>
            <a:r>
              <a:rPr dirty="0"/>
              <a:t> </a:t>
            </a:r>
            <a:r>
              <a:rPr dirty="0" err="1"/>
              <a:t>관계</a:t>
            </a:r>
            <a:r>
              <a:rPr dirty="0"/>
              <a:t> </a:t>
            </a:r>
            <a:r>
              <a:rPr dirty="0" err="1"/>
              <a:t>해석은</a:t>
            </a:r>
            <a:r>
              <a:rPr dirty="0"/>
              <a:t> </a:t>
            </a:r>
            <a:r>
              <a:rPr dirty="0" err="1"/>
              <a:t>대상</a:t>
            </a:r>
            <a:r>
              <a:rPr dirty="0"/>
              <a:t> </a:t>
            </a:r>
            <a:r>
              <a:rPr dirty="0" err="1"/>
              <a:t>후보를</a:t>
            </a:r>
            <a:r>
              <a:rPr dirty="0"/>
              <a:t> </a:t>
            </a:r>
            <a:r>
              <a:rPr dirty="0" err="1"/>
              <a:t>제안합니다</a:t>
            </a:r>
            <a:r>
              <a:rPr dirty="0"/>
              <a:t>. </a:t>
            </a:r>
            <a:r>
              <a:rPr dirty="0" err="1"/>
              <a:t>현재</a:t>
            </a:r>
            <a:r>
              <a:rPr dirty="0"/>
              <a:t> </a:t>
            </a:r>
            <a:r>
              <a:rPr dirty="0" err="1"/>
              <a:t>문서</a:t>
            </a:r>
            <a:r>
              <a:rPr dirty="0"/>
              <a:t> </a:t>
            </a:r>
            <a:r>
              <a:rPr dirty="0" err="1"/>
              <a:t>조회는</a:t>
            </a:r>
            <a:r>
              <a:rPr dirty="0"/>
              <a:t> </a:t>
            </a:r>
            <a:r>
              <a:rPr dirty="0" err="1"/>
              <a:t>문자</a:t>
            </a:r>
            <a:r>
              <a:rPr dirty="0"/>
              <a:t> </a:t>
            </a:r>
            <a:r>
              <a:rPr dirty="0" err="1"/>
              <a:t>합의</a:t>
            </a:r>
            <a:r>
              <a:rPr dirty="0"/>
              <a:t> </a:t>
            </a:r>
            <a:r>
              <a:rPr dirty="0" err="1"/>
              <a:t>후보를</a:t>
            </a:r>
            <a:r>
              <a:rPr dirty="0"/>
              <a:t> </a:t>
            </a:r>
            <a:r>
              <a:rPr dirty="0" err="1"/>
              <a:t>쓰며</a:t>
            </a:r>
            <a:r>
              <a:rPr dirty="0"/>
              <a:t> </a:t>
            </a:r>
            <a:r>
              <a:rPr dirty="0" err="1"/>
              <a:t>관계</a:t>
            </a:r>
            <a:r>
              <a:rPr dirty="0"/>
              <a:t> </a:t>
            </a:r>
            <a:r>
              <a:rPr dirty="0" err="1"/>
              <a:t>해석</a:t>
            </a:r>
            <a:r>
              <a:rPr dirty="0"/>
              <a:t> </a:t>
            </a:r>
            <a:r>
              <a:rPr dirty="0" err="1"/>
              <a:t>결과의</a:t>
            </a:r>
            <a:r>
              <a:rPr dirty="0"/>
              <a:t> </a:t>
            </a:r>
            <a:r>
              <a:rPr dirty="0" err="1"/>
              <a:t>자동</a:t>
            </a:r>
            <a:r>
              <a:rPr dirty="0"/>
              <a:t> </a:t>
            </a:r>
            <a:r>
              <a:rPr dirty="0" err="1"/>
              <a:t>연결은</a:t>
            </a:r>
            <a:r>
              <a:rPr dirty="0"/>
              <a:t> </a:t>
            </a:r>
            <a:r>
              <a:rPr dirty="0" err="1"/>
              <a:t>후속입니다</a:t>
            </a:r>
            <a:r>
              <a:rPr dirty="0"/>
              <a:t>.</a:t>
            </a:r>
          </a:p>
          <a:p>
            <a:r>
              <a:rPr dirty="0"/>
              <a:t>[</a:t>
            </a:r>
            <a:r>
              <a:rPr dirty="0" err="1"/>
              <a:t>전환</a:t>
            </a:r>
            <a:r>
              <a:rPr dirty="0"/>
              <a:t>] </a:t>
            </a:r>
            <a:r>
              <a:rPr dirty="0" err="1"/>
              <a:t>이</a:t>
            </a:r>
            <a:r>
              <a:rPr dirty="0"/>
              <a:t> </a:t>
            </a:r>
            <a:r>
              <a:rPr dirty="0" err="1"/>
              <a:t>해석이</a:t>
            </a:r>
            <a:r>
              <a:rPr dirty="0"/>
              <a:t> </a:t>
            </a:r>
            <a:r>
              <a:rPr dirty="0" err="1"/>
              <a:t>해당</a:t>
            </a:r>
            <a:r>
              <a:rPr dirty="0"/>
              <a:t> </a:t>
            </a:r>
            <a:r>
              <a:rPr dirty="0" err="1"/>
              <a:t>작업과</a:t>
            </a:r>
            <a:r>
              <a:rPr dirty="0"/>
              <a:t> </a:t>
            </a:r>
            <a:r>
              <a:rPr dirty="0" err="1"/>
              <a:t>문서에</a:t>
            </a:r>
            <a:r>
              <a:rPr dirty="0"/>
              <a:t> </a:t>
            </a:r>
            <a:r>
              <a:rPr dirty="0" err="1"/>
              <a:t>실제로</a:t>
            </a:r>
            <a:r>
              <a:rPr dirty="0"/>
              <a:t> </a:t>
            </a:r>
            <a:r>
              <a:rPr dirty="0" err="1"/>
              <a:t>적용되는지</a:t>
            </a:r>
            <a:r>
              <a:rPr dirty="0"/>
              <a:t> </a:t>
            </a:r>
            <a:r>
              <a:rPr dirty="0" err="1"/>
              <a:t>검증합니다</a:t>
            </a:r>
            <a:r>
              <a:rPr dirty="0"/>
              <a:t>.</a:t>
            </a:r>
          </a:p>
          <a:p>
            <a:r>
              <a:rPr dirty="0"/>
              <a:t>[</a:t>
            </a:r>
            <a:r>
              <a:rPr dirty="0" err="1"/>
              <a:t>구분</a:t>
            </a:r>
            <a:r>
              <a:rPr dirty="0"/>
              <a:t>] </a:t>
            </a:r>
            <a:r>
              <a:rPr dirty="0" err="1"/>
              <a:t>인식</a:t>
            </a:r>
            <a:r>
              <a:rPr dirty="0"/>
              <a:t> </a:t>
            </a:r>
            <a:r>
              <a:rPr dirty="0" err="1"/>
              <a:t>점수</a:t>
            </a:r>
            <a:r>
              <a:rPr dirty="0"/>
              <a:t> 0.979를 </a:t>
            </a:r>
            <a:r>
              <a:rPr dirty="0" err="1"/>
              <a:t>정답</a:t>
            </a:r>
            <a:r>
              <a:rPr dirty="0"/>
              <a:t> </a:t>
            </a:r>
            <a:r>
              <a:rPr dirty="0" err="1"/>
              <a:t>확률로</a:t>
            </a:r>
            <a:r>
              <a:rPr dirty="0"/>
              <a:t> </a:t>
            </a:r>
            <a:r>
              <a:rPr dirty="0" err="1"/>
              <a:t>말하지</a:t>
            </a:r>
            <a:r>
              <a:rPr dirty="0"/>
              <a:t> </a:t>
            </a:r>
            <a:r>
              <a:rPr dirty="0" err="1"/>
              <a:t>않음</a:t>
            </a:r>
            <a:r>
              <a:rPr dirty="0"/>
              <a:t>. </a:t>
            </a:r>
            <a:r>
              <a:rPr dirty="0" err="1"/>
              <a:t>보류</a:t>
            </a:r>
            <a:r>
              <a:rPr dirty="0"/>
              <a:t> </a:t>
            </a:r>
            <a:r>
              <a:rPr dirty="0" err="1"/>
              <a:t>자체를</a:t>
            </a:r>
            <a:r>
              <a:rPr dirty="0"/>
              <a:t> </a:t>
            </a:r>
            <a:r>
              <a:rPr dirty="0" err="1"/>
              <a:t>자동화의</a:t>
            </a:r>
            <a:r>
              <a:rPr dirty="0"/>
              <a:t> </a:t>
            </a:r>
            <a:r>
              <a:rPr dirty="0" err="1"/>
              <a:t>최종</a:t>
            </a:r>
            <a:r>
              <a:rPr dirty="0"/>
              <a:t> </a:t>
            </a:r>
            <a:r>
              <a:rPr dirty="0" err="1"/>
              <a:t>성과로</a:t>
            </a:r>
            <a:r>
              <a:rPr dirty="0"/>
              <a:t> </a:t>
            </a:r>
            <a:r>
              <a:rPr dirty="0" err="1"/>
              <a:t>삼지</a:t>
            </a:r>
            <a:r>
              <a:rPr dirty="0"/>
              <a:t> </a:t>
            </a:r>
            <a:r>
              <a:rPr dirty="0" err="1"/>
              <a:t>않음</a:t>
            </a:r>
            <a:r>
              <a:rPr dirty="0"/>
              <a:t>. </a:t>
            </a:r>
            <a:r>
              <a:rPr dirty="0" err="1"/>
              <a:t>사진</a:t>
            </a:r>
            <a:r>
              <a:rPr dirty="0"/>
              <a:t> </a:t>
            </a:r>
            <a:r>
              <a:rPr dirty="0" err="1"/>
              <a:t>속</a:t>
            </a:r>
            <a:r>
              <a:rPr dirty="0"/>
              <a:t>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작업</a:t>
            </a:r>
            <a:r>
              <a:rPr dirty="0"/>
              <a:t> </a:t>
            </a:r>
            <a:r>
              <a:rPr dirty="0" err="1"/>
              <a:t>식별</a:t>
            </a:r>
            <a:r>
              <a:rPr dirty="0"/>
              <a:t> </a:t>
            </a:r>
            <a:r>
              <a:rPr dirty="0" err="1"/>
              <a:t>성능</a:t>
            </a:r>
            <a:r>
              <a:rPr dirty="0"/>
              <a:t> </a:t>
            </a:r>
            <a:r>
              <a:rPr dirty="0" err="1"/>
              <a:t>주장</a:t>
            </a:r>
            <a:r>
              <a:rPr dirty="0"/>
              <a:t> </a:t>
            </a:r>
            <a:r>
              <a:rPr dirty="0" err="1"/>
              <a:t>금지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[6장 · 45초] </a:t>
            </a:r>
            <a:r>
              <a:rPr dirty="0" err="1"/>
              <a:t>검증</a:t>
            </a:r>
            <a:r>
              <a:rPr dirty="0"/>
              <a:t> </a:t>
            </a:r>
            <a:r>
              <a:rPr dirty="0" err="1"/>
              <a:t>단계입니다</a:t>
            </a:r>
            <a:r>
              <a:rPr dirty="0"/>
              <a:t>. </a:t>
            </a:r>
            <a:r>
              <a:rPr dirty="0" err="1"/>
              <a:t>판독한</a:t>
            </a:r>
            <a:r>
              <a:rPr dirty="0"/>
              <a:t> </a:t>
            </a:r>
            <a:r>
              <a:rPr dirty="0" err="1"/>
              <a:t>대상이</a:t>
            </a:r>
            <a:r>
              <a:rPr dirty="0"/>
              <a:t> </a:t>
            </a:r>
            <a:r>
              <a:rPr dirty="0" err="1"/>
              <a:t>어느</a:t>
            </a:r>
            <a:r>
              <a:rPr dirty="0"/>
              <a:t> </a:t>
            </a:r>
            <a:r>
              <a:rPr dirty="0" err="1"/>
              <a:t>작업지시·도면·WPS</a:t>
            </a:r>
            <a:r>
              <a:rPr dirty="0"/>
              <a:t>(</a:t>
            </a:r>
            <a:r>
              <a:rPr dirty="0" err="1"/>
              <a:t>용접절차시방서</a:t>
            </a:r>
            <a:r>
              <a:rPr dirty="0"/>
              <a:t>)</a:t>
            </a:r>
            <a:r>
              <a:rPr dirty="0" err="1"/>
              <a:t>에</a:t>
            </a:r>
            <a:r>
              <a:rPr dirty="0"/>
              <a:t> </a:t>
            </a:r>
            <a:r>
              <a:rPr dirty="0" err="1"/>
              <a:t>해당하는지</a:t>
            </a:r>
            <a:r>
              <a:rPr dirty="0"/>
              <a:t> </a:t>
            </a:r>
            <a:r>
              <a:rPr dirty="0" err="1"/>
              <a:t>대상과</a:t>
            </a:r>
            <a:r>
              <a:rPr dirty="0"/>
              <a:t> </a:t>
            </a:r>
            <a:r>
              <a:rPr dirty="0" err="1"/>
              <a:t>개정을</a:t>
            </a:r>
            <a:r>
              <a:rPr dirty="0"/>
              <a:t> </a:t>
            </a:r>
            <a:r>
              <a:rPr dirty="0" err="1"/>
              <a:t>정확</a:t>
            </a:r>
            <a:r>
              <a:rPr dirty="0"/>
              <a:t> </a:t>
            </a:r>
            <a:r>
              <a:rPr dirty="0" err="1"/>
              <a:t>조회로</a:t>
            </a:r>
            <a:r>
              <a:rPr dirty="0"/>
              <a:t> </a:t>
            </a:r>
            <a:r>
              <a:rPr dirty="0" err="1"/>
              <a:t>맞추고</a:t>
            </a:r>
            <a:r>
              <a:rPr dirty="0"/>
              <a:t>, </a:t>
            </a:r>
            <a:r>
              <a:rPr dirty="0" err="1"/>
              <a:t>조건값·단위·원문</a:t>
            </a:r>
            <a:r>
              <a:rPr dirty="0"/>
              <a:t> </a:t>
            </a:r>
            <a:r>
              <a:rPr dirty="0" err="1"/>
              <a:t>위치를</a:t>
            </a:r>
            <a:r>
              <a:rPr dirty="0"/>
              <a:t> </a:t>
            </a:r>
            <a:r>
              <a:rPr dirty="0" err="1"/>
              <a:t>대응시킵니다</a:t>
            </a:r>
            <a:r>
              <a:rPr dirty="0"/>
              <a:t>. </a:t>
            </a:r>
            <a:r>
              <a:rPr dirty="0" err="1"/>
              <a:t>공개</a:t>
            </a:r>
            <a:r>
              <a:rPr dirty="0"/>
              <a:t> </a:t>
            </a:r>
            <a:r>
              <a:rPr dirty="0" err="1"/>
              <a:t>참고</a:t>
            </a:r>
            <a:r>
              <a:rPr dirty="0"/>
              <a:t> </a:t>
            </a:r>
            <a:r>
              <a:rPr dirty="0" err="1"/>
              <a:t>문서</a:t>
            </a:r>
            <a:r>
              <a:rPr dirty="0"/>
              <a:t> 4개를 74개 </a:t>
            </a:r>
            <a:r>
              <a:rPr dirty="0" err="1"/>
              <a:t>검색</a:t>
            </a:r>
            <a:r>
              <a:rPr dirty="0"/>
              <a:t> </a:t>
            </a:r>
            <a:r>
              <a:rPr dirty="0" err="1"/>
              <a:t>단위로</a:t>
            </a:r>
            <a:r>
              <a:rPr dirty="0"/>
              <a:t> </a:t>
            </a:r>
            <a:r>
              <a:rPr dirty="0" err="1"/>
              <a:t>구성했고</a:t>
            </a:r>
            <a:r>
              <a:rPr dirty="0"/>
              <a:t> </a:t>
            </a:r>
            <a:r>
              <a:rPr dirty="0" err="1"/>
              <a:t>선택한</a:t>
            </a:r>
            <a:r>
              <a:rPr dirty="0"/>
              <a:t> WPS </a:t>
            </a:r>
            <a:r>
              <a:rPr dirty="0" err="1"/>
              <a:t>필드는</a:t>
            </a:r>
            <a:r>
              <a:rPr dirty="0"/>
              <a:t> </a:t>
            </a:r>
            <a:r>
              <a:rPr dirty="0" err="1"/>
              <a:t>값·단위·개정을</a:t>
            </a:r>
            <a:r>
              <a:rPr dirty="0"/>
              <a:t> </a:t>
            </a:r>
            <a:r>
              <a:rPr dirty="0" err="1"/>
              <a:t>별도</a:t>
            </a:r>
            <a:r>
              <a:rPr dirty="0"/>
              <a:t> </a:t>
            </a:r>
            <a:r>
              <a:rPr dirty="0" err="1"/>
              <a:t>검수했습니다</a:t>
            </a:r>
            <a:r>
              <a:rPr dirty="0"/>
              <a:t>. </a:t>
            </a:r>
            <a:r>
              <a:rPr dirty="0" err="1"/>
              <a:t>정상</a:t>
            </a:r>
            <a:r>
              <a:rPr dirty="0"/>
              <a:t> </a:t>
            </a:r>
            <a:r>
              <a:rPr dirty="0" err="1"/>
              <a:t>사례</a:t>
            </a:r>
            <a:r>
              <a:rPr dirty="0"/>
              <a:t> 1건은 </a:t>
            </a:r>
            <a:r>
              <a:rPr dirty="0" err="1"/>
              <a:t>통과했고</a:t>
            </a:r>
            <a:r>
              <a:rPr dirty="0"/>
              <a:t>, </a:t>
            </a:r>
            <a:r>
              <a:rPr dirty="0" err="1"/>
              <a:t>전압</a:t>
            </a:r>
            <a:r>
              <a:rPr dirty="0"/>
              <a:t> </a:t>
            </a:r>
            <a:r>
              <a:rPr dirty="0" err="1"/>
              <a:t>누락·공정</a:t>
            </a:r>
            <a:r>
              <a:rPr dirty="0"/>
              <a:t> </a:t>
            </a:r>
            <a:r>
              <a:rPr dirty="0" err="1"/>
              <a:t>충돌·개정</a:t>
            </a:r>
            <a:r>
              <a:rPr dirty="0"/>
              <a:t> </a:t>
            </a:r>
            <a:r>
              <a:rPr dirty="0" err="1"/>
              <a:t>불일치는</a:t>
            </a:r>
            <a:r>
              <a:rPr dirty="0"/>
              <a:t> </a:t>
            </a:r>
            <a:r>
              <a:rPr dirty="0" err="1"/>
              <a:t>시험</a:t>
            </a:r>
            <a:r>
              <a:rPr dirty="0"/>
              <a:t> </a:t>
            </a:r>
            <a:r>
              <a:rPr dirty="0" err="1"/>
              <a:t>조건</a:t>
            </a:r>
            <a:r>
              <a:rPr dirty="0"/>
              <a:t>, </a:t>
            </a:r>
            <a:r>
              <a:rPr dirty="0" err="1"/>
              <a:t>판독</a:t>
            </a:r>
            <a:r>
              <a:rPr dirty="0"/>
              <a:t> </a:t>
            </a:r>
            <a:r>
              <a:rPr dirty="0" err="1"/>
              <a:t>불일치</a:t>
            </a:r>
            <a:r>
              <a:rPr dirty="0"/>
              <a:t> 1건은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모델</a:t>
            </a:r>
            <a:r>
              <a:rPr dirty="0"/>
              <a:t> </a:t>
            </a:r>
            <a:r>
              <a:rPr dirty="0" err="1"/>
              <a:t>출력에서</a:t>
            </a:r>
            <a:r>
              <a:rPr dirty="0"/>
              <a:t> </a:t>
            </a:r>
            <a:r>
              <a:rPr dirty="0" err="1"/>
              <a:t>나온</a:t>
            </a:r>
            <a:r>
              <a:rPr dirty="0"/>
              <a:t> </a:t>
            </a:r>
            <a:r>
              <a:rPr dirty="0" err="1"/>
              <a:t>보류입니다</a:t>
            </a:r>
            <a:r>
              <a:rPr dirty="0"/>
              <a:t>. </a:t>
            </a:r>
            <a:r>
              <a:rPr dirty="0" err="1"/>
              <a:t>미해결</a:t>
            </a:r>
            <a:r>
              <a:rPr dirty="0"/>
              <a:t> </a:t>
            </a:r>
            <a:r>
              <a:rPr dirty="0" err="1"/>
              <a:t>충돌이</a:t>
            </a:r>
            <a:r>
              <a:rPr dirty="0"/>
              <a:t> </a:t>
            </a:r>
            <a:r>
              <a:rPr dirty="0" err="1"/>
              <a:t>있는</a:t>
            </a:r>
            <a:r>
              <a:rPr dirty="0"/>
              <a:t> </a:t>
            </a:r>
            <a:r>
              <a:rPr dirty="0" err="1"/>
              <a:t>정보는</a:t>
            </a:r>
            <a:r>
              <a:rPr dirty="0"/>
              <a:t> </a:t>
            </a:r>
            <a:r>
              <a:rPr dirty="0" err="1"/>
              <a:t>전달</a:t>
            </a:r>
            <a:r>
              <a:rPr dirty="0"/>
              <a:t> </a:t>
            </a:r>
            <a:r>
              <a:rPr dirty="0" err="1"/>
              <a:t>가능</a:t>
            </a:r>
            <a:r>
              <a:rPr dirty="0"/>
              <a:t> </a:t>
            </a:r>
            <a:r>
              <a:rPr dirty="0" err="1"/>
              <a:t>상태로</a:t>
            </a:r>
            <a:r>
              <a:rPr dirty="0"/>
              <a:t> </a:t>
            </a:r>
            <a:r>
              <a:rPr dirty="0" err="1"/>
              <a:t>표시하지</a:t>
            </a:r>
            <a:r>
              <a:rPr dirty="0"/>
              <a:t> </a:t>
            </a:r>
            <a:r>
              <a:rPr dirty="0" err="1"/>
              <a:t>않습니다</a:t>
            </a:r>
            <a:r>
              <a:rPr dirty="0"/>
              <a:t>.</a:t>
            </a:r>
          </a:p>
          <a:p>
            <a:r>
              <a:rPr dirty="0"/>
              <a:t>[</a:t>
            </a:r>
            <a:r>
              <a:rPr dirty="0" err="1"/>
              <a:t>전환</a:t>
            </a:r>
            <a:r>
              <a:rPr dirty="0"/>
              <a:t>] </a:t>
            </a:r>
            <a:r>
              <a:rPr dirty="0" err="1"/>
              <a:t>검증한</a:t>
            </a:r>
            <a:r>
              <a:rPr dirty="0"/>
              <a:t> </a:t>
            </a:r>
            <a:r>
              <a:rPr dirty="0" err="1"/>
              <a:t>작업의</a:t>
            </a:r>
            <a:r>
              <a:rPr dirty="0"/>
              <a:t> </a:t>
            </a:r>
            <a:r>
              <a:rPr dirty="0" err="1"/>
              <a:t>의미를</a:t>
            </a:r>
            <a:r>
              <a:rPr dirty="0"/>
              <a:t> </a:t>
            </a:r>
            <a:r>
              <a:rPr dirty="0" err="1"/>
              <a:t>후속</a:t>
            </a:r>
            <a:r>
              <a:rPr dirty="0"/>
              <a:t> </a:t>
            </a:r>
            <a:r>
              <a:rPr dirty="0" err="1"/>
              <a:t>로봇이</a:t>
            </a:r>
            <a:r>
              <a:rPr dirty="0"/>
              <a:t> </a:t>
            </a:r>
            <a:r>
              <a:rPr dirty="0" err="1"/>
              <a:t>받을</a:t>
            </a:r>
            <a:r>
              <a:rPr dirty="0"/>
              <a:t> </a:t>
            </a:r>
            <a:r>
              <a:rPr dirty="0" err="1"/>
              <a:t>수</a:t>
            </a:r>
            <a:r>
              <a:rPr dirty="0"/>
              <a:t> </a:t>
            </a:r>
            <a:r>
              <a:rPr dirty="0" err="1"/>
              <a:t>있는</a:t>
            </a:r>
            <a:r>
              <a:rPr dirty="0"/>
              <a:t> </a:t>
            </a:r>
            <a:r>
              <a:rPr dirty="0" err="1"/>
              <a:t>파라미터와</a:t>
            </a:r>
            <a:r>
              <a:rPr dirty="0"/>
              <a:t> </a:t>
            </a:r>
            <a:r>
              <a:rPr dirty="0" err="1"/>
              <a:t>형식으로</a:t>
            </a:r>
            <a:r>
              <a:rPr dirty="0"/>
              <a:t> </a:t>
            </a:r>
            <a:r>
              <a:rPr dirty="0" err="1"/>
              <a:t>바꿉니다</a:t>
            </a:r>
            <a:r>
              <a:rPr dirty="0"/>
              <a:t>.</a:t>
            </a:r>
          </a:p>
          <a:p>
            <a:r>
              <a:rPr dirty="0"/>
              <a:t>[</a:t>
            </a:r>
            <a:r>
              <a:rPr dirty="0" err="1"/>
              <a:t>구분</a:t>
            </a:r>
            <a:r>
              <a:rPr dirty="0"/>
              <a:t>] WPS </a:t>
            </a:r>
            <a:r>
              <a:rPr dirty="0" err="1"/>
              <a:t>범위값을</a:t>
            </a:r>
            <a:r>
              <a:rPr dirty="0"/>
              <a:t> </a:t>
            </a:r>
            <a:r>
              <a:rPr dirty="0" err="1"/>
              <a:t>장비</a:t>
            </a:r>
            <a:r>
              <a:rPr dirty="0"/>
              <a:t> </a:t>
            </a:r>
            <a:r>
              <a:rPr dirty="0" err="1"/>
              <a:t>설정값·승인으로</a:t>
            </a:r>
            <a:r>
              <a:rPr dirty="0"/>
              <a:t> </a:t>
            </a:r>
            <a:r>
              <a:rPr dirty="0" err="1"/>
              <a:t>표현하지</a:t>
            </a:r>
            <a:r>
              <a:rPr dirty="0"/>
              <a:t> </a:t>
            </a:r>
            <a:r>
              <a:rPr dirty="0" err="1"/>
              <a:t>않음</a:t>
            </a:r>
            <a:r>
              <a:rPr dirty="0"/>
              <a:t>. </a:t>
            </a:r>
            <a:r>
              <a:rPr dirty="0" err="1"/>
              <a:t>시연</a:t>
            </a:r>
            <a:r>
              <a:rPr dirty="0"/>
              <a:t> </a:t>
            </a:r>
            <a:r>
              <a:rPr dirty="0" err="1"/>
              <a:t>문서</a:t>
            </a:r>
            <a:r>
              <a:rPr dirty="0"/>
              <a:t> </a:t>
            </a:r>
            <a:r>
              <a:rPr dirty="0" err="1"/>
              <a:t>연결을</a:t>
            </a:r>
            <a:r>
              <a:rPr dirty="0"/>
              <a:t> </a:t>
            </a:r>
            <a:r>
              <a:rPr dirty="0" err="1"/>
              <a:t>실물</a:t>
            </a:r>
            <a:r>
              <a:rPr dirty="0"/>
              <a:t> </a:t>
            </a:r>
            <a:r>
              <a:rPr dirty="0" err="1"/>
              <a:t>식별</a:t>
            </a:r>
            <a:r>
              <a:rPr dirty="0"/>
              <a:t> </a:t>
            </a:r>
            <a:r>
              <a:rPr dirty="0" err="1"/>
              <a:t>성능으로</a:t>
            </a:r>
            <a:r>
              <a:rPr dirty="0"/>
              <a:t> </a:t>
            </a:r>
            <a:r>
              <a:rPr dirty="0" err="1"/>
              <a:t>표현하지</a:t>
            </a:r>
            <a:r>
              <a:rPr dirty="0"/>
              <a:t> </a:t>
            </a:r>
            <a:r>
              <a:rPr dirty="0" err="1"/>
              <a:t>않음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[7장 · 40초] </a:t>
            </a:r>
            <a:r>
              <a:rPr dirty="0" err="1"/>
              <a:t>전달</a:t>
            </a:r>
            <a:r>
              <a:rPr dirty="0"/>
              <a:t> </a:t>
            </a:r>
            <a:r>
              <a:rPr dirty="0" err="1"/>
              <a:t>단계입니다</a:t>
            </a:r>
            <a:r>
              <a:rPr dirty="0"/>
              <a:t>. </a:t>
            </a:r>
            <a:r>
              <a:rPr dirty="0" err="1"/>
              <a:t>공통</a:t>
            </a:r>
            <a:r>
              <a:rPr dirty="0"/>
              <a:t> </a:t>
            </a:r>
            <a:r>
              <a:rPr dirty="0" err="1"/>
              <a:t>작업</a:t>
            </a:r>
            <a:r>
              <a:rPr dirty="0"/>
              <a:t> </a:t>
            </a:r>
            <a:r>
              <a:rPr dirty="0" err="1"/>
              <a:t>명세를</a:t>
            </a:r>
            <a:r>
              <a:rPr dirty="0"/>
              <a:t> </a:t>
            </a:r>
            <a:r>
              <a:rPr dirty="0" err="1"/>
              <a:t>수신측</a:t>
            </a:r>
            <a:r>
              <a:rPr dirty="0"/>
              <a:t> </a:t>
            </a:r>
            <a:r>
              <a:rPr dirty="0" err="1"/>
              <a:t>필드와</a:t>
            </a:r>
            <a:r>
              <a:rPr dirty="0"/>
              <a:t> </a:t>
            </a:r>
            <a:r>
              <a:rPr dirty="0" err="1"/>
              <a:t>단위로</a:t>
            </a:r>
            <a:r>
              <a:rPr dirty="0"/>
              <a:t> </a:t>
            </a:r>
            <a:r>
              <a:rPr dirty="0" err="1"/>
              <a:t>변환하되</a:t>
            </a:r>
            <a:r>
              <a:rPr dirty="0"/>
              <a:t> </a:t>
            </a:r>
            <a:r>
              <a:rPr dirty="0" err="1"/>
              <a:t>값별</a:t>
            </a:r>
            <a:r>
              <a:rPr dirty="0"/>
              <a:t> </a:t>
            </a:r>
            <a:r>
              <a:rPr dirty="0" err="1"/>
              <a:t>출처를</a:t>
            </a:r>
            <a:r>
              <a:rPr dirty="0"/>
              <a:t> </a:t>
            </a:r>
            <a:r>
              <a:rPr dirty="0" err="1"/>
              <a:t>유지합니다</a:t>
            </a:r>
            <a:r>
              <a:rPr dirty="0"/>
              <a:t>. </a:t>
            </a:r>
            <a:r>
              <a:rPr dirty="0" err="1"/>
              <a:t>범위값에서</a:t>
            </a:r>
            <a:r>
              <a:rPr dirty="0"/>
              <a:t> </a:t>
            </a:r>
            <a:r>
              <a:rPr dirty="0" err="1"/>
              <a:t>설정값을</a:t>
            </a:r>
            <a:r>
              <a:rPr dirty="0"/>
              <a:t> </a:t>
            </a:r>
            <a:r>
              <a:rPr dirty="0" err="1"/>
              <a:t>임의로</a:t>
            </a:r>
            <a:r>
              <a:rPr dirty="0"/>
              <a:t> </a:t>
            </a:r>
            <a:r>
              <a:rPr dirty="0" err="1"/>
              <a:t>만들지</a:t>
            </a:r>
            <a:r>
              <a:rPr dirty="0"/>
              <a:t> </a:t>
            </a:r>
            <a:r>
              <a:rPr dirty="0" err="1"/>
              <a:t>않고</a:t>
            </a:r>
            <a:r>
              <a:rPr dirty="0"/>
              <a:t> </a:t>
            </a:r>
            <a:r>
              <a:rPr dirty="0" err="1"/>
              <a:t>승인</a:t>
            </a:r>
            <a:r>
              <a:rPr dirty="0"/>
              <a:t> </a:t>
            </a:r>
            <a:r>
              <a:rPr dirty="0" err="1"/>
              <a:t>경계는</a:t>
            </a:r>
            <a:r>
              <a:rPr dirty="0"/>
              <a:t> </a:t>
            </a:r>
            <a:r>
              <a:rPr dirty="0" err="1"/>
              <a:t>플래그로</a:t>
            </a:r>
            <a:r>
              <a:rPr dirty="0"/>
              <a:t> </a:t>
            </a:r>
            <a:r>
              <a:rPr dirty="0" err="1"/>
              <a:t>남깁니다</a:t>
            </a:r>
            <a:r>
              <a:rPr dirty="0"/>
              <a:t>. </a:t>
            </a:r>
            <a:r>
              <a:rPr dirty="0" err="1"/>
              <a:t>전송</a:t>
            </a:r>
            <a:r>
              <a:rPr dirty="0"/>
              <a:t> </a:t>
            </a:r>
            <a:r>
              <a:rPr dirty="0" err="1"/>
              <a:t>요청과</a:t>
            </a:r>
            <a:r>
              <a:rPr dirty="0"/>
              <a:t>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수신을</a:t>
            </a:r>
            <a:r>
              <a:rPr dirty="0"/>
              <a:t> </a:t>
            </a:r>
            <a:r>
              <a:rPr dirty="0" err="1"/>
              <a:t>구분해</a:t>
            </a:r>
            <a:r>
              <a:rPr dirty="0"/>
              <a:t> </a:t>
            </a:r>
            <a:r>
              <a:rPr dirty="0" err="1"/>
              <a:t>기록하며</a:t>
            </a:r>
            <a:r>
              <a:rPr dirty="0"/>
              <a:t>, </a:t>
            </a:r>
            <a:r>
              <a:rPr dirty="0" err="1"/>
              <a:t>현재는</a:t>
            </a:r>
            <a:r>
              <a:rPr dirty="0"/>
              <a:t> </a:t>
            </a:r>
            <a:r>
              <a:rPr dirty="0" err="1"/>
              <a:t>모의</a:t>
            </a:r>
            <a:r>
              <a:rPr dirty="0"/>
              <a:t> </a:t>
            </a:r>
            <a:r>
              <a:rPr dirty="0" err="1"/>
              <a:t>수신기</a:t>
            </a:r>
            <a:r>
              <a:rPr dirty="0"/>
              <a:t> </a:t>
            </a:r>
            <a:r>
              <a:rPr dirty="0" err="1"/>
              <a:t>응답</a:t>
            </a:r>
            <a:r>
              <a:rPr dirty="0"/>
              <a:t> </a:t>
            </a:r>
            <a:r>
              <a:rPr dirty="0" err="1"/>
              <a:t>기록과</a:t>
            </a:r>
            <a:r>
              <a:rPr dirty="0"/>
              <a:t> </a:t>
            </a:r>
            <a:r>
              <a:rPr dirty="0" err="1"/>
              <a:t>현대</a:t>
            </a:r>
            <a:r>
              <a:rPr dirty="0"/>
              <a:t> Hi6·두산 DRL </a:t>
            </a:r>
            <a:r>
              <a:rPr dirty="0" err="1"/>
              <a:t>입력</a:t>
            </a:r>
            <a:r>
              <a:rPr dirty="0"/>
              <a:t> </a:t>
            </a:r>
            <a:r>
              <a:rPr dirty="0" err="1"/>
              <a:t>변환</a:t>
            </a:r>
            <a:r>
              <a:rPr dirty="0"/>
              <a:t> </a:t>
            </a:r>
            <a:r>
              <a:rPr dirty="0" err="1"/>
              <a:t>미리보기가</a:t>
            </a:r>
            <a:r>
              <a:rPr dirty="0"/>
              <a:t> </a:t>
            </a:r>
            <a:r>
              <a:rPr dirty="0" err="1"/>
              <a:t>근거입니다</a:t>
            </a:r>
            <a:r>
              <a:rPr dirty="0"/>
              <a:t>.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제어기</a:t>
            </a:r>
            <a:r>
              <a:rPr dirty="0"/>
              <a:t> </a:t>
            </a:r>
            <a:r>
              <a:rPr dirty="0" err="1"/>
              <a:t>통신과</a:t>
            </a:r>
            <a:r>
              <a:rPr dirty="0"/>
              <a:t> </a:t>
            </a:r>
            <a:r>
              <a:rPr dirty="0" err="1"/>
              <a:t>로봇</a:t>
            </a:r>
            <a:r>
              <a:rPr dirty="0"/>
              <a:t> </a:t>
            </a:r>
            <a:r>
              <a:rPr dirty="0" err="1"/>
              <a:t>실행은</a:t>
            </a:r>
            <a:r>
              <a:rPr dirty="0"/>
              <a:t> </a:t>
            </a:r>
            <a:r>
              <a:rPr dirty="0" err="1"/>
              <a:t>목표</a:t>
            </a:r>
            <a:r>
              <a:rPr dirty="0"/>
              <a:t> </a:t>
            </a:r>
            <a:r>
              <a:rPr dirty="0" err="1"/>
              <a:t>설계입니다</a:t>
            </a:r>
            <a:r>
              <a:rPr dirty="0"/>
              <a:t>.</a:t>
            </a:r>
          </a:p>
          <a:p>
            <a:r>
              <a:rPr dirty="0"/>
              <a:t>[</a:t>
            </a:r>
            <a:r>
              <a:rPr dirty="0" err="1"/>
              <a:t>전환</a:t>
            </a:r>
            <a:r>
              <a:rPr dirty="0"/>
              <a:t>] </a:t>
            </a:r>
            <a:r>
              <a:rPr dirty="0" err="1"/>
              <a:t>관리자는</a:t>
            </a:r>
            <a:r>
              <a:rPr dirty="0"/>
              <a:t> </a:t>
            </a:r>
            <a:r>
              <a:rPr dirty="0" err="1"/>
              <a:t>이</a:t>
            </a:r>
            <a:r>
              <a:rPr dirty="0"/>
              <a:t> </a:t>
            </a:r>
            <a:r>
              <a:rPr dirty="0" err="1"/>
              <a:t>모든</a:t>
            </a:r>
            <a:r>
              <a:rPr dirty="0"/>
              <a:t> </a:t>
            </a:r>
            <a:r>
              <a:rPr dirty="0" err="1"/>
              <a:t>단계의</a:t>
            </a:r>
            <a:r>
              <a:rPr dirty="0"/>
              <a:t> </a:t>
            </a:r>
            <a:r>
              <a:rPr dirty="0" err="1"/>
              <a:t>판단·조치·결론을</a:t>
            </a:r>
            <a:r>
              <a:rPr dirty="0"/>
              <a:t> </a:t>
            </a:r>
            <a:r>
              <a:rPr dirty="0" err="1"/>
              <a:t>하나의</a:t>
            </a:r>
            <a:r>
              <a:rPr dirty="0"/>
              <a:t> </a:t>
            </a:r>
            <a:r>
              <a:rPr dirty="0" err="1"/>
              <a:t>작업에서</a:t>
            </a:r>
            <a:r>
              <a:rPr dirty="0"/>
              <a:t> </a:t>
            </a:r>
            <a:r>
              <a:rPr dirty="0" err="1"/>
              <a:t>확인할</a:t>
            </a:r>
            <a:r>
              <a:rPr dirty="0"/>
              <a:t> </a:t>
            </a:r>
            <a:r>
              <a:rPr dirty="0" err="1"/>
              <a:t>수</a:t>
            </a:r>
            <a:r>
              <a:rPr dirty="0"/>
              <a:t> </a:t>
            </a:r>
            <a:r>
              <a:rPr dirty="0" err="1"/>
              <a:t>있어야</a:t>
            </a:r>
            <a:r>
              <a:rPr dirty="0"/>
              <a:t> </a:t>
            </a:r>
            <a:r>
              <a:rPr dirty="0" err="1"/>
              <a:t>합니다</a:t>
            </a:r>
            <a:r>
              <a:rPr dirty="0"/>
              <a:t>.</a:t>
            </a:r>
          </a:p>
          <a:p>
            <a:r>
              <a:rPr dirty="0"/>
              <a:t>[</a:t>
            </a:r>
            <a:r>
              <a:rPr dirty="0" err="1"/>
              <a:t>구분</a:t>
            </a:r>
            <a:r>
              <a:rPr dirty="0"/>
              <a:t>] </a:t>
            </a:r>
            <a:r>
              <a:rPr dirty="0" err="1"/>
              <a:t>조건</a:t>
            </a:r>
            <a:r>
              <a:rPr dirty="0"/>
              <a:t> </a:t>
            </a:r>
            <a:r>
              <a:rPr dirty="0" err="1"/>
              <a:t>후보</a:t>
            </a:r>
            <a:r>
              <a:rPr dirty="0"/>
              <a:t> </a:t>
            </a:r>
            <a:r>
              <a:rPr dirty="0" err="1"/>
              <a:t>준비</a:t>
            </a:r>
            <a:r>
              <a:rPr dirty="0"/>
              <a:t> </a:t>
            </a:r>
            <a:r>
              <a:rPr dirty="0" err="1"/>
              <a:t>상태를</a:t>
            </a:r>
            <a:r>
              <a:rPr dirty="0"/>
              <a:t> </a:t>
            </a:r>
            <a:r>
              <a:rPr dirty="0" err="1"/>
              <a:t>로봇</a:t>
            </a:r>
            <a:r>
              <a:rPr dirty="0"/>
              <a:t> </a:t>
            </a:r>
            <a:r>
              <a:rPr dirty="0" err="1"/>
              <a:t>전달·용접</a:t>
            </a:r>
            <a:r>
              <a:rPr dirty="0"/>
              <a:t> </a:t>
            </a:r>
            <a:r>
              <a:rPr dirty="0" err="1"/>
              <a:t>승인으로</a:t>
            </a:r>
            <a:r>
              <a:rPr dirty="0"/>
              <a:t> </a:t>
            </a:r>
            <a:r>
              <a:rPr dirty="0" err="1"/>
              <a:t>설명하지</a:t>
            </a:r>
            <a:r>
              <a:rPr dirty="0"/>
              <a:t> </a:t>
            </a:r>
            <a:r>
              <a:rPr dirty="0" err="1"/>
              <a:t>않음</a:t>
            </a:r>
            <a:r>
              <a:rPr dirty="0"/>
              <a:t>. 180 A·26 </a:t>
            </a:r>
            <a:r>
              <a:rPr dirty="0" err="1"/>
              <a:t>V는</a:t>
            </a:r>
            <a:r>
              <a:rPr dirty="0"/>
              <a:t> </a:t>
            </a:r>
            <a:r>
              <a:rPr dirty="0" err="1"/>
              <a:t>등록</a:t>
            </a:r>
            <a:r>
              <a:rPr dirty="0"/>
              <a:t> </a:t>
            </a:r>
            <a:r>
              <a:rPr dirty="0" err="1"/>
              <a:t>시연</a:t>
            </a:r>
            <a:r>
              <a:rPr dirty="0"/>
              <a:t> </a:t>
            </a:r>
            <a:r>
              <a:rPr dirty="0" err="1"/>
              <a:t>조건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[8장 · 50초 · 4비트]</a:t>
            </a:r>
          </a:p>
          <a:p>
            <a:r>
              <a:rPr dirty="0"/>
              <a:t>① 10초: </a:t>
            </a:r>
            <a:r>
              <a:rPr dirty="0" err="1"/>
              <a:t>작업</a:t>
            </a:r>
            <a:r>
              <a:rPr dirty="0"/>
              <a:t> </a:t>
            </a:r>
            <a:r>
              <a:rPr dirty="0" err="1"/>
              <a:t>하나</a:t>
            </a:r>
            <a:r>
              <a:rPr dirty="0"/>
              <a:t>, </a:t>
            </a:r>
            <a:r>
              <a:rPr dirty="0" err="1"/>
              <a:t>사진</a:t>
            </a:r>
            <a:r>
              <a:rPr dirty="0"/>
              <a:t> </a:t>
            </a:r>
            <a:r>
              <a:rPr dirty="0" err="1"/>
              <a:t>한</a:t>
            </a:r>
            <a:r>
              <a:rPr dirty="0"/>
              <a:t> </a:t>
            </a:r>
            <a:r>
              <a:rPr dirty="0" err="1"/>
              <a:t>장</a:t>
            </a:r>
            <a:r>
              <a:rPr dirty="0"/>
              <a:t> </a:t>
            </a:r>
            <a:r>
              <a:rPr dirty="0" err="1"/>
              <a:t>단위로</a:t>
            </a:r>
            <a:r>
              <a:rPr dirty="0"/>
              <a:t> </a:t>
            </a:r>
            <a:r>
              <a:rPr dirty="0" err="1"/>
              <a:t>엽니다</a:t>
            </a:r>
            <a:r>
              <a:rPr dirty="0"/>
              <a:t>. </a:t>
            </a:r>
            <a:r>
              <a:rPr dirty="0" err="1"/>
              <a:t>위</a:t>
            </a:r>
            <a:r>
              <a:rPr dirty="0"/>
              <a:t> </a:t>
            </a:r>
            <a:r>
              <a:rPr dirty="0" err="1"/>
              <a:t>띠가</a:t>
            </a:r>
            <a:r>
              <a:rPr dirty="0"/>
              <a:t> </a:t>
            </a:r>
            <a:r>
              <a:rPr dirty="0" err="1"/>
              <a:t>네</a:t>
            </a:r>
            <a:r>
              <a:rPr dirty="0"/>
              <a:t> </a:t>
            </a:r>
            <a:r>
              <a:rPr dirty="0" err="1"/>
              <a:t>단계</a:t>
            </a:r>
            <a:r>
              <a:rPr dirty="0"/>
              <a:t> </a:t>
            </a:r>
            <a:r>
              <a:rPr dirty="0" err="1"/>
              <a:t>상태이고</a:t>
            </a:r>
            <a:r>
              <a:rPr dirty="0"/>
              <a:t> </a:t>
            </a:r>
            <a:r>
              <a:rPr dirty="0" err="1"/>
              <a:t>이</a:t>
            </a:r>
            <a:r>
              <a:rPr dirty="0"/>
              <a:t> </a:t>
            </a:r>
            <a:r>
              <a:rPr dirty="0" err="1"/>
              <a:t>사진은</a:t>
            </a:r>
            <a:r>
              <a:rPr dirty="0"/>
              <a:t> </a:t>
            </a:r>
            <a:r>
              <a:rPr dirty="0" err="1"/>
              <a:t>판단에서</a:t>
            </a:r>
            <a:r>
              <a:rPr dirty="0"/>
              <a:t> </a:t>
            </a:r>
            <a:r>
              <a:rPr dirty="0" err="1"/>
              <a:t>멈췄습니다</a:t>
            </a:r>
            <a:r>
              <a:rPr dirty="0"/>
              <a:t>.</a:t>
            </a:r>
          </a:p>
          <a:p>
            <a:r>
              <a:rPr dirty="0"/>
              <a:t>② 15초: </a:t>
            </a:r>
            <a:r>
              <a:rPr dirty="0" err="1"/>
              <a:t>같은</a:t>
            </a:r>
            <a:r>
              <a:rPr dirty="0"/>
              <a:t> </a:t>
            </a:r>
            <a:r>
              <a:rPr dirty="0" err="1"/>
              <a:t>사진에</a:t>
            </a:r>
            <a:r>
              <a:rPr dirty="0"/>
              <a:t> </a:t>
            </a:r>
            <a:r>
              <a:rPr dirty="0" err="1"/>
              <a:t>문자</a:t>
            </a:r>
            <a:r>
              <a:rPr dirty="0"/>
              <a:t> </a:t>
            </a:r>
            <a:r>
              <a:rPr dirty="0" err="1"/>
              <a:t>인식과</a:t>
            </a:r>
            <a:r>
              <a:rPr dirty="0"/>
              <a:t> </a:t>
            </a:r>
            <a:r>
              <a:rPr dirty="0" err="1"/>
              <a:t>장면</a:t>
            </a:r>
            <a:r>
              <a:rPr dirty="0"/>
              <a:t> </a:t>
            </a:r>
            <a:r>
              <a:rPr dirty="0" err="1"/>
              <a:t>해석이</a:t>
            </a:r>
            <a:r>
              <a:rPr dirty="0"/>
              <a:t> </a:t>
            </a:r>
            <a:r>
              <a:rPr dirty="0" err="1"/>
              <a:t>다른</a:t>
            </a:r>
            <a:r>
              <a:rPr dirty="0"/>
              <a:t> </a:t>
            </a:r>
            <a:r>
              <a:rPr dirty="0" err="1"/>
              <a:t>값을</a:t>
            </a:r>
            <a:r>
              <a:rPr dirty="0"/>
              <a:t> </a:t>
            </a:r>
            <a:r>
              <a:rPr dirty="0" err="1"/>
              <a:t>냈습니다</a:t>
            </a:r>
            <a:r>
              <a:rPr dirty="0"/>
              <a:t>. </a:t>
            </a:r>
            <a:r>
              <a:rPr dirty="0" err="1"/>
              <a:t>어느</a:t>
            </a:r>
            <a:r>
              <a:rPr dirty="0"/>
              <a:t> </a:t>
            </a:r>
            <a:r>
              <a:rPr dirty="0" err="1"/>
              <a:t>규칙이</a:t>
            </a:r>
            <a:r>
              <a:rPr dirty="0"/>
              <a:t> </a:t>
            </a:r>
            <a:r>
              <a:rPr dirty="0" err="1"/>
              <a:t>불일치로</a:t>
            </a:r>
            <a:r>
              <a:rPr dirty="0"/>
              <a:t> </a:t>
            </a:r>
            <a:r>
              <a:rPr dirty="0" err="1"/>
              <a:t>잡았는지</a:t>
            </a:r>
            <a:r>
              <a:rPr dirty="0"/>
              <a:t>, </a:t>
            </a:r>
            <a:r>
              <a:rPr dirty="0" err="1"/>
              <a:t>이</a:t>
            </a:r>
            <a:r>
              <a:rPr dirty="0"/>
              <a:t> </a:t>
            </a:r>
            <a:r>
              <a:rPr dirty="0" err="1"/>
              <a:t>작업의</a:t>
            </a:r>
            <a:r>
              <a:rPr dirty="0"/>
              <a:t> </a:t>
            </a:r>
            <a:r>
              <a:rPr dirty="0" err="1"/>
              <a:t>문서</a:t>
            </a:r>
            <a:r>
              <a:rPr dirty="0"/>
              <a:t> </a:t>
            </a:r>
            <a:r>
              <a:rPr dirty="0" err="1"/>
              <a:t>개정과</a:t>
            </a:r>
            <a:r>
              <a:rPr dirty="0"/>
              <a:t> </a:t>
            </a:r>
            <a:r>
              <a:rPr dirty="0" err="1"/>
              <a:t>원문</a:t>
            </a:r>
            <a:r>
              <a:rPr dirty="0"/>
              <a:t> </a:t>
            </a:r>
            <a:r>
              <a:rPr dirty="0" err="1"/>
              <a:t>위치까지</a:t>
            </a:r>
            <a:r>
              <a:rPr dirty="0"/>
              <a:t> </a:t>
            </a:r>
            <a:r>
              <a:rPr dirty="0" err="1"/>
              <a:t>한</a:t>
            </a:r>
            <a:r>
              <a:rPr dirty="0"/>
              <a:t> </a:t>
            </a:r>
            <a:r>
              <a:rPr dirty="0" err="1"/>
              <a:t>화면입니다</a:t>
            </a:r>
            <a:r>
              <a:rPr dirty="0"/>
              <a:t>.</a:t>
            </a:r>
          </a:p>
          <a:p>
            <a:r>
              <a:rPr dirty="0"/>
              <a:t>③ 15초: </a:t>
            </a:r>
            <a:r>
              <a:rPr dirty="0" err="1"/>
              <a:t>시스템은</a:t>
            </a:r>
            <a:r>
              <a:rPr dirty="0"/>
              <a:t> </a:t>
            </a:r>
            <a:r>
              <a:rPr dirty="0" err="1"/>
              <a:t>넘기지</a:t>
            </a:r>
            <a:r>
              <a:rPr dirty="0"/>
              <a:t> </a:t>
            </a:r>
            <a:r>
              <a:rPr dirty="0" err="1"/>
              <a:t>않고</a:t>
            </a:r>
            <a:r>
              <a:rPr dirty="0"/>
              <a:t> </a:t>
            </a:r>
            <a:r>
              <a:rPr dirty="0" err="1"/>
              <a:t>보류했습니다</a:t>
            </a:r>
            <a:r>
              <a:rPr dirty="0"/>
              <a:t>. </a:t>
            </a:r>
            <a:r>
              <a:rPr dirty="0" err="1"/>
              <a:t>제안한</a:t>
            </a:r>
            <a:r>
              <a:rPr dirty="0"/>
              <a:t> </a:t>
            </a:r>
            <a:r>
              <a:rPr dirty="0" err="1"/>
              <a:t>조치와</a:t>
            </a:r>
            <a:r>
              <a:rPr dirty="0"/>
              <a:t>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수행한</a:t>
            </a:r>
            <a:r>
              <a:rPr dirty="0"/>
              <a:t> </a:t>
            </a:r>
            <a:r>
              <a:rPr dirty="0" err="1"/>
              <a:t>조치를</a:t>
            </a:r>
            <a:r>
              <a:rPr dirty="0"/>
              <a:t> </a:t>
            </a:r>
            <a:r>
              <a:rPr dirty="0" err="1"/>
              <a:t>구분해</a:t>
            </a:r>
            <a:r>
              <a:rPr dirty="0"/>
              <a:t> </a:t>
            </a:r>
            <a:r>
              <a:rPr dirty="0" err="1"/>
              <a:t>남기고</a:t>
            </a:r>
            <a:r>
              <a:rPr dirty="0"/>
              <a:t>, </a:t>
            </a:r>
            <a:r>
              <a:rPr dirty="0" err="1"/>
              <a:t>수정은</a:t>
            </a:r>
            <a:r>
              <a:rPr dirty="0"/>
              <a:t> </a:t>
            </a:r>
            <a:r>
              <a:rPr dirty="0" err="1"/>
              <a:t>원본을</a:t>
            </a:r>
            <a:r>
              <a:rPr dirty="0"/>
              <a:t> </a:t>
            </a:r>
            <a:r>
              <a:rPr dirty="0" err="1"/>
              <a:t>덮지</a:t>
            </a:r>
            <a:r>
              <a:rPr dirty="0"/>
              <a:t> </a:t>
            </a:r>
            <a:r>
              <a:rPr dirty="0" err="1"/>
              <a:t>않는</a:t>
            </a:r>
            <a:r>
              <a:rPr dirty="0"/>
              <a:t> </a:t>
            </a:r>
            <a:r>
              <a:rPr dirty="0" err="1"/>
              <a:t>별도</a:t>
            </a:r>
            <a:r>
              <a:rPr dirty="0"/>
              <a:t> </a:t>
            </a:r>
            <a:r>
              <a:rPr dirty="0" err="1"/>
              <a:t>행으로</a:t>
            </a:r>
            <a:r>
              <a:rPr dirty="0"/>
              <a:t> </a:t>
            </a:r>
            <a:r>
              <a:rPr dirty="0" err="1"/>
              <a:t>이어집니다</a:t>
            </a:r>
            <a:r>
              <a:rPr dirty="0"/>
              <a:t>.</a:t>
            </a:r>
          </a:p>
          <a:p>
            <a:r>
              <a:rPr dirty="0"/>
              <a:t>④ 10초: </a:t>
            </a:r>
            <a:r>
              <a:rPr dirty="0" err="1"/>
              <a:t>보류</a:t>
            </a:r>
            <a:r>
              <a:rPr dirty="0"/>
              <a:t> </a:t>
            </a:r>
            <a:r>
              <a:rPr dirty="0" err="1"/>
              <a:t>작업은</a:t>
            </a:r>
            <a:r>
              <a:rPr dirty="0"/>
              <a:t> </a:t>
            </a:r>
            <a:r>
              <a:rPr dirty="0" err="1"/>
              <a:t>전달이</a:t>
            </a:r>
            <a:r>
              <a:rPr dirty="0"/>
              <a:t> </a:t>
            </a:r>
            <a:r>
              <a:rPr dirty="0" err="1"/>
              <a:t>비어</a:t>
            </a:r>
            <a:r>
              <a:rPr dirty="0"/>
              <a:t> </a:t>
            </a:r>
            <a:r>
              <a:rPr dirty="0" err="1"/>
              <a:t>있고</a:t>
            </a:r>
            <a:r>
              <a:rPr dirty="0"/>
              <a:t>, </a:t>
            </a:r>
            <a:r>
              <a:rPr dirty="0" err="1"/>
              <a:t>조건이</a:t>
            </a:r>
            <a:r>
              <a:rPr dirty="0"/>
              <a:t> </a:t>
            </a:r>
            <a:r>
              <a:rPr dirty="0" err="1"/>
              <a:t>맞은</a:t>
            </a:r>
            <a:r>
              <a:rPr dirty="0"/>
              <a:t> </a:t>
            </a:r>
            <a:r>
              <a:rPr dirty="0" err="1"/>
              <a:t>다른</a:t>
            </a:r>
            <a:r>
              <a:rPr dirty="0"/>
              <a:t> </a:t>
            </a:r>
            <a:r>
              <a:rPr dirty="0" err="1"/>
              <a:t>작업은</a:t>
            </a:r>
            <a:r>
              <a:rPr dirty="0"/>
              <a:t> </a:t>
            </a:r>
            <a:r>
              <a:rPr dirty="0" err="1"/>
              <a:t>값마다</a:t>
            </a:r>
            <a:r>
              <a:rPr dirty="0"/>
              <a:t> </a:t>
            </a:r>
            <a:r>
              <a:rPr dirty="0" err="1"/>
              <a:t>출처와</a:t>
            </a:r>
            <a:r>
              <a:rPr dirty="0"/>
              <a:t> </a:t>
            </a:r>
            <a:r>
              <a:rPr dirty="0" err="1"/>
              <a:t>모의</a:t>
            </a:r>
            <a:r>
              <a:rPr dirty="0"/>
              <a:t> </a:t>
            </a:r>
            <a:r>
              <a:rPr dirty="0" err="1"/>
              <a:t>수신</a:t>
            </a:r>
            <a:r>
              <a:rPr dirty="0"/>
              <a:t> </a:t>
            </a:r>
            <a:r>
              <a:rPr dirty="0" err="1"/>
              <a:t>응답이</a:t>
            </a:r>
            <a:r>
              <a:rPr dirty="0"/>
              <a:t> </a:t>
            </a:r>
            <a:r>
              <a:rPr dirty="0" err="1"/>
              <a:t>따로</a:t>
            </a:r>
            <a:r>
              <a:rPr dirty="0"/>
              <a:t> </a:t>
            </a:r>
            <a:r>
              <a:rPr dirty="0" err="1"/>
              <a:t>남습니다</a:t>
            </a:r>
            <a:r>
              <a:rPr dirty="0"/>
              <a:t>.</a:t>
            </a:r>
          </a:p>
          <a:p>
            <a:r>
              <a:rPr dirty="0"/>
              <a:t>[</a:t>
            </a:r>
            <a:r>
              <a:rPr dirty="0" err="1"/>
              <a:t>전환</a:t>
            </a:r>
            <a:r>
              <a:rPr dirty="0"/>
              <a:t>] </a:t>
            </a:r>
            <a:r>
              <a:rPr dirty="0" err="1"/>
              <a:t>이</a:t>
            </a:r>
            <a:r>
              <a:rPr dirty="0"/>
              <a:t> </a:t>
            </a:r>
            <a:r>
              <a:rPr dirty="0" err="1"/>
              <a:t>설계의</a:t>
            </a:r>
            <a:r>
              <a:rPr dirty="0"/>
              <a:t> </a:t>
            </a:r>
            <a:r>
              <a:rPr dirty="0" err="1"/>
              <a:t>어떤</a:t>
            </a:r>
            <a:r>
              <a:rPr dirty="0"/>
              <a:t> </a:t>
            </a:r>
            <a:r>
              <a:rPr dirty="0" err="1"/>
              <a:t>부분이</a:t>
            </a:r>
            <a:r>
              <a:rPr dirty="0"/>
              <a:t> </a:t>
            </a:r>
            <a:r>
              <a:rPr dirty="0" err="1"/>
              <a:t>현재</a:t>
            </a:r>
            <a:r>
              <a:rPr dirty="0"/>
              <a:t> </a:t>
            </a:r>
            <a:r>
              <a:rPr dirty="0" err="1"/>
              <a:t>실행</a:t>
            </a:r>
            <a:r>
              <a:rPr dirty="0"/>
              <a:t> </a:t>
            </a:r>
            <a:r>
              <a:rPr dirty="0" err="1"/>
              <a:t>근거로</a:t>
            </a:r>
            <a:r>
              <a:rPr dirty="0"/>
              <a:t> </a:t>
            </a:r>
            <a:r>
              <a:rPr dirty="0" err="1"/>
              <a:t>뒷받침되는지</a:t>
            </a:r>
            <a:r>
              <a:rPr dirty="0"/>
              <a:t> </a:t>
            </a:r>
            <a:r>
              <a:rPr dirty="0" err="1"/>
              <a:t>확인합니다</a:t>
            </a:r>
            <a:r>
              <a:rPr dirty="0"/>
              <a:t>.</a:t>
            </a:r>
          </a:p>
          <a:p>
            <a:r>
              <a:rPr dirty="0"/>
              <a:t>[</a:t>
            </a:r>
            <a:r>
              <a:rPr dirty="0" err="1"/>
              <a:t>발표</a:t>
            </a:r>
            <a:r>
              <a:rPr dirty="0"/>
              <a:t> </a:t>
            </a:r>
            <a:r>
              <a:rPr dirty="0" err="1"/>
              <a:t>당일</a:t>
            </a:r>
            <a:r>
              <a:rPr dirty="0"/>
              <a:t>] </a:t>
            </a:r>
            <a:r>
              <a:rPr dirty="0" err="1"/>
              <a:t>라이브</a:t>
            </a:r>
            <a:r>
              <a:rPr dirty="0"/>
              <a:t> → </a:t>
            </a:r>
            <a:r>
              <a:rPr dirty="0" err="1"/>
              <a:t>녹화</a:t>
            </a:r>
            <a:r>
              <a:rPr dirty="0"/>
              <a:t> </a:t>
            </a:r>
            <a:r>
              <a:rPr dirty="0" err="1"/>
              <a:t>재생</a:t>
            </a:r>
            <a:r>
              <a:rPr dirty="0"/>
              <a:t> → </a:t>
            </a:r>
            <a:r>
              <a:rPr dirty="0" err="1"/>
              <a:t>정지</a:t>
            </a:r>
            <a:r>
              <a:rPr dirty="0"/>
              <a:t> </a:t>
            </a:r>
            <a:r>
              <a:rPr dirty="0" err="1"/>
              <a:t>캡처</a:t>
            </a:r>
            <a:r>
              <a:rPr dirty="0"/>
              <a:t> </a:t>
            </a:r>
            <a:r>
              <a:rPr dirty="0" err="1"/>
              <a:t>순</a:t>
            </a:r>
            <a:r>
              <a:rPr dirty="0"/>
              <a:t>. </a:t>
            </a:r>
            <a:r>
              <a:rPr dirty="0" err="1"/>
              <a:t>실패</a:t>
            </a:r>
            <a:r>
              <a:rPr dirty="0"/>
              <a:t> </a:t>
            </a:r>
            <a:r>
              <a:rPr dirty="0" err="1"/>
              <a:t>시</a:t>
            </a:r>
            <a:r>
              <a:rPr dirty="0"/>
              <a:t> </a:t>
            </a:r>
            <a:r>
              <a:rPr dirty="0" err="1"/>
              <a:t>재시도하지</a:t>
            </a:r>
            <a:r>
              <a:rPr dirty="0"/>
              <a:t> </a:t>
            </a:r>
            <a:r>
              <a:rPr dirty="0" err="1"/>
              <a:t>않음</a:t>
            </a:r>
            <a:r>
              <a:rPr dirty="0"/>
              <a:t>. 50초 </a:t>
            </a:r>
            <a:r>
              <a:rPr dirty="0" err="1"/>
              <a:t>초과</a:t>
            </a:r>
            <a:r>
              <a:rPr dirty="0"/>
              <a:t> </a:t>
            </a:r>
            <a:r>
              <a:rPr dirty="0" err="1"/>
              <a:t>시</a:t>
            </a:r>
            <a:r>
              <a:rPr dirty="0"/>
              <a:t> ④</a:t>
            </a:r>
            <a:r>
              <a:rPr dirty="0" err="1"/>
              <a:t>를</a:t>
            </a:r>
            <a:r>
              <a:rPr dirty="0"/>
              <a:t> </a:t>
            </a:r>
            <a:r>
              <a:rPr dirty="0" err="1"/>
              <a:t>한</a:t>
            </a:r>
            <a:r>
              <a:rPr dirty="0"/>
              <a:t> </a:t>
            </a:r>
            <a:r>
              <a:rPr dirty="0" err="1"/>
              <a:t>문장으로</a:t>
            </a:r>
            <a:r>
              <a:rPr dirty="0"/>
              <a:t>.</a:t>
            </a:r>
          </a:p>
          <a:p>
            <a:r>
              <a:rPr dirty="0"/>
              <a:t>[</a:t>
            </a:r>
            <a:r>
              <a:rPr dirty="0" err="1"/>
              <a:t>금지</a:t>
            </a:r>
            <a:r>
              <a:rPr dirty="0"/>
              <a:t>] </a:t>
            </a:r>
            <a:r>
              <a:rPr dirty="0" err="1"/>
              <a:t>통합</a:t>
            </a:r>
            <a:r>
              <a:rPr dirty="0"/>
              <a:t> </a:t>
            </a:r>
            <a:r>
              <a:rPr dirty="0" err="1"/>
              <a:t>대시보드</a:t>
            </a:r>
            <a:r>
              <a:rPr dirty="0"/>
              <a:t> </a:t>
            </a:r>
            <a:r>
              <a:rPr dirty="0" err="1"/>
              <a:t>구현·운영</a:t>
            </a:r>
            <a:r>
              <a:rPr dirty="0"/>
              <a:t> </a:t>
            </a:r>
            <a:r>
              <a:rPr dirty="0" err="1"/>
              <a:t>중</a:t>
            </a:r>
            <a:r>
              <a:rPr dirty="0"/>
              <a:t>, </a:t>
            </a:r>
            <a:r>
              <a:rPr dirty="0" err="1"/>
              <a:t>보류</a:t>
            </a:r>
            <a:r>
              <a:rPr dirty="0"/>
              <a:t> </a:t>
            </a:r>
            <a:r>
              <a:rPr dirty="0" err="1"/>
              <a:t>사례가</a:t>
            </a:r>
            <a:r>
              <a:rPr dirty="0"/>
              <a:t> </a:t>
            </a:r>
            <a:r>
              <a:rPr dirty="0" err="1"/>
              <a:t>재처리되어</a:t>
            </a:r>
            <a:r>
              <a:rPr dirty="0"/>
              <a:t> </a:t>
            </a:r>
            <a:r>
              <a:rPr dirty="0" err="1"/>
              <a:t>수신까지</a:t>
            </a:r>
            <a:r>
              <a:rPr dirty="0"/>
              <a:t>, </a:t>
            </a:r>
            <a:r>
              <a:rPr dirty="0" err="1"/>
              <a:t>화이트박스</a:t>
            </a:r>
            <a:r>
              <a:rPr dirty="0"/>
              <a:t>=</a:t>
            </a:r>
            <a:r>
              <a:rPr dirty="0" err="1"/>
              <a:t>모델</a:t>
            </a:r>
            <a:r>
              <a:rPr dirty="0"/>
              <a:t> </a:t>
            </a:r>
            <a:r>
              <a:rPr dirty="0" err="1"/>
              <a:t>내부</a:t>
            </a:r>
            <a:r>
              <a:rPr dirty="0"/>
              <a:t> </a:t>
            </a:r>
            <a:r>
              <a:rPr dirty="0" err="1"/>
              <a:t>사고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[9장 · 35초] </a:t>
            </a:r>
            <a:r>
              <a:rPr dirty="0" err="1"/>
              <a:t>지금까지의</a:t>
            </a:r>
            <a:r>
              <a:rPr dirty="0"/>
              <a:t> </a:t>
            </a:r>
            <a:r>
              <a:rPr dirty="0" err="1"/>
              <a:t>실행</a:t>
            </a:r>
            <a:r>
              <a:rPr dirty="0"/>
              <a:t> </a:t>
            </a:r>
            <a:r>
              <a:rPr dirty="0" err="1"/>
              <a:t>근거를</a:t>
            </a:r>
            <a:r>
              <a:rPr dirty="0"/>
              <a:t> </a:t>
            </a:r>
            <a:r>
              <a:rPr dirty="0" err="1"/>
              <a:t>설계와</a:t>
            </a:r>
            <a:r>
              <a:rPr dirty="0"/>
              <a:t> </a:t>
            </a:r>
            <a:r>
              <a:rPr dirty="0" err="1"/>
              <a:t>대응시키면</a:t>
            </a:r>
            <a:r>
              <a:rPr dirty="0"/>
              <a:t> </a:t>
            </a:r>
            <a:r>
              <a:rPr dirty="0" err="1"/>
              <a:t>이렇습니다</a:t>
            </a:r>
            <a:r>
              <a:rPr dirty="0"/>
              <a:t>. </a:t>
            </a:r>
            <a:r>
              <a:rPr dirty="0" err="1"/>
              <a:t>관측은</a:t>
            </a:r>
            <a:r>
              <a:rPr dirty="0"/>
              <a:t> </a:t>
            </a:r>
            <a:r>
              <a:rPr dirty="0" err="1"/>
              <a:t>반사</a:t>
            </a:r>
            <a:r>
              <a:rPr dirty="0"/>
              <a:t> A/B, </a:t>
            </a:r>
            <a:r>
              <a:rPr dirty="0" err="1"/>
              <a:t>판단은</a:t>
            </a:r>
            <a:r>
              <a:rPr dirty="0"/>
              <a:t> </a:t>
            </a:r>
            <a:r>
              <a:rPr dirty="0" err="1"/>
              <a:t>공개</a:t>
            </a:r>
            <a:r>
              <a:rPr dirty="0"/>
              <a:t> </a:t>
            </a:r>
            <a:r>
              <a:rPr dirty="0" err="1"/>
              <a:t>사진</a:t>
            </a:r>
            <a:r>
              <a:rPr dirty="0"/>
              <a:t> 8장의 </a:t>
            </a:r>
            <a:r>
              <a:rPr dirty="0" err="1"/>
              <a:t>판정</a:t>
            </a:r>
            <a:r>
              <a:rPr dirty="0"/>
              <a:t> </a:t>
            </a:r>
            <a:r>
              <a:rPr dirty="0" err="1"/>
              <a:t>비교</a:t>
            </a:r>
            <a:r>
              <a:rPr dirty="0"/>
              <a:t>, </a:t>
            </a:r>
            <a:r>
              <a:rPr dirty="0" err="1"/>
              <a:t>맥락</a:t>
            </a:r>
            <a:r>
              <a:rPr dirty="0"/>
              <a:t> </a:t>
            </a:r>
            <a:r>
              <a:rPr dirty="0" err="1"/>
              <a:t>검증은</a:t>
            </a:r>
            <a:r>
              <a:rPr dirty="0"/>
              <a:t> </a:t>
            </a:r>
            <a:r>
              <a:rPr dirty="0" err="1"/>
              <a:t>저장된</a:t>
            </a:r>
            <a:r>
              <a:rPr dirty="0"/>
              <a:t> </a:t>
            </a:r>
            <a:r>
              <a:rPr dirty="0" err="1"/>
              <a:t>관측을</a:t>
            </a:r>
            <a:r>
              <a:rPr dirty="0"/>
              <a:t> </a:t>
            </a:r>
            <a:r>
              <a:rPr dirty="0" err="1"/>
              <a:t>문서</a:t>
            </a:r>
            <a:r>
              <a:rPr dirty="0"/>
              <a:t> </a:t>
            </a:r>
            <a:r>
              <a:rPr dirty="0" err="1"/>
              <a:t>데모가</a:t>
            </a:r>
            <a:r>
              <a:rPr dirty="0"/>
              <a:t> </a:t>
            </a:r>
            <a:r>
              <a:rPr dirty="0" err="1"/>
              <a:t>검토한</a:t>
            </a:r>
            <a:r>
              <a:rPr dirty="0"/>
              <a:t> </a:t>
            </a:r>
            <a:r>
              <a:rPr dirty="0" err="1"/>
              <a:t>결과</a:t>
            </a:r>
            <a:r>
              <a:rPr dirty="0"/>
              <a:t>, </a:t>
            </a:r>
            <a:r>
              <a:rPr dirty="0" err="1"/>
              <a:t>전달은</a:t>
            </a:r>
            <a:r>
              <a:rPr dirty="0"/>
              <a:t> </a:t>
            </a:r>
            <a:r>
              <a:rPr dirty="0" err="1"/>
              <a:t>모의</a:t>
            </a:r>
            <a:r>
              <a:rPr dirty="0"/>
              <a:t> </a:t>
            </a:r>
            <a:r>
              <a:rPr dirty="0" err="1"/>
              <a:t>수신입니다</a:t>
            </a:r>
            <a:r>
              <a:rPr dirty="0"/>
              <a:t>. 8장 </a:t>
            </a:r>
            <a:r>
              <a:rPr dirty="0" err="1"/>
              <a:t>비교에서</a:t>
            </a:r>
            <a:r>
              <a:rPr dirty="0"/>
              <a:t> OCR </a:t>
            </a:r>
            <a:r>
              <a:rPr dirty="0" err="1"/>
              <a:t>단독은</a:t>
            </a:r>
            <a:r>
              <a:rPr dirty="0"/>
              <a:t> </a:t>
            </a:r>
            <a:r>
              <a:rPr dirty="0" err="1"/>
              <a:t>올바른</a:t>
            </a:r>
            <a:r>
              <a:rPr dirty="0"/>
              <a:t> </a:t>
            </a:r>
            <a:r>
              <a:rPr dirty="0" err="1"/>
              <a:t>확정</a:t>
            </a:r>
            <a:r>
              <a:rPr dirty="0"/>
              <a:t> 2·잘못된 </a:t>
            </a:r>
            <a:r>
              <a:rPr dirty="0" err="1"/>
              <a:t>확정</a:t>
            </a:r>
            <a:r>
              <a:rPr dirty="0"/>
              <a:t> 5·보류 1, </a:t>
            </a:r>
            <a:r>
              <a:rPr dirty="0" err="1"/>
              <a:t>합의</a:t>
            </a:r>
            <a:r>
              <a:rPr dirty="0"/>
              <a:t> </a:t>
            </a:r>
            <a:r>
              <a:rPr dirty="0" err="1"/>
              <a:t>방식은</a:t>
            </a:r>
            <a:r>
              <a:rPr dirty="0"/>
              <a:t> 0·0·8이었습니다. </a:t>
            </a:r>
            <a:r>
              <a:rPr dirty="0" err="1"/>
              <a:t>잘못된</a:t>
            </a:r>
            <a:r>
              <a:rPr dirty="0"/>
              <a:t> </a:t>
            </a:r>
            <a:r>
              <a:rPr dirty="0" err="1"/>
              <a:t>확정이</a:t>
            </a:r>
            <a:r>
              <a:rPr dirty="0"/>
              <a:t> </a:t>
            </a:r>
            <a:r>
              <a:rPr dirty="0" err="1"/>
              <a:t>줄었지만</a:t>
            </a:r>
            <a:r>
              <a:rPr dirty="0"/>
              <a:t> 8장 </a:t>
            </a:r>
            <a:r>
              <a:rPr dirty="0" err="1"/>
              <a:t>모두</a:t>
            </a:r>
            <a:r>
              <a:rPr dirty="0"/>
              <a:t> </a:t>
            </a:r>
            <a:r>
              <a:rPr dirty="0" err="1"/>
              <a:t>보류됐으므로</a:t>
            </a:r>
            <a:r>
              <a:rPr dirty="0"/>
              <a:t>, </a:t>
            </a:r>
            <a:r>
              <a:rPr dirty="0" err="1"/>
              <a:t>보류를</a:t>
            </a:r>
            <a:r>
              <a:rPr dirty="0"/>
              <a:t> </a:t>
            </a:r>
            <a:r>
              <a:rPr dirty="0" err="1"/>
              <a:t>자동</a:t>
            </a:r>
            <a:r>
              <a:rPr dirty="0"/>
              <a:t> </a:t>
            </a:r>
            <a:r>
              <a:rPr dirty="0" err="1"/>
              <a:t>처리로</a:t>
            </a:r>
            <a:r>
              <a:rPr dirty="0"/>
              <a:t> </a:t>
            </a:r>
            <a:r>
              <a:rPr dirty="0" err="1"/>
              <a:t>잇는</a:t>
            </a:r>
            <a:r>
              <a:rPr dirty="0"/>
              <a:t> </a:t>
            </a:r>
            <a:r>
              <a:rPr dirty="0" err="1"/>
              <a:t>보완</a:t>
            </a:r>
            <a:r>
              <a:rPr dirty="0"/>
              <a:t> </a:t>
            </a:r>
            <a:r>
              <a:rPr dirty="0" err="1"/>
              <a:t>과제가</a:t>
            </a:r>
            <a:r>
              <a:rPr dirty="0"/>
              <a:t> </a:t>
            </a:r>
            <a:r>
              <a:rPr dirty="0" err="1"/>
              <a:t>같은</a:t>
            </a:r>
            <a:r>
              <a:rPr dirty="0"/>
              <a:t> </a:t>
            </a:r>
            <a:r>
              <a:rPr dirty="0" err="1"/>
              <a:t>비중입니다</a:t>
            </a:r>
            <a:r>
              <a:rPr dirty="0"/>
              <a:t>. </a:t>
            </a:r>
            <a:r>
              <a:rPr dirty="0" err="1"/>
              <a:t>문서</a:t>
            </a:r>
            <a:r>
              <a:rPr dirty="0"/>
              <a:t> </a:t>
            </a:r>
            <a:r>
              <a:rPr dirty="0" err="1"/>
              <a:t>맥락</a:t>
            </a:r>
            <a:r>
              <a:rPr dirty="0"/>
              <a:t> </a:t>
            </a:r>
            <a:r>
              <a:rPr dirty="0" err="1"/>
              <a:t>효과</a:t>
            </a:r>
            <a:r>
              <a:rPr dirty="0"/>
              <a:t>, </a:t>
            </a:r>
            <a:r>
              <a:rPr dirty="0" err="1"/>
              <a:t>반사·가림</a:t>
            </a:r>
            <a:r>
              <a:rPr dirty="0"/>
              <a:t>, </a:t>
            </a:r>
            <a:r>
              <a:rPr dirty="0" err="1"/>
              <a:t>조건</a:t>
            </a:r>
            <a:r>
              <a:rPr dirty="0"/>
              <a:t> </a:t>
            </a:r>
            <a:r>
              <a:rPr dirty="0" err="1"/>
              <a:t>생성</a:t>
            </a:r>
            <a:r>
              <a:rPr dirty="0"/>
              <a:t>, </a:t>
            </a:r>
            <a:r>
              <a:rPr dirty="0" err="1"/>
              <a:t>문서</a:t>
            </a:r>
            <a:r>
              <a:rPr dirty="0"/>
              <a:t> </a:t>
            </a:r>
            <a:r>
              <a:rPr dirty="0" err="1"/>
              <a:t>결함</a:t>
            </a:r>
            <a:r>
              <a:rPr dirty="0"/>
              <a:t> </a:t>
            </a:r>
            <a:r>
              <a:rPr dirty="0" err="1"/>
              <a:t>실험과</a:t>
            </a:r>
            <a:r>
              <a:rPr dirty="0"/>
              <a:t> </a:t>
            </a:r>
            <a:r>
              <a:rPr dirty="0" err="1"/>
              <a:t>의미</a:t>
            </a:r>
            <a:r>
              <a:rPr dirty="0"/>
              <a:t> </a:t>
            </a:r>
            <a:r>
              <a:rPr dirty="0" err="1"/>
              <a:t>해석</a:t>
            </a:r>
            <a:r>
              <a:rPr dirty="0"/>
              <a:t> </a:t>
            </a:r>
            <a:r>
              <a:rPr dirty="0" err="1"/>
              <a:t>정답</a:t>
            </a:r>
            <a:r>
              <a:rPr dirty="0"/>
              <a:t> </a:t>
            </a:r>
            <a:r>
              <a:rPr dirty="0" err="1"/>
              <a:t>비교</a:t>
            </a:r>
            <a:r>
              <a:rPr dirty="0"/>
              <a:t>, </a:t>
            </a:r>
            <a:r>
              <a:rPr dirty="0" err="1"/>
              <a:t>전체</a:t>
            </a:r>
            <a:r>
              <a:rPr dirty="0"/>
              <a:t> </a:t>
            </a:r>
            <a:r>
              <a:rPr dirty="0" err="1"/>
              <a:t>통합이</a:t>
            </a:r>
            <a:r>
              <a:rPr dirty="0"/>
              <a:t> </a:t>
            </a:r>
            <a:r>
              <a:rPr dirty="0" err="1"/>
              <a:t>다음</a:t>
            </a:r>
            <a:r>
              <a:rPr dirty="0"/>
              <a:t> </a:t>
            </a:r>
            <a:r>
              <a:rPr dirty="0" err="1"/>
              <a:t>검증입니다</a:t>
            </a:r>
            <a:r>
              <a:rPr dirty="0"/>
              <a:t>.</a:t>
            </a:r>
          </a:p>
          <a:p>
            <a:r>
              <a:rPr dirty="0"/>
              <a:t>[</a:t>
            </a:r>
            <a:r>
              <a:rPr dirty="0" err="1"/>
              <a:t>전환</a:t>
            </a:r>
            <a:r>
              <a:rPr dirty="0"/>
              <a:t>] </a:t>
            </a:r>
            <a:r>
              <a:rPr dirty="0" err="1"/>
              <a:t>이</a:t>
            </a:r>
            <a:r>
              <a:rPr dirty="0"/>
              <a:t> </a:t>
            </a:r>
            <a:r>
              <a:rPr dirty="0" err="1"/>
              <a:t>설계가</a:t>
            </a:r>
            <a:r>
              <a:rPr dirty="0"/>
              <a:t> </a:t>
            </a:r>
            <a:r>
              <a:rPr dirty="0" err="1"/>
              <a:t>고객의</a:t>
            </a:r>
            <a:r>
              <a:rPr dirty="0"/>
              <a:t> </a:t>
            </a:r>
            <a:r>
              <a:rPr dirty="0" err="1"/>
              <a:t>추가</a:t>
            </a:r>
            <a:r>
              <a:rPr dirty="0"/>
              <a:t> </a:t>
            </a:r>
            <a:r>
              <a:rPr dirty="0" err="1"/>
              <a:t>투자와</a:t>
            </a:r>
            <a:r>
              <a:rPr dirty="0"/>
              <a:t> </a:t>
            </a:r>
            <a:r>
              <a:rPr dirty="0" err="1"/>
              <a:t>반복</a:t>
            </a:r>
            <a:r>
              <a:rPr dirty="0"/>
              <a:t> </a:t>
            </a:r>
            <a:r>
              <a:rPr dirty="0" err="1"/>
              <a:t>업무</a:t>
            </a:r>
            <a:r>
              <a:rPr dirty="0"/>
              <a:t>, </a:t>
            </a:r>
            <a:r>
              <a:rPr dirty="0" err="1"/>
              <a:t>운영</a:t>
            </a:r>
            <a:r>
              <a:rPr dirty="0"/>
              <a:t> </a:t>
            </a:r>
            <a:r>
              <a:rPr dirty="0" err="1"/>
              <a:t>비용에</a:t>
            </a:r>
            <a:r>
              <a:rPr dirty="0"/>
              <a:t> </a:t>
            </a:r>
            <a:r>
              <a:rPr dirty="0" err="1"/>
              <a:t>어떤</a:t>
            </a:r>
            <a:r>
              <a:rPr dirty="0"/>
              <a:t> </a:t>
            </a:r>
            <a:r>
              <a:rPr dirty="0" err="1"/>
              <a:t>차이를</a:t>
            </a:r>
            <a:r>
              <a:rPr dirty="0"/>
              <a:t> </a:t>
            </a:r>
            <a:r>
              <a:rPr dirty="0" err="1"/>
              <a:t>만드는지</a:t>
            </a:r>
            <a:r>
              <a:rPr dirty="0"/>
              <a:t> </a:t>
            </a:r>
            <a:r>
              <a:rPr dirty="0" err="1"/>
              <a:t>정리합니다</a:t>
            </a:r>
            <a:r>
              <a:rPr dirty="0"/>
              <a:t>.</a:t>
            </a:r>
          </a:p>
          <a:p>
            <a:r>
              <a:rPr dirty="0"/>
              <a:t>[</a:t>
            </a:r>
            <a:r>
              <a:rPr dirty="0" err="1"/>
              <a:t>구분</a:t>
            </a:r>
            <a:r>
              <a:rPr dirty="0"/>
              <a:t>] </a:t>
            </a:r>
            <a:r>
              <a:rPr dirty="0" err="1"/>
              <a:t>정확도</a:t>
            </a:r>
            <a:r>
              <a:rPr dirty="0"/>
              <a:t> </a:t>
            </a:r>
            <a:r>
              <a:rPr dirty="0" err="1"/>
              <a:t>향상·자동화</a:t>
            </a:r>
            <a:r>
              <a:rPr dirty="0"/>
              <a:t> </a:t>
            </a:r>
            <a:r>
              <a:rPr dirty="0" err="1"/>
              <a:t>성공률</a:t>
            </a:r>
            <a:r>
              <a:rPr dirty="0"/>
              <a:t> </a:t>
            </a:r>
            <a:r>
              <a:rPr dirty="0" err="1"/>
              <a:t>표현</a:t>
            </a:r>
            <a:r>
              <a:rPr dirty="0"/>
              <a:t> </a:t>
            </a:r>
            <a:r>
              <a:rPr dirty="0" err="1"/>
              <a:t>금지</a:t>
            </a:r>
            <a:r>
              <a:rPr dirty="0"/>
              <a:t>. </a:t>
            </a:r>
            <a:r>
              <a:rPr dirty="0" err="1"/>
              <a:t>새</a:t>
            </a:r>
            <a:r>
              <a:rPr dirty="0"/>
              <a:t> 8장과 </a:t>
            </a:r>
            <a:r>
              <a:rPr dirty="0" err="1"/>
              <a:t>재분석</a:t>
            </a:r>
            <a:r>
              <a:rPr dirty="0"/>
              <a:t> 7장 </a:t>
            </a:r>
            <a:r>
              <a:rPr dirty="0" err="1"/>
              <a:t>합산</a:t>
            </a:r>
            <a:r>
              <a:rPr dirty="0"/>
              <a:t> </a:t>
            </a:r>
            <a:r>
              <a:rPr dirty="0" err="1"/>
              <a:t>금지</a:t>
            </a:r>
            <a:r>
              <a:rPr dirty="0"/>
              <a:t>. </a:t>
            </a:r>
            <a:r>
              <a:rPr dirty="0" err="1"/>
              <a:t>잘못된</a:t>
            </a:r>
            <a:r>
              <a:rPr dirty="0"/>
              <a:t> </a:t>
            </a:r>
            <a:r>
              <a:rPr dirty="0" err="1"/>
              <a:t>확정</a:t>
            </a:r>
            <a:r>
              <a:rPr dirty="0"/>
              <a:t> </a:t>
            </a:r>
            <a:r>
              <a:rPr dirty="0" err="1"/>
              <a:t>감소만으로</a:t>
            </a:r>
            <a:r>
              <a:rPr dirty="0"/>
              <a:t> </a:t>
            </a:r>
            <a:r>
              <a:rPr dirty="0" err="1"/>
              <a:t>자동화</a:t>
            </a:r>
            <a:r>
              <a:rPr dirty="0"/>
              <a:t> </a:t>
            </a:r>
            <a:r>
              <a:rPr dirty="0" err="1"/>
              <a:t>목표</a:t>
            </a:r>
            <a:r>
              <a:rPr dirty="0"/>
              <a:t> </a:t>
            </a:r>
            <a:r>
              <a:rPr dirty="0" err="1"/>
              <a:t>달성이라고</a:t>
            </a:r>
            <a:r>
              <a:rPr dirty="0"/>
              <a:t> </a:t>
            </a:r>
            <a:r>
              <a:rPr dirty="0" err="1"/>
              <a:t>말하지</a:t>
            </a:r>
            <a:r>
              <a:rPr dirty="0"/>
              <a:t> </a:t>
            </a:r>
            <a:r>
              <a:rPr dirty="0" err="1"/>
              <a:t>않음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[10장 · 45초] </a:t>
            </a:r>
            <a:r>
              <a:rPr dirty="0" err="1"/>
              <a:t>도입</a:t>
            </a:r>
            <a:r>
              <a:rPr dirty="0"/>
              <a:t> </a:t>
            </a:r>
            <a:r>
              <a:rPr dirty="0" err="1"/>
              <a:t>관점에서는</a:t>
            </a:r>
            <a:r>
              <a:rPr dirty="0"/>
              <a:t> </a:t>
            </a:r>
            <a:r>
              <a:rPr dirty="0" err="1"/>
              <a:t>기존</a:t>
            </a:r>
            <a:r>
              <a:rPr dirty="0"/>
              <a:t> </a:t>
            </a:r>
            <a:r>
              <a:rPr dirty="0" err="1"/>
              <a:t>용접로봇과</a:t>
            </a:r>
            <a:r>
              <a:rPr dirty="0"/>
              <a:t> </a:t>
            </a:r>
            <a:r>
              <a:rPr dirty="0" err="1"/>
              <a:t>OCR용으로</a:t>
            </a:r>
            <a:r>
              <a:rPr dirty="0"/>
              <a:t> </a:t>
            </a:r>
            <a:r>
              <a:rPr dirty="0" err="1"/>
              <a:t>계획한</a:t>
            </a:r>
            <a:r>
              <a:rPr dirty="0"/>
              <a:t> RGB </a:t>
            </a:r>
            <a:r>
              <a:rPr dirty="0" err="1"/>
              <a:t>촬영</a:t>
            </a:r>
            <a:r>
              <a:rPr dirty="0"/>
              <a:t> </a:t>
            </a:r>
            <a:r>
              <a:rPr dirty="0" err="1"/>
              <a:t>기반을</a:t>
            </a:r>
            <a:r>
              <a:rPr dirty="0"/>
              <a:t> </a:t>
            </a:r>
            <a:r>
              <a:rPr dirty="0" err="1"/>
              <a:t>활용합니다</a:t>
            </a:r>
            <a:r>
              <a:rPr dirty="0"/>
              <a:t>. </a:t>
            </a:r>
            <a:r>
              <a:rPr dirty="0" err="1"/>
              <a:t>같은</a:t>
            </a:r>
            <a:r>
              <a:rPr dirty="0"/>
              <a:t> </a:t>
            </a:r>
            <a:r>
              <a:rPr dirty="0" err="1"/>
              <a:t>사진으로</a:t>
            </a:r>
            <a:r>
              <a:rPr dirty="0"/>
              <a:t> </a:t>
            </a:r>
            <a:r>
              <a:rPr dirty="0" err="1"/>
              <a:t>문자</a:t>
            </a:r>
            <a:r>
              <a:rPr dirty="0"/>
              <a:t> </a:t>
            </a:r>
            <a:r>
              <a:rPr dirty="0" err="1"/>
              <a:t>판독에</a:t>
            </a:r>
            <a:r>
              <a:rPr dirty="0"/>
              <a:t> </a:t>
            </a:r>
            <a:r>
              <a:rPr dirty="0" err="1"/>
              <a:t>더해</a:t>
            </a:r>
            <a:r>
              <a:rPr dirty="0"/>
              <a:t>, </a:t>
            </a:r>
            <a:r>
              <a:rPr dirty="0" err="1"/>
              <a:t>사람이</a:t>
            </a:r>
            <a:r>
              <a:rPr dirty="0"/>
              <a:t> </a:t>
            </a:r>
            <a:r>
              <a:rPr dirty="0" err="1"/>
              <a:t>하던</a:t>
            </a:r>
            <a:r>
              <a:rPr dirty="0"/>
              <a:t> </a:t>
            </a:r>
            <a:r>
              <a:rPr dirty="0" err="1"/>
              <a:t>문서</a:t>
            </a:r>
            <a:r>
              <a:rPr dirty="0"/>
              <a:t> </a:t>
            </a:r>
            <a:r>
              <a:rPr dirty="0" err="1"/>
              <a:t>조회와</a:t>
            </a:r>
            <a:r>
              <a:rPr dirty="0"/>
              <a:t> </a:t>
            </a:r>
            <a:r>
              <a:rPr dirty="0" err="1"/>
              <a:t>조건</a:t>
            </a:r>
            <a:r>
              <a:rPr dirty="0"/>
              <a:t> </a:t>
            </a:r>
            <a:r>
              <a:rPr dirty="0" err="1"/>
              <a:t>확인</a:t>
            </a:r>
            <a:r>
              <a:rPr dirty="0"/>
              <a:t>, </a:t>
            </a:r>
            <a:r>
              <a:rPr dirty="0" err="1"/>
              <a:t>작업</a:t>
            </a:r>
            <a:r>
              <a:rPr dirty="0"/>
              <a:t> </a:t>
            </a:r>
            <a:r>
              <a:rPr dirty="0" err="1"/>
              <a:t>정보</a:t>
            </a:r>
            <a:r>
              <a:rPr dirty="0"/>
              <a:t> </a:t>
            </a:r>
            <a:r>
              <a:rPr dirty="0" err="1"/>
              <a:t>입력까지</a:t>
            </a:r>
            <a:r>
              <a:rPr dirty="0"/>
              <a:t> </a:t>
            </a:r>
            <a:r>
              <a:rPr dirty="0" err="1"/>
              <a:t>자동화</a:t>
            </a:r>
            <a:r>
              <a:rPr dirty="0"/>
              <a:t> </a:t>
            </a:r>
            <a:r>
              <a:rPr dirty="0" err="1"/>
              <a:t>범위를</a:t>
            </a:r>
            <a:r>
              <a:rPr dirty="0"/>
              <a:t> </a:t>
            </a:r>
            <a:r>
              <a:rPr dirty="0" err="1"/>
              <a:t>넓힙니다</a:t>
            </a:r>
            <a:r>
              <a:rPr dirty="0"/>
              <a:t>. AI </a:t>
            </a:r>
            <a:r>
              <a:rPr dirty="0" err="1"/>
              <a:t>호출은</a:t>
            </a:r>
            <a:r>
              <a:rPr dirty="0"/>
              <a:t> </a:t>
            </a:r>
            <a:r>
              <a:rPr dirty="0" err="1"/>
              <a:t>인식과</a:t>
            </a:r>
            <a:r>
              <a:rPr dirty="0"/>
              <a:t> </a:t>
            </a:r>
            <a:r>
              <a:rPr dirty="0" err="1"/>
              <a:t>해석에</a:t>
            </a:r>
            <a:r>
              <a:rPr dirty="0"/>
              <a:t> </a:t>
            </a:r>
            <a:r>
              <a:rPr dirty="0" err="1"/>
              <a:t>필요한</a:t>
            </a:r>
            <a:r>
              <a:rPr dirty="0"/>
              <a:t> </a:t>
            </a:r>
            <a:r>
              <a:rPr dirty="0" err="1"/>
              <a:t>곳에</a:t>
            </a:r>
            <a:r>
              <a:rPr dirty="0"/>
              <a:t> </a:t>
            </a:r>
            <a:r>
              <a:rPr dirty="0" err="1"/>
              <a:t>집중하고</a:t>
            </a:r>
            <a:r>
              <a:rPr dirty="0"/>
              <a:t>, </a:t>
            </a:r>
            <a:r>
              <a:rPr dirty="0" err="1"/>
              <a:t>기준이</a:t>
            </a:r>
            <a:r>
              <a:rPr dirty="0"/>
              <a:t> </a:t>
            </a:r>
            <a:r>
              <a:rPr dirty="0" err="1"/>
              <a:t>명확한</a:t>
            </a:r>
            <a:r>
              <a:rPr dirty="0"/>
              <a:t> </a:t>
            </a:r>
            <a:r>
              <a:rPr dirty="0" err="1"/>
              <a:t>검증과</a:t>
            </a:r>
            <a:r>
              <a:rPr dirty="0"/>
              <a:t> </a:t>
            </a:r>
            <a:r>
              <a:rPr dirty="0" err="1"/>
              <a:t>전달은</a:t>
            </a:r>
            <a:r>
              <a:rPr dirty="0"/>
              <a:t> </a:t>
            </a:r>
            <a:r>
              <a:rPr dirty="0" err="1"/>
              <a:t>소프트웨어로</a:t>
            </a:r>
            <a:r>
              <a:rPr dirty="0"/>
              <a:t> </a:t>
            </a:r>
            <a:r>
              <a:rPr dirty="0" err="1"/>
              <a:t>처리합니다</a:t>
            </a:r>
            <a:r>
              <a:rPr dirty="0"/>
              <a:t>. </a:t>
            </a:r>
            <a:r>
              <a:rPr dirty="0" err="1"/>
              <a:t>각</a:t>
            </a:r>
            <a:r>
              <a:rPr dirty="0"/>
              <a:t> </a:t>
            </a:r>
            <a:r>
              <a:rPr dirty="0" err="1"/>
              <a:t>단계의</a:t>
            </a:r>
            <a:r>
              <a:rPr dirty="0"/>
              <a:t> </a:t>
            </a:r>
            <a:r>
              <a:rPr dirty="0" err="1"/>
              <a:t>기록은</a:t>
            </a:r>
            <a:r>
              <a:rPr dirty="0"/>
              <a:t> </a:t>
            </a:r>
            <a:r>
              <a:rPr dirty="0" err="1"/>
              <a:t>문제</a:t>
            </a:r>
            <a:r>
              <a:rPr dirty="0"/>
              <a:t> </a:t>
            </a:r>
            <a:r>
              <a:rPr dirty="0" err="1"/>
              <a:t>원인과</a:t>
            </a:r>
            <a:r>
              <a:rPr dirty="0"/>
              <a:t> </a:t>
            </a:r>
            <a:r>
              <a:rPr dirty="0" err="1"/>
              <a:t>변경</a:t>
            </a:r>
            <a:r>
              <a:rPr dirty="0"/>
              <a:t> </a:t>
            </a:r>
            <a:r>
              <a:rPr dirty="0" err="1"/>
              <a:t>범위를</a:t>
            </a:r>
            <a:r>
              <a:rPr dirty="0"/>
              <a:t> </a:t>
            </a:r>
            <a:r>
              <a:rPr dirty="0" err="1"/>
              <a:t>확인하는</a:t>
            </a:r>
            <a:r>
              <a:rPr dirty="0"/>
              <a:t> </a:t>
            </a:r>
            <a:r>
              <a:rPr dirty="0" err="1"/>
              <a:t>데</a:t>
            </a:r>
            <a:r>
              <a:rPr dirty="0"/>
              <a:t> </a:t>
            </a:r>
            <a:r>
              <a:rPr dirty="0" err="1"/>
              <a:t>쓰입니다</a:t>
            </a:r>
            <a:r>
              <a:rPr dirty="0"/>
              <a:t>. </a:t>
            </a:r>
            <a:r>
              <a:rPr dirty="0" err="1"/>
              <a:t>추가</a:t>
            </a:r>
            <a:r>
              <a:rPr dirty="0"/>
              <a:t> </a:t>
            </a:r>
            <a:r>
              <a:rPr dirty="0" err="1"/>
              <a:t>설비를</a:t>
            </a:r>
            <a:r>
              <a:rPr dirty="0"/>
              <a:t> </a:t>
            </a:r>
            <a:r>
              <a:rPr dirty="0" err="1"/>
              <a:t>최소화하면서</a:t>
            </a:r>
            <a:r>
              <a:rPr dirty="0"/>
              <a:t> </a:t>
            </a:r>
            <a:r>
              <a:rPr dirty="0" err="1"/>
              <a:t>반복</a:t>
            </a:r>
            <a:r>
              <a:rPr dirty="0"/>
              <a:t> </a:t>
            </a:r>
            <a:r>
              <a:rPr dirty="0" err="1"/>
              <a:t>업무와</a:t>
            </a:r>
            <a:r>
              <a:rPr dirty="0"/>
              <a:t> </a:t>
            </a:r>
            <a:r>
              <a:rPr dirty="0" err="1"/>
              <a:t>운영</a:t>
            </a:r>
            <a:r>
              <a:rPr dirty="0"/>
              <a:t> </a:t>
            </a:r>
            <a:r>
              <a:rPr dirty="0" err="1"/>
              <a:t>부담을</a:t>
            </a:r>
            <a:r>
              <a:rPr dirty="0"/>
              <a:t> </a:t>
            </a:r>
            <a:r>
              <a:rPr dirty="0" err="1"/>
              <a:t>줄이는</a:t>
            </a:r>
            <a:r>
              <a:rPr dirty="0"/>
              <a:t> </a:t>
            </a:r>
            <a:r>
              <a:rPr dirty="0" err="1"/>
              <a:t>도입안입니다</a:t>
            </a:r>
            <a:r>
              <a:rPr dirty="0"/>
              <a:t>.</a:t>
            </a:r>
          </a:p>
          <a:p>
            <a:r>
              <a:rPr dirty="0"/>
              <a:t>[</a:t>
            </a:r>
            <a:r>
              <a:rPr dirty="0" err="1"/>
              <a:t>전환</a:t>
            </a:r>
            <a:r>
              <a:rPr dirty="0"/>
              <a:t>] </a:t>
            </a:r>
            <a:r>
              <a:rPr dirty="0" err="1"/>
              <a:t>대표</a:t>
            </a:r>
            <a:r>
              <a:rPr dirty="0"/>
              <a:t> </a:t>
            </a:r>
            <a:r>
              <a:rPr dirty="0" err="1"/>
              <a:t>작업에서</a:t>
            </a:r>
            <a:r>
              <a:rPr dirty="0"/>
              <a:t> </a:t>
            </a:r>
            <a:r>
              <a:rPr dirty="0" err="1"/>
              <a:t>자동</a:t>
            </a:r>
            <a:r>
              <a:rPr dirty="0"/>
              <a:t> </a:t>
            </a:r>
            <a:r>
              <a:rPr dirty="0" err="1"/>
              <a:t>준비의</a:t>
            </a:r>
            <a:r>
              <a:rPr dirty="0"/>
              <a:t> </a:t>
            </a:r>
            <a:r>
              <a:rPr dirty="0" err="1"/>
              <a:t>정확성과</a:t>
            </a:r>
            <a:r>
              <a:rPr dirty="0"/>
              <a:t> </a:t>
            </a:r>
            <a:r>
              <a:rPr dirty="0" err="1"/>
              <a:t>사람</a:t>
            </a:r>
            <a:r>
              <a:rPr dirty="0"/>
              <a:t> </a:t>
            </a:r>
            <a:r>
              <a:rPr dirty="0" err="1"/>
              <a:t>개입</a:t>
            </a:r>
            <a:r>
              <a:rPr dirty="0"/>
              <a:t> </a:t>
            </a:r>
            <a:r>
              <a:rPr dirty="0" err="1"/>
              <a:t>시간</a:t>
            </a:r>
            <a:r>
              <a:rPr dirty="0"/>
              <a:t>, </a:t>
            </a:r>
            <a:r>
              <a:rPr dirty="0" err="1"/>
              <a:t>추가</a:t>
            </a:r>
            <a:r>
              <a:rPr dirty="0"/>
              <a:t> </a:t>
            </a:r>
            <a:r>
              <a:rPr dirty="0" err="1"/>
              <a:t>운영비를</a:t>
            </a:r>
            <a:r>
              <a:rPr dirty="0"/>
              <a:t> </a:t>
            </a:r>
            <a:r>
              <a:rPr dirty="0" err="1"/>
              <a:t>함께</a:t>
            </a:r>
            <a:r>
              <a:rPr dirty="0"/>
              <a:t> </a:t>
            </a:r>
            <a:r>
              <a:rPr dirty="0" err="1"/>
              <a:t>확인합니다</a:t>
            </a:r>
            <a:r>
              <a:rPr dirty="0"/>
              <a:t>.</a:t>
            </a:r>
          </a:p>
          <a:p>
            <a:r>
              <a:rPr dirty="0"/>
              <a:t>[</a:t>
            </a:r>
            <a:r>
              <a:rPr dirty="0" err="1"/>
              <a:t>구분</a:t>
            </a:r>
            <a:r>
              <a:rPr dirty="0"/>
              <a:t>] </a:t>
            </a:r>
            <a:r>
              <a:rPr dirty="0" err="1"/>
              <a:t>절감률·자동화율·추가</a:t>
            </a:r>
            <a:r>
              <a:rPr dirty="0"/>
              <a:t> </a:t>
            </a:r>
            <a:r>
              <a:rPr dirty="0" err="1"/>
              <a:t>투자</a:t>
            </a:r>
            <a:r>
              <a:rPr dirty="0"/>
              <a:t> </a:t>
            </a:r>
            <a:r>
              <a:rPr dirty="0" err="1"/>
              <a:t>최소화의</a:t>
            </a:r>
            <a:r>
              <a:rPr dirty="0"/>
              <a:t> </a:t>
            </a:r>
            <a:r>
              <a:rPr dirty="0" err="1"/>
              <a:t>실증을</a:t>
            </a:r>
            <a:r>
              <a:rPr dirty="0"/>
              <a:t> </a:t>
            </a:r>
            <a:r>
              <a:rPr dirty="0" err="1"/>
              <a:t>주장하지</a:t>
            </a:r>
            <a:r>
              <a:rPr dirty="0"/>
              <a:t> </a:t>
            </a:r>
            <a:r>
              <a:rPr dirty="0" err="1"/>
              <a:t>않음</a:t>
            </a:r>
            <a:r>
              <a:rPr dirty="0"/>
              <a:t>. </a:t>
            </a:r>
            <a:r>
              <a:rPr dirty="0" err="1"/>
              <a:t>사람</a:t>
            </a:r>
            <a:r>
              <a:rPr dirty="0"/>
              <a:t> </a:t>
            </a:r>
            <a:r>
              <a:rPr dirty="0" err="1"/>
              <a:t>개입</a:t>
            </a:r>
            <a:r>
              <a:rPr dirty="0"/>
              <a:t> </a:t>
            </a:r>
            <a:r>
              <a:rPr dirty="0" err="1"/>
              <a:t>축소와</a:t>
            </a:r>
            <a:r>
              <a:rPr dirty="0"/>
              <a:t> </a:t>
            </a:r>
            <a:r>
              <a:rPr dirty="0" err="1"/>
              <a:t>기존</a:t>
            </a:r>
            <a:r>
              <a:rPr dirty="0"/>
              <a:t> </a:t>
            </a:r>
            <a:r>
              <a:rPr dirty="0" err="1"/>
              <a:t>설비</a:t>
            </a:r>
            <a:r>
              <a:rPr dirty="0"/>
              <a:t> </a:t>
            </a:r>
            <a:r>
              <a:rPr dirty="0" err="1"/>
              <a:t>재사용은</a:t>
            </a:r>
            <a:r>
              <a:rPr dirty="0"/>
              <a:t> </a:t>
            </a:r>
            <a:r>
              <a:rPr dirty="0" err="1"/>
              <a:t>목표·적용</a:t>
            </a:r>
            <a:r>
              <a:rPr dirty="0"/>
              <a:t> </a:t>
            </a:r>
            <a:r>
              <a:rPr dirty="0" err="1"/>
              <a:t>전제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사용자</a:t>
            </a:r>
            <a:r>
              <a:rPr dirty="0"/>
              <a:t> </a:t>
            </a:r>
            <a:r>
              <a:rPr dirty="0" err="1"/>
              <a:t>제공</a:t>
            </a:r>
            <a:r>
              <a:rPr dirty="0"/>
              <a:t> </a:t>
            </a:r>
            <a:r>
              <a:rPr dirty="0" err="1"/>
              <a:t>문구를</a:t>
            </a:r>
            <a:r>
              <a:rPr dirty="0"/>
              <a:t> </a:t>
            </a:r>
            <a:r>
              <a:rPr dirty="0" err="1"/>
              <a:t>기반으로</a:t>
            </a:r>
            <a:r>
              <a:rPr dirty="0"/>
              <a:t> </a:t>
            </a:r>
            <a:r>
              <a:rPr dirty="0" err="1"/>
              <a:t>구성한</a:t>
            </a:r>
            <a:r>
              <a:rPr dirty="0"/>
              <a:t> </a:t>
            </a:r>
            <a:r>
              <a:rPr dirty="0" err="1"/>
              <a:t>기대효과</a:t>
            </a:r>
            <a:r>
              <a:rPr dirty="0"/>
              <a:t> </a:t>
            </a:r>
            <a:r>
              <a:rPr dirty="0" err="1"/>
              <a:t>및</a:t>
            </a:r>
            <a:r>
              <a:rPr dirty="0"/>
              <a:t> </a:t>
            </a:r>
            <a:r>
              <a:rPr dirty="0" err="1"/>
              <a:t>향후</a:t>
            </a:r>
            <a:r>
              <a:rPr dirty="0"/>
              <a:t> </a:t>
            </a:r>
            <a:r>
              <a:rPr dirty="0" err="1"/>
              <a:t>계획</a:t>
            </a:r>
            <a:r>
              <a:rPr dirty="0"/>
              <a:t> </a:t>
            </a:r>
            <a:r>
              <a:rPr dirty="0" err="1"/>
              <a:t>슬라이드</a:t>
            </a:r>
            <a:r>
              <a:rPr dirty="0"/>
              <a:t>. </a:t>
            </a:r>
            <a:r>
              <a:rPr dirty="0" err="1"/>
              <a:t>정량</a:t>
            </a:r>
            <a:r>
              <a:rPr dirty="0"/>
              <a:t> </a:t>
            </a:r>
            <a:r>
              <a:rPr dirty="0" err="1"/>
              <a:t>성과나</a:t>
            </a:r>
            <a:r>
              <a:rPr dirty="0"/>
              <a:t> </a:t>
            </a:r>
            <a:r>
              <a:rPr dirty="0" err="1"/>
              <a:t>실증</a:t>
            </a:r>
            <a:r>
              <a:rPr dirty="0"/>
              <a:t> </a:t>
            </a:r>
            <a:r>
              <a:rPr dirty="0" err="1"/>
              <a:t>완료를</a:t>
            </a:r>
            <a:r>
              <a:rPr dirty="0"/>
              <a:t> </a:t>
            </a:r>
            <a:r>
              <a:rPr dirty="0" err="1"/>
              <a:t>주장하지</a:t>
            </a:r>
            <a:r>
              <a:rPr dirty="0"/>
              <a:t> </a:t>
            </a:r>
            <a:r>
              <a:rPr dirty="0" err="1"/>
              <a:t>않으며</a:t>
            </a:r>
            <a:r>
              <a:rPr dirty="0"/>
              <a:t>, </a:t>
            </a:r>
            <a:r>
              <a:rPr dirty="0" err="1"/>
              <a:t>기대효과는</a:t>
            </a:r>
            <a:r>
              <a:rPr dirty="0"/>
              <a:t> </a:t>
            </a:r>
            <a:r>
              <a:rPr dirty="0" err="1"/>
              <a:t>설계</a:t>
            </a:r>
            <a:r>
              <a:rPr dirty="0"/>
              <a:t> </a:t>
            </a:r>
            <a:r>
              <a:rPr dirty="0" err="1"/>
              <a:t>목표입니다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기대효과</a:t>
            </a:r>
            <a:r>
              <a:rPr dirty="0"/>
              <a:t> </a:t>
            </a:r>
            <a:r>
              <a:rPr dirty="0" err="1"/>
              <a:t>및</a:t>
            </a:r>
            <a:r>
              <a:rPr dirty="0"/>
              <a:t> </a:t>
            </a:r>
            <a:r>
              <a:rPr dirty="0" err="1"/>
              <a:t>향후</a:t>
            </a:r>
            <a:r>
              <a:rPr dirty="0"/>
              <a:t> </a:t>
            </a:r>
            <a:r>
              <a:rPr dirty="0" err="1"/>
              <a:t>계획</a:t>
            </a:r>
            <a:endParaRPr dirty="0"/>
          </a:p>
          <a:p>
            <a:r>
              <a:rPr dirty="0" err="1"/>
              <a:t>용접로봇이</a:t>
            </a:r>
            <a:r>
              <a:rPr dirty="0"/>
              <a:t> </a:t>
            </a:r>
            <a:r>
              <a:rPr dirty="0" err="1"/>
              <a:t>현장</a:t>
            </a:r>
            <a:r>
              <a:rPr dirty="0"/>
              <a:t> </a:t>
            </a:r>
            <a:r>
              <a:rPr dirty="0" err="1"/>
              <a:t>표기를</a:t>
            </a:r>
            <a:r>
              <a:rPr dirty="0"/>
              <a:t> </a:t>
            </a:r>
            <a:r>
              <a:rPr dirty="0" err="1"/>
              <a:t>읽고</a:t>
            </a:r>
            <a:r>
              <a:rPr dirty="0"/>
              <a:t>, </a:t>
            </a:r>
            <a:r>
              <a:rPr dirty="0" err="1"/>
              <a:t>작업</a:t>
            </a:r>
            <a:r>
              <a:rPr dirty="0"/>
              <a:t> </a:t>
            </a:r>
            <a:r>
              <a:rPr dirty="0" err="1"/>
              <a:t>정보를</a:t>
            </a:r>
            <a:r>
              <a:rPr dirty="0"/>
              <a:t> </a:t>
            </a:r>
            <a:r>
              <a:rPr dirty="0" err="1"/>
              <a:t>준비하는</a:t>
            </a:r>
            <a:r>
              <a:rPr dirty="0"/>
              <a:t> </a:t>
            </a:r>
            <a:r>
              <a:rPr dirty="0" err="1"/>
              <a:t>자동화</a:t>
            </a:r>
            <a:endParaRPr dirty="0"/>
          </a:p>
          <a:p>
            <a:r>
              <a:rPr dirty="0" err="1"/>
              <a:t>기대효과</a:t>
            </a:r>
            <a:endParaRPr dirty="0"/>
          </a:p>
          <a:p>
            <a:r>
              <a:rPr dirty="0" err="1"/>
              <a:t>작업</a:t>
            </a:r>
            <a:r>
              <a:rPr dirty="0"/>
              <a:t> </a:t>
            </a:r>
            <a:r>
              <a:rPr dirty="0" err="1"/>
              <a:t>준비시간</a:t>
            </a:r>
            <a:r>
              <a:rPr dirty="0"/>
              <a:t> </a:t>
            </a:r>
            <a:r>
              <a:rPr dirty="0" err="1"/>
              <a:t>단축</a:t>
            </a:r>
            <a:endParaRPr dirty="0"/>
          </a:p>
          <a:p>
            <a:r>
              <a:rPr dirty="0" err="1"/>
              <a:t>표기</a:t>
            </a:r>
            <a:r>
              <a:rPr dirty="0"/>
              <a:t> </a:t>
            </a:r>
            <a:r>
              <a:rPr dirty="0" err="1"/>
              <a:t>인식부터</a:t>
            </a:r>
            <a:r>
              <a:rPr dirty="0"/>
              <a:t> </a:t>
            </a:r>
            <a:r>
              <a:rPr dirty="0" err="1"/>
              <a:t>문서</a:t>
            </a:r>
            <a:r>
              <a:rPr dirty="0"/>
              <a:t> </a:t>
            </a:r>
            <a:r>
              <a:rPr dirty="0" err="1"/>
              <a:t>조회·조건</a:t>
            </a:r>
            <a:r>
              <a:rPr dirty="0"/>
              <a:t> </a:t>
            </a:r>
            <a:r>
              <a:rPr dirty="0" err="1"/>
              <a:t>확인·파라미터</a:t>
            </a:r>
            <a:r>
              <a:rPr dirty="0"/>
              <a:t> </a:t>
            </a:r>
            <a:r>
              <a:rPr dirty="0" err="1"/>
              <a:t>준비까지</a:t>
            </a:r>
            <a:r>
              <a:rPr dirty="0"/>
              <a:t> </a:t>
            </a:r>
            <a:r>
              <a:rPr dirty="0" err="1"/>
              <a:t>연결해</a:t>
            </a:r>
            <a:r>
              <a:rPr dirty="0"/>
              <a:t> </a:t>
            </a:r>
            <a:r>
              <a:rPr dirty="0" err="1"/>
              <a:t>반복적인</a:t>
            </a:r>
            <a:r>
              <a:rPr dirty="0"/>
              <a:t> </a:t>
            </a:r>
            <a:r>
              <a:rPr dirty="0" err="1"/>
              <a:t>사람</a:t>
            </a:r>
            <a:r>
              <a:rPr dirty="0"/>
              <a:t> </a:t>
            </a:r>
            <a:r>
              <a:rPr dirty="0" err="1"/>
              <a:t>개입을</a:t>
            </a:r>
            <a:r>
              <a:rPr dirty="0"/>
              <a:t> </a:t>
            </a:r>
            <a:r>
              <a:rPr dirty="0" err="1"/>
              <a:t>줄입니다</a:t>
            </a:r>
            <a:r>
              <a:rPr dirty="0"/>
              <a:t>.</a:t>
            </a:r>
          </a:p>
          <a:p>
            <a:r>
              <a:rPr dirty="0" err="1"/>
              <a:t>잘못된</a:t>
            </a:r>
            <a:r>
              <a:rPr dirty="0"/>
              <a:t> </a:t>
            </a:r>
            <a:r>
              <a:rPr dirty="0" err="1"/>
              <a:t>작업정보</a:t>
            </a:r>
            <a:r>
              <a:rPr dirty="0"/>
              <a:t> </a:t>
            </a:r>
            <a:r>
              <a:rPr dirty="0" err="1"/>
              <a:t>전달</a:t>
            </a:r>
            <a:r>
              <a:rPr dirty="0"/>
              <a:t> </a:t>
            </a:r>
            <a:r>
              <a:rPr dirty="0" err="1"/>
              <a:t>위험</a:t>
            </a:r>
            <a:r>
              <a:rPr dirty="0"/>
              <a:t> </a:t>
            </a:r>
            <a:r>
              <a:rPr dirty="0" err="1"/>
              <a:t>감소</a:t>
            </a:r>
            <a:endParaRPr dirty="0"/>
          </a:p>
          <a:p>
            <a:r>
              <a:rPr dirty="0" err="1"/>
              <a:t>판독</a:t>
            </a:r>
            <a:r>
              <a:rPr dirty="0"/>
              <a:t> </a:t>
            </a:r>
            <a:r>
              <a:rPr dirty="0" err="1"/>
              <a:t>결과와</a:t>
            </a:r>
            <a:r>
              <a:rPr dirty="0"/>
              <a:t> </a:t>
            </a:r>
            <a:r>
              <a:rPr dirty="0" err="1"/>
              <a:t>작업</a:t>
            </a:r>
            <a:r>
              <a:rPr dirty="0"/>
              <a:t> </a:t>
            </a:r>
            <a:r>
              <a:rPr dirty="0" err="1"/>
              <a:t>기준을</a:t>
            </a:r>
            <a:r>
              <a:rPr dirty="0"/>
              <a:t> </a:t>
            </a:r>
            <a:r>
              <a:rPr dirty="0" err="1"/>
              <a:t>대조하고</a:t>
            </a:r>
            <a:r>
              <a:rPr dirty="0"/>
              <a:t>, </a:t>
            </a:r>
            <a:r>
              <a:rPr dirty="0" err="1"/>
              <a:t>누락·충돌을</a:t>
            </a:r>
            <a:r>
              <a:rPr dirty="0"/>
              <a:t> </a:t>
            </a:r>
            <a:r>
              <a:rPr dirty="0" err="1"/>
              <a:t>다음</a:t>
            </a:r>
            <a:r>
              <a:rPr dirty="0"/>
              <a:t> </a:t>
            </a:r>
            <a:r>
              <a:rPr dirty="0" err="1"/>
              <a:t>단계로</a:t>
            </a:r>
            <a:r>
              <a:rPr dirty="0"/>
              <a:t> </a:t>
            </a:r>
            <a:r>
              <a:rPr dirty="0" err="1"/>
              <a:t>넘기기</a:t>
            </a:r>
            <a:r>
              <a:rPr dirty="0"/>
              <a:t> </a:t>
            </a:r>
            <a:r>
              <a:rPr dirty="0" err="1"/>
              <a:t>전에</a:t>
            </a:r>
            <a:r>
              <a:rPr dirty="0"/>
              <a:t> </a:t>
            </a:r>
            <a:r>
              <a:rPr dirty="0" err="1"/>
              <a:t>확인합니다</a:t>
            </a:r>
            <a:r>
              <a:rPr dirty="0"/>
              <a:t>.</a:t>
            </a:r>
          </a:p>
          <a:p>
            <a:r>
              <a:rPr dirty="0" err="1"/>
              <a:t>도입·운영</a:t>
            </a:r>
            <a:r>
              <a:rPr dirty="0"/>
              <a:t> </a:t>
            </a:r>
            <a:r>
              <a:rPr dirty="0" err="1"/>
              <a:t>부담</a:t>
            </a:r>
            <a:r>
              <a:rPr dirty="0"/>
              <a:t> </a:t>
            </a:r>
            <a:r>
              <a:rPr dirty="0" err="1"/>
              <a:t>완화</a:t>
            </a:r>
            <a:endParaRPr dirty="0"/>
          </a:p>
          <a:p>
            <a:r>
              <a:rPr dirty="0" err="1"/>
              <a:t>기존</a:t>
            </a:r>
            <a:r>
              <a:rPr dirty="0"/>
              <a:t> </a:t>
            </a:r>
            <a:r>
              <a:rPr dirty="0" err="1"/>
              <a:t>로봇과</a:t>
            </a:r>
            <a:r>
              <a:rPr dirty="0"/>
              <a:t> RGB </a:t>
            </a:r>
            <a:r>
              <a:rPr dirty="0" err="1"/>
              <a:t>촬영</a:t>
            </a:r>
            <a:r>
              <a:rPr dirty="0"/>
              <a:t> </a:t>
            </a:r>
            <a:r>
              <a:rPr dirty="0" err="1"/>
              <a:t>기반을</a:t>
            </a:r>
            <a:r>
              <a:rPr dirty="0"/>
              <a:t> </a:t>
            </a:r>
            <a:r>
              <a:rPr dirty="0" err="1"/>
              <a:t>활용하고</a:t>
            </a:r>
            <a:r>
              <a:rPr dirty="0"/>
              <a:t>, </a:t>
            </a:r>
            <a:r>
              <a:rPr dirty="0" err="1"/>
              <a:t>필요한</a:t>
            </a:r>
            <a:r>
              <a:rPr dirty="0"/>
              <a:t> AI </a:t>
            </a:r>
            <a:r>
              <a:rPr dirty="0" err="1"/>
              <a:t>추론과</a:t>
            </a:r>
            <a:r>
              <a:rPr dirty="0"/>
              <a:t> </a:t>
            </a:r>
            <a:r>
              <a:rPr dirty="0" err="1"/>
              <a:t>처리</a:t>
            </a:r>
            <a:r>
              <a:rPr dirty="0"/>
              <a:t> </a:t>
            </a:r>
            <a:r>
              <a:rPr dirty="0" err="1"/>
              <a:t>이력으로</a:t>
            </a:r>
            <a:r>
              <a:rPr dirty="0"/>
              <a:t> </a:t>
            </a:r>
            <a:r>
              <a:rPr dirty="0" err="1"/>
              <a:t>운영·유지보수</a:t>
            </a:r>
            <a:r>
              <a:rPr dirty="0"/>
              <a:t> </a:t>
            </a:r>
            <a:r>
              <a:rPr dirty="0" err="1"/>
              <a:t>부담을</a:t>
            </a:r>
            <a:r>
              <a:rPr dirty="0"/>
              <a:t> </a:t>
            </a:r>
            <a:r>
              <a:rPr dirty="0" err="1"/>
              <a:t>관리합니다</a:t>
            </a:r>
            <a:r>
              <a:rPr dirty="0"/>
              <a:t>.</a:t>
            </a:r>
          </a:p>
          <a:p>
            <a:r>
              <a:rPr dirty="0" err="1"/>
              <a:t>향후</a:t>
            </a:r>
            <a:r>
              <a:rPr dirty="0"/>
              <a:t> </a:t>
            </a:r>
            <a:r>
              <a:rPr dirty="0" err="1"/>
              <a:t>계획</a:t>
            </a:r>
            <a:endParaRPr dirty="0"/>
          </a:p>
          <a:p>
            <a:r>
              <a:rPr dirty="0"/>
              <a:t>01 </a:t>
            </a:r>
            <a:r>
              <a:rPr dirty="0" err="1"/>
              <a:t>전체</a:t>
            </a:r>
            <a:r>
              <a:rPr dirty="0"/>
              <a:t> </a:t>
            </a:r>
            <a:r>
              <a:rPr dirty="0" err="1"/>
              <a:t>처리</a:t>
            </a:r>
            <a:r>
              <a:rPr dirty="0"/>
              <a:t> </a:t>
            </a:r>
            <a:r>
              <a:rPr dirty="0" err="1"/>
              <a:t>흐름</a:t>
            </a:r>
            <a:r>
              <a:rPr dirty="0"/>
              <a:t> </a:t>
            </a:r>
            <a:r>
              <a:rPr dirty="0" err="1"/>
              <a:t>통합</a:t>
            </a:r>
            <a:endParaRPr dirty="0"/>
          </a:p>
          <a:p>
            <a:r>
              <a:rPr dirty="0" err="1"/>
              <a:t>로봇</a:t>
            </a:r>
            <a:r>
              <a:rPr dirty="0"/>
              <a:t> </a:t>
            </a:r>
            <a:r>
              <a:rPr dirty="0" err="1"/>
              <a:t>촬영부터</a:t>
            </a:r>
            <a:r>
              <a:rPr dirty="0"/>
              <a:t> </a:t>
            </a:r>
            <a:r>
              <a:rPr dirty="0" err="1"/>
              <a:t>인식·문서</a:t>
            </a:r>
            <a:r>
              <a:rPr dirty="0"/>
              <a:t> </a:t>
            </a:r>
            <a:r>
              <a:rPr dirty="0" err="1"/>
              <a:t>검증·파라미터</a:t>
            </a:r>
            <a:r>
              <a:rPr dirty="0"/>
              <a:t> </a:t>
            </a:r>
            <a:r>
              <a:rPr dirty="0" err="1"/>
              <a:t>전달까지</a:t>
            </a:r>
            <a:r>
              <a:rPr dirty="0"/>
              <a:t> </a:t>
            </a:r>
            <a:r>
              <a:rPr dirty="0" err="1"/>
              <a:t>하나의</a:t>
            </a:r>
            <a:r>
              <a:rPr dirty="0"/>
              <a:t> </a:t>
            </a:r>
            <a:r>
              <a:rPr dirty="0" err="1"/>
              <a:t>작업</a:t>
            </a:r>
            <a:r>
              <a:rPr dirty="0"/>
              <a:t> </a:t>
            </a:r>
            <a:r>
              <a:rPr dirty="0" err="1"/>
              <a:t>흐름으로</a:t>
            </a:r>
            <a:r>
              <a:rPr dirty="0"/>
              <a:t> </a:t>
            </a:r>
            <a:r>
              <a:rPr dirty="0" err="1"/>
              <a:t>연결</a:t>
            </a:r>
            <a:endParaRPr dirty="0"/>
          </a:p>
          <a:p>
            <a:r>
              <a:rPr dirty="0"/>
              <a:t>02 </a:t>
            </a:r>
            <a:r>
              <a:rPr dirty="0" err="1"/>
              <a:t>원인별</a:t>
            </a:r>
            <a:r>
              <a:rPr dirty="0"/>
              <a:t> </a:t>
            </a:r>
            <a:r>
              <a:rPr dirty="0" err="1"/>
              <a:t>자동</a:t>
            </a:r>
            <a:r>
              <a:rPr dirty="0"/>
              <a:t> </a:t>
            </a:r>
            <a:r>
              <a:rPr dirty="0" err="1"/>
              <a:t>보완</a:t>
            </a:r>
            <a:r>
              <a:rPr dirty="0"/>
              <a:t> </a:t>
            </a:r>
            <a:r>
              <a:rPr dirty="0" err="1"/>
              <a:t>구현</a:t>
            </a:r>
            <a:endParaRPr dirty="0"/>
          </a:p>
          <a:p>
            <a:r>
              <a:rPr dirty="0" err="1"/>
              <a:t>관측</a:t>
            </a:r>
            <a:r>
              <a:rPr dirty="0"/>
              <a:t> </a:t>
            </a:r>
            <a:r>
              <a:rPr dirty="0" err="1"/>
              <a:t>부족은</a:t>
            </a:r>
            <a:r>
              <a:rPr dirty="0"/>
              <a:t> </a:t>
            </a:r>
            <a:r>
              <a:rPr dirty="0" err="1"/>
              <a:t>재촬영</a:t>
            </a:r>
            <a:r>
              <a:rPr dirty="0"/>
              <a:t>, </a:t>
            </a:r>
            <a:r>
              <a:rPr dirty="0" err="1"/>
              <a:t>판독</a:t>
            </a:r>
            <a:r>
              <a:rPr dirty="0"/>
              <a:t> </a:t>
            </a:r>
            <a:r>
              <a:rPr dirty="0" err="1"/>
              <a:t>불일치는</a:t>
            </a:r>
            <a:r>
              <a:rPr dirty="0"/>
              <a:t> </a:t>
            </a:r>
            <a:r>
              <a:rPr dirty="0" err="1"/>
              <a:t>재인식</a:t>
            </a:r>
            <a:r>
              <a:rPr dirty="0"/>
              <a:t>, </a:t>
            </a:r>
            <a:r>
              <a:rPr dirty="0" err="1"/>
              <a:t>근거</a:t>
            </a:r>
            <a:r>
              <a:rPr dirty="0"/>
              <a:t> </a:t>
            </a:r>
            <a:r>
              <a:rPr dirty="0" err="1"/>
              <a:t>부족은</a:t>
            </a:r>
            <a:r>
              <a:rPr dirty="0"/>
              <a:t> </a:t>
            </a:r>
            <a:r>
              <a:rPr dirty="0" err="1"/>
              <a:t>문서</a:t>
            </a:r>
            <a:r>
              <a:rPr dirty="0"/>
              <a:t> </a:t>
            </a:r>
            <a:r>
              <a:rPr dirty="0" err="1"/>
              <a:t>재조회로</a:t>
            </a:r>
            <a:r>
              <a:rPr dirty="0"/>
              <a:t> </a:t>
            </a:r>
            <a:r>
              <a:rPr dirty="0" err="1"/>
              <a:t>연결하고</a:t>
            </a:r>
            <a:r>
              <a:rPr dirty="0"/>
              <a:t> </a:t>
            </a:r>
            <a:r>
              <a:rPr dirty="0" err="1"/>
              <a:t>미해결</a:t>
            </a:r>
            <a:r>
              <a:rPr dirty="0"/>
              <a:t> </a:t>
            </a:r>
            <a:r>
              <a:rPr dirty="0" err="1"/>
              <a:t>예외에</a:t>
            </a:r>
            <a:r>
              <a:rPr dirty="0"/>
              <a:t> </a:t>
            </a:r>
            <a:r>
              <a:rPr dirty="0" err="1"/>
              <a:t>사람의</a:t>
            </a:r>
            <a:r>
              <a:rPr dirty="0"/>
              <a:t> </a:t>
            </a:r>
            <a:r>
              <a:rPr dirty="0" err="1"/>
              <a:t>확인</a:t>
            </a:r>
            <a:r>
              <a:rPr dirty="0"/>
              <a:t> </a:t>
            </a:r>
            <a:r>
              <a:rPr dirty="0" err="1"/>
              <a:t>집중</a:t>
            </a:r>
            <a:endParaRPr dirty="0"/>
          </a:p>
          <a:p>
            <a:r>
              <a:rPr dirty="0"/>
              <a:t>03 </a:t>
            </a:r>
            <a:r>
              <a:rPr dirty="0" err="1"/>
              <a:t>대표</a:t>
            </a:r>
            <a:r>
              <a:rPr dirty="0"/>
              <a:t> </a:t>
            </a:r>
            <a:r>
              <a:rPr dirty="0" err="1"/>
              <a:t>작업</a:t>
            </a:r>
            <a:r>
              <a:rPr dirty="0"/>
              <a:t> </a:t>
            </a:r>
            <a:r>
              <a:rPr dirty="0" err="1"/>
              <a:t>기반</a:t>
            </a:r>
            <a:r>
              <a:rPr dirty="0"/>
              <a:t> </a:t>
            </a:r>
            <a:r>
              <a:rPr dirty="0" err="1"/>
              <a:t>현장</a:t>
            </a:r>
            <a:r>
              <a:rPr dirty="0"/>
              <a:t> </a:t>
            </a:r>
            <a:r>
              <a:rPr dirty="0" err="1"/>
              <a:t>실증</a:t>
            </a:r>
            <a:endParaRPr dirty="0"/>
          </a:p>
          <a:p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표기·승인</a:t>
            </a:r>
            <a:r>
              <a:rPr dirty="0"/>
              <a:t> </a:t>
            </a:r>
            <a:r>
              <a:rPr dirty="0" err="1"/>
              <a:t>문서·장비</a:t>
            </a:r>
            <a:r>
              <a:rPr dirty="0"/>
              <a:t> </a:t>
            </a:r>
            <a:r>
              <a:rPr dirty="0" err="1"/>
              <a:t>수신</a:t>
            </a:r>
            <a:r>
              <a:rPr dirty="0"/>
              <a:t> </a:t>
            </a:r>
            <a:r>
              <a:rPr dirty="0" err="1"/>
              <a:t>조건을</a:t>
            </a:r>
            <a:r>
              <a:rPr dirty="0"/>
              <a:t> </a:t>
            </a:r>
            <a:r>
              <a:rPr dirty="0" err="1"/>
              <a:t>적용해</a:t>
            </a:r>
            <a:r>
              <a:rPr dirty="0"/>
              <a:t> </a:t>
            </a:r>
            <a:r>
              <a:rPr dirty="0" err="1"/>
              <a:t>자동</a:t>
            </a:r>
            <a:r>
              <a:rPr dirty="0"/>
              <a:t> </a:t>
            </a:r>
            <a:r>
              <a:rPr dirty="0" err="1"/>
              <a:t>준비의</a:t>
            </a:r>
            <a:r>
              <a:rPr dirty="0"/>
              <a:t> </a:t>
            </a:r>
            <a:r>
              <a:rPr dirty="0" err="1"/>
              <a:t>정확성과</a:t>
            </a:r>
            <a:r>
              <a:rPr dirty="0"/>
              <a:t> </a:t>
            </a:r>
            <a:r>
              <a:rPr dirty="0" err="1"/>
              <a:t>사람</a:t>
            </a:r>
            <a:r>
              <a:rPr dirty="0"/>
              <a:t> </a:t>
            </a:r>
            <a:r>
              <a:rPr dirty="0" err="1"/>
              <a:t>개입시간</a:t>
            </a:r>
            <a:r>
              <a:rPr dirty="0"/>
              <a:t>, </a:t>
            </a:r>
            <a:r>
              <a:rPr dirty="0" err="1"/>
              <a:t>추가</a:t>
            </a:r>
            <a:r>
              <a:rPr dirty="0"/>
              <a:t> </a:t>
            </a:r>
            <a:r>
              <a:rPr dirty="0" err="1"/>
              <a:t>운영비</a:t>
            </a:r>
            <a:r>
              <a:rPr dirty="0"/>
              <a:t> </a:t>
            </a:r>
            <a:r>
              <a:rPr dirty="0" err="1"/>
              <a:t>검증</a:t>
            </a:r>
            <a:endParaRPr dirty="0"/>
          </a:p>
          <a:p>
            <a:r>
              <a:rPr dirty="0" err="1"/>
              <a:t>정상</a:t>
            </a:r>
            <a:r>
              <a:rPr dirty="0"/>
              <a:t> </a:t>
            </a:r>
            <a:r>
              <a:rPr dirty="0" err="1"/>
              <a:t>작업은</a:t>
            </a:r>
            <a:r>
              <a:rPr dirty="0"/>
              <a:t> </a:t>
            </a:r>
            <a:r>
              <a:rPr dirty="0" err="1"/>
              <a:t>자동으로</a:t>
            </a:r>
            <a:r>
              <a:rPr dirty="0"/>
              <a:t> </a:t>
            </a:r>
            <a:r>
              <a:rPr dirty="0" err="1"/>
              <a:t>이어가고</a:t>
            </a:r>
            <a:r>
              <a:rPr dirty="0"/>
              <a:t>, </a:t>
            </a:r>
            <a:r>
              <a:rPr dirty="0" err="1"/>
              <a:t>사람은</a:t>
            </a:r>
            <a:r>
              <a:rPr dirty="0"/>
              <a:t> </a:t>
            </a:r>
            <a:r>
              <a:rPr dirty="0" err="1"/>
              <a:t>해결되지</a:t>
            </a:r>
            <a:r>
              <a:rPr dirty="0"/>
              <a:t> </a:t>
            </a:r>
            <a:r>
              <a:rPr dirty="0" err="1"/>
              <a:t>않는</a:t>
            </a:r>
            <a:r>
              <a:rPr dirty="0"/>
              <a:t> </a:t>
            </a:r>
            <a:r>
              <a:rPr dirty="0" err="1"/>
              <a:t>예외에</a:t>
            </a:r>
            <a:r>
              <a:rPr dirty="0"/>
              <a:t> </a:t>
            </a:r>
            <a:r>
              <a:rPr dirty="0" err="1"/>
              <a:t>집중하도록</a:t>
            </a:r>
            <a:r>
              <a:rPr dirty="0"/>
              <a:t> </a:t>
            </a:r>
            <a:r>
              <a:rPr dirty="0" err="1"/>
              <a:t>하겠습니다</a:t>
            </a:r>
            <a:r>
              <a:rPr dirty="0"/>
              <a:t>.</a:t>
            </a:r>
          </a:p>
          <a:p>
            <a:r>
              <a:rPr dirty="0"/>
              <a:t>※ </a:t>
            </a:r>
            <a:r>
              <a:rPr dirty="0" err="1"/>
              <a:t>기대효과는</a:t>
            </a:r>
            <a:r>
              <a:rPr dirty="0"/>
              <a:t> </a:t>
            </a:r>
            <a:r>
              <a:rPr dirty="0" err="1"/>
              <a:t>설계</a:t>
            </a:r>
            <a:r>
              <a:rPr dirty="0"/>
              <a:t> </a:t>
            </a:r>
            <a:r>
              <a:rPr dirty="0" err="1"/>
              <a:t>목표이며</a:t>
            </a:r>
            <a:r>
              <a:rPr dirty="0"/>
              <a:t>,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개선</a:t>
            </a:r>
            <a:r>
              <a:rPr dirty="0"/>
              <a:t> </a:t>
            </a:r>
            <a:r>
              <a:rPr dirty="0" err="1"/>
              <a:t>수준은</a:t>
            </a:r>
            <a:r>
              <a:rPr dirty="0"/>
              <a:t> </a:t>
            </a:r>
            <a:r>
              <a:rPr dirty="0" err="1"/>
              <a:t>현장</a:t>
            </a:r>
            <a:r>
              <a:rPr dirty="0"/>
              <a:t> </a:t>
            </a:r>
            <a:r>
              <a:rPr dirty="0" err="1"/>
              <a:t>실증으로</a:t>
            </a:r>
            <a:r>
              <a:rPr dirty="0"/>
              <a:t> </a:t>
            </a:r>
            <a:r>
              <a:rPr dirty="0" err="1"/>
              <a:t>확인합니다</a:t>
            </a:r>
            <a:r>
              <a:rPr dirty="0"/>
              <a:t>.</a:t>
            </a:r>
          </a:p>
          <a:p>
            <a:endParaRPr dirty="0"/>
          </a:p>
          <a:p>
            <a:endParaRPr dirty="0"/>
          </a:p>
          <a:p>
            <a:r>
              <a:rPr dirty="0" err="1"/>
              <a:t>아이콘</a:t>
            </a:r>
            <a:r>
              <a:rPr dirty="0"/>
              <a:t>: </a:t>
            </a:r>
            <a:r>
              <a:rPr dirty="0" err="1"/>
              <a:t>Lucide</a:t>
            </a:r>
            <a:r>
              <a:rPr dirty="0"/>
              <a:t> https://</a:t>
            </a:r>
            <a:r>
              <a:rPr dirty="0" err="1"/>
              <a:t>lucide.dev</a:t>
            </a:r>
            <a:endParaRPr dirty="0"/>
          </a:p>
          <a:p>
            <a:r>
              <a:rPr dirty="0"/>
              <a:t>ISC License</a:t>
            </a:r>
          </a:p>
          <a:p>
            <a:endParaRPr dirty="0"/>
          </a:p>
          <a:p>
            <a:r>
              <a:rPr dirty="0"/>
              <a:t>Copyright (c) 2026 </a:t>
            </a:r>
            <a:r>
              <a:rPr dirty="0" err="1"/>
              <a:t>Lucide</a:t>
            </a:r>
            <a:r>
              <a:rPr dirty="0"/>
              <a:t> Icons and Contributors</a:t>
            </a:r>
          </a:p>
          <a:p>
            <a:endParaRPr dirty="0"/>
          </a:p>
          <a:p>
            <a:r>
              <a:rPr dirty="0"/>
              <a:t>Permission to use, copy, modify, and/or distribute this software for any</a:t>
            </a:r>
          </a:p>
          <a:p>
            <a:r>
              <a:rPr dirty="0"/>
              <a:t>purpose with or without fee is hereby granted, provided that the above</a:t>
            </a:r>
          </a:p>
          <a:p>
            <a:r>
              <a:rPr dirty="0"/>
              <a:t>copyright notice and this permission notice appear in all copies.</a:t>
            </a:r>
          </a:p>
          <a:p>
            <a:endParaRPr dirty="0"/>
          </a:p>
          <a:p>
            <a:r>
              <a:rPr dirty="0"/>
              <a:t>THE SOFTWARE IS PROVIDED "AS IS" AND THE AUTHOR DISCLAIMS ALL WARRANTIES</a:t>
            </a:r>
          </a:p>
          <a:p>
            <a:r>
              <a:rPr dirty="0"/>
              <a:t>WITH REGARD TO THIS SOFTWARE INCLUDING ALL IMPLIED WARRANTIES OF</a:t>
            </a:r>
          </a:p>
          <a:p>
            <a:r>
              <a:rPr dirty="0"/>
              <a:t>MERCHANTABILITY AND FITNESS. IN NO EVENT SHALL THE AUTHOR BE LIABLE FOR</a:t>
            </a:r>
          </a:p>
          <a:p>
            <a:r>
              <a:rPr dirty="0"/>
              <a:t>ANY SPECIAL, DIRECT, INDIRECT, OR CONSEQUENTIAL DAMAGES OR ANY DAMAGES</a:t>
            </a:r>
          </a:p>
          <a:p>
            <a:r>
              <a:rPr dirty="0"/>
              <a:t>WHATSOEVER RESULTING FROM LOSS OF USE, DATA OR PROFITS, WHETHER IN AN</a:t>
            </a:r>
          </a:p>
          <a:p>
            <a:r>
              <a:rPr dirty="0"/>
              <a:t>ACTION OF CONTRACT, NEGLIGENCE OR OTHER TORTIOUS ACTION, ARISING OUT OF</a:t>
            </a:r>
          </a:p>
          <a:p>
            <a:r>
              <a:rPr dirty="0"/>
              <a:t>OR IN CONNECTION WITH THE USE OR PERFORMANCE OF THIS SOFTWARE.</a:t>
            </a:r>
          </a:p>
          <a:p>
            <a:endParaRPr dirty="0"/>
          </a:p>
          <a:p>
            <a:r>
              <a:rPr dirty="0"/>
              <a:t>---</a:t>
            </a:r>
          </a:p>
          <a:p>
            <a:endParaRPr dirty="0"/>
          </a:p>
          <a:p>
            <a:r>
              <a:rPr dirty="0"/>
              <a:t>The following </a:t>
            </a:r>
            <a:r>
              <a:rPr dirty="0" err="1"/>
              <a:t>Lucide</a:t>
            </a:r>
            <a:r>
              <a:rPr dirty="0"/>
              <a:t> icons are derived from the Feather project:</a:t>
            </a:r>
          </a:p>
          <a:p>
            <a:endParaRPr dirty="0"/>
          </a:p>
          <a:p>
            <a:r>
              <a:rPr dirty="0"/>
              <a:t>airplay, alert-circle, alert-octagon, alert-triangle, aperture, arrow-down-circle, arrow-down-left, arrow-down-right, arrow-down, arrow-left-circle, arrow-left, arrow-right-circle, arrow-right, arrow-up-circle, arrow-up-left, arrow-up-right, arrow-up, at-sign, calendar, cast, check, chevron-down, chevron-left, chevron-right, chevron-up, chevrons-down, chevrons-left, chevrons-right, chevrons-up, circle, clipboard, clock, code, columns, command, compass, corner-down-left, corner-down-right, corner-left-down, corner-left-up, corner-right-down, corner-right-up, corner-up-left, corner-up-right, crosshair, database, divide-circle, divide-square, dollar-sign, download, external-link, feather, frown, hash, headphones, help-circle, info, italic, key, layout, life-buoy, link-2, link, loader, lock, log-in, log-out, maximize, meh, minimize, minimize-2, minus-circle, minus-square, minus, monitor, moon, more-horizontal, more-vertical, move, music, navigation-2, navigation, octagon, pause-circle, percent, plus-circle, plus-square, plus, power, radio, </a:t>
            </a:r>
            <a:r>
              <a:rPr dirty="0" err="1"/>
              <a:t>rss</a:t>
            </a:r>
            <a:r>
              <a:rPr dirty="0"/>
              <a:t>, search, server, share, shopping-bag, sidebar, smartphone, smile, square, table-2, tablet, target, terminal, trash-2, trash, triangle, tv, type, upload, x-circle, x-octagon, x-square, x, zoom-in, zoom-out</a:t>
            </a:r>
          </a:p>
          <a:p>
            <a:endParaRPr dirty="0"/>
          </a:p>
          <a:p>
            <a:r>
              <a:rPr dirty="0"/>
              <a:t>The MIT License (MIT) (for the icons listed above)</a:t>
            </a:r>
          </a:p>
          <a:p>
            <a:endParaRPr dirty="0"/>
          </a:p>
          <a:p>
            <a:r>
              <a:rPr dirty="0"/>
              <a:t>Copyright (c) 2013-present Cole Bemis</a:t>
            </a:r>
          </a:p>
          <a:p>
            <a:endParaRPr dirty="0"/>
          </a:p>
          <a:p>
            <a:r>
              <a:rPr dirty="0"/>
              <a:t>Permission is hereby granted, free of charge, to any person obtaining a copy</a:t>
            </a:r>
          </a:p>
          <a:p>
            <a:r>
              <a:rPr dirty="0"/>
              <a:t>of this software and associated documentation files (the "Software"), to deal</a:t>
            </a:r>
          </a:p>
          <a:p>
            <a:r>
              <a:rPr dirty="0"/>
              <a:t>in the Software without restriction, including without limitation the rights</a:t>
            </a:r>
          </a:p>
          <a:p>
            <a:r>
              <a:rPr dirty="0"/>
              <a:t>to use, copy, modify, merge, publish, distribute, sublicense, and/or sell</a:t>
            </a:r>
          </a:p>
          <a:p>
            <a:r>
              <a:rPr dirty="0"/>
              <a:t>copies of the Software, and to permit persons to whom the Software is</a:t>
            </a:r>
          </a:p>
          <a:p>
            <a:r>
              <a:rPr dirty="0"/>
              <a:t>furnished to do so, subject to the following conditions:</a:t>
            </a:r>
          </a:p>
          <a:p>
            <a:endParaRPr dirty="0"/>
          </a:p>
          <a:p>
            <a:r>
              <a:rPr dirty="0"/>
              <a:t>The above copyright notice and this permission notice shall be included in all</a:t>
            </a:r>
          </a:p>
          <a:p>
            <a:r>
              <a:rPr dirty="0"/>
              <a:t>copies or substantial portions of the Software.</a:t>
            </a:r>
          </a:p>
          <a:p>
            <a:endParaRPr dirty="0"/>
          </a:p>
          <a:p>
            <a:r>
              <a:rPr dirty="0"/>
              <a:t>THE SOFTWARE IS PROVIDED "AS IS", WITHOUT WARRANTY OF ANY KIND, EXPRESS OR</a:t>
            </a:r>
          </a:p>
          <a:p>
            <a:r>
              <a:rPr dirty="0"/>
              <a:t>IMPLIED, INCLUDING BUT NOT LIMITED TO THE WARRANTIES OF MERCHANTABILITY,</a:t>
            </a:r>
          </a:p>
          <a:p>
            <a:r>
              <a:rPr dirty="0"/>
              <a:t>FITNESS FOR A PARTICULAR PURPOSE AND NONINFRINGEMENT. IN NO EVENT SHALL THE</a:t>
            </a:r>
          </a:p>
          <a:p>
            <a:r>
              <a:rPr dirty="0"/>
              <a:t>AUTHORS OR COPYRIGHT HOLDERS BE LIABLE FOR ANY CLAIM, DAMAGES OR OTHER</a:t>
            </a:r>
          </a:p>
          <a:p>
            <a:r>
              <a:rPr dirty="0"/>
              <a:t>LIABILITY, WHETHER IN AN ACTION OF CONTRACT, TORT OR OTHERWISE, ARISING FROM,</a:t>
            </a:r>
          </a:p>
          <a:p>
            <a:r>
              <a:rPr dirty="0"/>
              <a:t>OUT OF OR IN CONNECTION WITH THE SOFTWARE OR THE USE OR OTHER DEALINGS IN THE</a:t>
            </a:r>
          </a:p>
          <a:p>
            <a:r>
              <a:rPr dirty="0"/>
              <a:t>SOFTWARE.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[11장 · 15초] </a:t>
            </a:r>
            <a:r>
              <a:rPr dirty="0" err="1"/>
              <a:t>대표</a:t>
            </a:r>
            <a:r>
              <a:rPr dirty="0"/>
              <a:t> </a:t>
            </a:r>
            <a:r>
              <a:rPr dirty="0" err="1"/>
              <a:t>작업</a:t>
            </a:r>
            <a:r>
              <a:rPr dirty="0"/>
              <a:t> </a:t>
            </a:r>
            <a:r>
              <a:rPr dirty="0" err="1"/>
              <a:t>하나에서</a:t>
            </a:r>
            <a:r>
              <a:rPr dirty="0"/>
              <a:t> </a:t>
            </a:r>
            <a:r>
              <a:rPr dirty="0" err="1"/>
              <a:t>관측부터</a:t>
            </a:r>
            <a:r>
              <a:rPr dirty="0"/>
              <a:t> </a:t>
            </a:r>
            <a:r>
              <a:rPr dirty="0" err="1"/>
              <a:t>파라미터</a:t>
            </a:r>
            <a:r>
              <a:rPr dirty="0"/>
              <a:t> </a:t>
            </a:r>
            <a:r>
              <a:rPr dirty="0" err="1"/>
              <a:t>전달까지</a:t>
            </a:r>
            <a:r>
              <a:rPr dirty="0"/>
              <a:t> </a:t>
            </a:r>
            <a:r>
              <a:rPr dirty="0" err="1"/>
              <a:t>공동</a:t>
            </a:r>
            <a:r>
              <a:rPr dirty="0"/>
              <a:t> </a:t>
            </a:r>
            <a:r>
              <a:rPr dirty="0" err="1"/>
              <a:t>실증을</a:t>
            </a:r>
            <a:r>
              <a:rPr dirty="0"/>
              <a:t> </a:t>
            </a:r>
            <a:r>
              <a:rPr dirty="0" err="1"/>
              <a:t>제안합니다</a:t>
            </a:r>
            <a:r>
              <a:rPr dirty="0"/>
              <a:t>. </a:t>
            </a:r>
            <a:r>
              <a:rPr dirty="0" err="1"/>
              <a:t>현장</a:t>
            </a:r>
            <a:r>
              <a:rPr dirty="0"/>
              <a:t> </a:t>
            </a:r>
            <a:r>
              <a:rPr dirty="0" err="1"/>
              <a:t>측과</a:t>
            </a:r>
            <a:r>
              <a:rPr dirty="0"/>
              <a:t> </a:t>
            </a:r>
            <a:r>
              <a:rPr dirty="0" err="1"/>
              <a:t>대상·정답·승인</a:t>
            </a:r>
            <a:r>
              <a:rPr dirty="0"/>
              <a:t> </a:t>
            </a:r>
            <a:r>
              <a:rPr dirty="0" err="1"/>
              <a:t>문서·수신</a:t>
            </a:r>
            <a:r>
              <a:rPr dirty="0"/>
              <a:t> </a:t>
            </a:r>
            <a:r>
              <a:rPr dirty="0" err="1"/>
              <a:t>인터페이스를</a:t>
            </a:r>
            <a:r>
              <a:rPr dirty="0"/>
              <a:t> </a:t>
            </a:r>
            <a:r>
              <a:rPr dirty="0" err="1"/>
              <a:t>확인하고</a:t>
            </a:r>
            <a:r>
              <a:rPr dirty="0"/>
              <a:t>, </a:t>
            </a:r>
            <a:r>
              <a:rPr dirty="0" err="1"/>
              <a:t>팀은</a:t>
            </a:r>
            <a:r>
              <a:rPr dirty="0"/>
              <a:t> </a:t>
            </a:r>
            <a:r>
              <a:rPr dirty="0" err="1"/>
              <a:t>단계별</a:t>
            </a:r>
            <a:r>
              <a:rPr dirty="0"/>
              <a:t> </a:t>
            </a:r>
            <a:r>
              <a:rPr dirty="0" err="1"/>
              <a:t>판단·정보</a:t>
            </a:r>
            <a:r>
              <a:rPr dirty="0"/>
              <a:t> </a:t>
            </a:r>
            <a:r>
              <a:rPr dirty="0" err="1"/>
              <a:t>보완·전달·추적을</a:t>
            </a:r>
            <a:r>
              <a:rPr dirty="0"/>
              <a:t> </a:t>
            </a:r>
            <a:r>
              <a:rPr dirty="0" err="1"/>
              <a:t>통합합니다</a:t>
            </a:r>
            <a:r>
              <a:rPr dirty="0"/>
              <a:t>. </a:t>
            </a:r>
            <a:r>
              <a:rPr dirty="0" err="1"/>
              <a:t>대표</a:t>
            </a:r>
            <a:r>
              <a:rPr dirty="0"/>
              <a:t> </a:t>
            </a:r>
            <a:r>
              <a:rPr dirty="0" err="1"/>
              <a:t>작업에서</a:t>
            </a:r>
            <a:r>
              <a:rPr dirty="0"/>
              <a:t> </a:t>
            </a:r>
            <a:r>
              <a:rPr dirty="0" err="1"/>
              <a:t>올바른</a:t>
            </a:r>
            <a:r>
              <a:rPr dirty="0"/>
              <a:t> </a:t>
            </a:r>
            <a:r>
              <a:rPr dirty="0" err="1"/>
              <a:t>작업</a:t>
            </a:r>
            <a:r>
              <a:rPr dirty="0"/>
              <a:t> </a:t>
            </a:r>
            <a:r>
              <a:rPr dirty="0" err="1"/>
              <a:t>정보를</a:t>
            </a:r>
            <a:r>
              <a:rPr dirty="0"/>
              <a:t> </a:t>
            </a:r>
            <a:r>
              <a:rPr dirty="0" err="1"/>
              <a:t>자동으로</a:t>
            </a:r>
            <a:r>
              <a:rPr dirty="0"/>
              <a:t> </a:t>
            </a:r>
            <a:r>
              <a:rPr dirty="0" err="1"/>
              <a:t>준비하는지</a:t>
            </a:r>
            <a:r>
              <a:rPr dirty="0"/>
              <a:t>, </a:t>
            </a:r>
            <a:r>
              <a:rPr dirty="0" err="1"/>
              <a:t>사람의</a:t>
            </a:r>
            <a:r>
              <a:rPr dirty="0"/>
              <a:t> </a:t>
            </a:r>
            <a:r>
              <a:rPr dirty="0" err="1"/>
              <a:t>개입과</a:t>
            </a:r>
            <a:r>
              <a:rPr dirty="0"/>
              <a:t> </a:t>
            </a:r>
            <a:r>
              <a:rPr dirty="0" err="1"/>
              <a:t>운영</a:t>
            </a:r>
            <a:r>
              <a:rPr dirty="0"/>
              <a:t> </a:t>
            </a:r>
            <a:r>
              <a:rPr dirty="0" err="1"/>
              <a:t>부담을</a:t>
            </a:r>
            <a:r>
              <a:rPr dirty="0"/>
              <a:t> </a:t>
            </a:r>
            <a:r>
              <a:rPr dirty="0" err="1"/>
              <a:t>얼마나</a:t>
            </a:r>
            <a:r>
              <a:rPr dirty="0"/>
              <a:t> </a:t>
            </a:r>
            <a:r>
              <a:rPr dirty="0" err="1"/>
              <a:t>줄일</a:t>
            </a:r>
            <a:r>
              <a:rPr dirty="0"/>
              <a:t> </a:t>
            </a:r>
            <a:r>
              <a:rPr dirty="0" err="1"/>
              <a:t>수</a:t>
            </a:r>
            <a:r>
              <a:rPr dirty="0"/>
              <a:t> </a:t>
            </a:r>
            <a:r>
              <a:rPr dirty="0" err="1"/>
              <a:t>있는지</a:t>
            </a:r>
            <a:r>
              <a:rPr dirty="0"/>
              <a:t> </a:t>
            </a:r>
            <a:r>
              <a:rPr dirty="0" err="1"/>
              <a:t>함께</a:t>
            </a:r>
            <a:r>
              <a:rPr dirty="0"/>
              <a:t> </a:t>
            </a:r>
            <a:r>
              <a:rPr dirty="0" err="1"/>
              <a:t>검증하겠습니다</a:t>
            </a:r>
            <a:r>
              <a:rPr dirty="0"/>
              <a:t>.</a:t>
            </a:r>
          </a:p>
          <a:p>
            <a:r>
              <a:rPr dirty="0"/>
              <a:t>[</a:t>
            </a:r>
            <a:r>
              <a:rPr dirty="0" err="1"/>
              <a:t>구분</a:t>
            </a:r>
            <a:r>
              <a:rPr dirty="0"/>
              <a:t>] </a:t>
            </a:r>
            <a:r>
              <a:rPr dirty="0" err="1"/>
              <a:t>수치</a:t>
            </a:r>
            <a:r>
              <a:rPr dirty="0"/>
              <a:t> </a:t>
            </a:r>
            <a:r>
              <a:rPr dirty="0" err="1"/>
              <a:t>목표는</a:t>
            </a:r>
            <a:r>
              <a:rPr dirty="0"/>
              <a:t> </a:t>
            </a:r>
            <a:r>
              <a:rPr dirty="0" err="1"/>
              <a:t>현장</a:t>
            </a:r>
            <a:r>
              <a:rPr dirty="0"/>
              <a:t> </a:t>
            </a:r>
            <a:r>
              <a:rPr dirty="0" err="1"/>
              <a:t>조건과</a:t>
            </a:r>
            <a:r>
              <a:rPr dirty="0"/>
              <a:t> </a:t>
            </a:r>
            <a:r>
              <a:rPr dirty="0" err="1"/>
              <a:t>함께</a:t>
            </a:r>
            <a:r>
              <a:rPr dirty="0"/>
              <a:t> </a:t>
            </a:r>
            <a:r>
              <a:rPr dirty="0" err="1"/>
              <a:t>정함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별첨</a:t>
            </a:r>
            <a:r>
              <a:rPr dirty="0"/>
              <a:t> </a:t>
            </a:r>
            <a:r>
              <a:rPr dirty="0" err="1"/>
              <a:t>구분</a:t>
            </a:r>
            <a:r>
              <a:rPr dirty="0"/>
              <a:t>. </a:t>
            </a:r>
            <a:r>
              <a:rPr dirty="0" err="1"/>
              <a:t>발화</a:t>
            </a:r>
            <a:r>
              <a:rPr dirty="0"/>
              <a:t> </a:t>
            </a:r>
            <a:r>
              <a:rPr dirty="0" err="1"/>
              <a:t>없음</a:t>
            </a:r>
            <a:r>
              <a:rPr dirty="0"/>
              <a:t>. </a:t>
            </a:r>
            <a:r>
              <a:rPr dirty="0" err="1"/>
              <a:t>질의응답</a:t>
            </a:r>
            <a:r>
              <a:rPr dirty="0"/>
              <a:t> </a:t>
            </a:r>
            <a:r>
              <a:rPr dirty="0" err="1"/>
              <a:t>시</a:t>
            </a:r>
            <a:r>
              <a:rPr dirty="0"/>
              <a:t> A13 </a:t>
            </a:r>
            <a:r>
              <a:rPr dirty="0" err="1"/>
              <a:t>예상</a:t>
            </a:r>
            <a:r>
              <a:rPr dirty="0"/>
              <a:t> </a:t>
            </a:r>
            <a:r>
              <a:rPr dirty="0" err="1"/>
              <a:t>질문</a:t>
            </a:r>
            <a:r>
              <a:rPr dirty="0"/>
              <a:t>, A14 </a:t>
            </a:r>
            <a:r>
              <a:rPr dirty="0" err="1"/>
              <a:t>출처로</a:t>
            </a:r>
            <a:r>
              <a:rPr dirty="0"/>
              <a:t> </a:t>
            </a:r>
            <a:r>
              <a:rPr dirty="0" err="1"/>
              <a:t>이동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본문</a:t>
            </a:r>
            <a:r>
              <a:rPr dirty="0"/>
              <a:t> 2장의 </a:t>
            </a:r>
            <a:r>
              <a:rPr dirty="0" err="1"/>
              <a:t>템플릿</a:t>
            </a:r>
            <a:r>
              <a:rPr dirty="0"/>
              <a:t> 3열 </a:t>
            </a:r>
            <a:r>
              <a:rPr dirty="0" err="1"/>
              <a:t>구조를</a:t>
            </a:r>
            <a:r>
              <a:rPr dirty="0"/>
              <a:t> </a:t>
            </a:r>
            <a:r>
              <a:rPr dirty="0" err="1"/>
              <a:t>전체</a:t>
            </a:r>
            <a:r>
              <a:rPr dirty="0"/>
              <a:t> </a:t>
            </a:r>
            <a:r>
              <a:rPr dirty="0" err="1"/>
              <a:t>그림으로</a:t>
            </a:r>
            <a:r>
              <a:rPr dirty="0"/>
              <a:t> </a:t>
            </a:r>
            <a:r>
              <a:rPr dirty="0" err="1"/>
              <a:t>보여주는</a:t>
            </a:r>
            <a:r>
              <a:rPr dirty="0"/>
              <a:t> </a:t>
            </a:r>
            <a:r>
              <a:rPr dirty="0" err="1"/>
              <a:t>별첨</a:t>
            </a:r>
            <a:r>
              <a:rPr dirty="0"/>
              <a:t>. </a:t>
            </a:r>
            <a:r>
              <a:rPr dirty="0" err="1"/>
              <a:t>질문이</a:t>
            </a:r>
            <a:r>
              <a:rPr dirty="0"/>
              <a:t> </a:t>
            </a:r>
            <a:r>
              <a:rPr dirty="0" err="1"/>
              <a:t>오면</a:t>
            </a:r>
            <a:r>
              <a:rPr dirty="0"/>
              <a:t> </a:t>
            </a:r>
            <a:r>
              <a:rPr dirty="0" err="1"/>
              <a:t>적용</a:t>
            </a:r>
            <a:r>
              <a:rPr dirty="0"/>
              <a:t> </a:t>
            </a:r>
            <a:r>
              <a:rPr dirty="0" err="1"/>
              <a:t>문서</a:t>
            </a:r>
            <a:r>
              <a:rPr dirty="0"/>
              <a:t> </a:t>
            </a:r>
            <a:r>
              <a:rPr dirty="0" err="1"/>
              <a:t>조회의</a:t>
            </a:r>
            <a:r>
              <a:rPr dirty="0"/>
              <a:t> </a:t>
            </a:r>
            <a:r>
              <a:rPr dirty="0" err="1"/>
              <a:t>입력</a:t>
            </a:r>
            <a:r>
              <a:rPr dirty="0"/>
              <a:t>(</a:t>
            </a:r>
            <a:r>
              <a:rPr dirty="0" err="1"/>
              <a:t>작업</a:t>
            </a:r>
            <a:r>
              <a:rPr dirty="0"/>
              <a:t> </a:t>
            </a:r>
            <a:r>
              <a:rPr dirty="0" err="1"/>
              <a:t>등록</a:t>
            </a:r>
            <a:r>
              <a:rPr dirty="0"/>
              <a:t> </a:t>
            </a:r>
            <a:r>
              <a:rPr dirty="0" err="1"/>
              <a:t>정보</a:t>
            </a:r>
            <a:r>
              <a:rPr dirty="0"/>
              <a:t> + </a:t>
            </a:r>
            <a:r>
              <a:rPr dirty="0" err="1"/>
              <a:t>인식</a:t>
            </a:r>
            <a:r>
              <a:rPr dirty="0"/>
              <a:t> </a:t>
            </a:r>
            <a:r>
              <a:rPr dirty="0" err="1"/>
              <a:t>단계</a:t>
            </a:r>
            <a:r>
              <a:rPr dirty="0"/>
              <a:t> </a:t>
            </a:r>
            <a:r>
              <a:rPr dirty="0" err="1"/>
              <a:t>식별자</a:t>
            </a:r>
            <a:r>
              <a:rPr dirty="0"/>
              <a:t> </a:t>
            </a:r>
            <a:r>
              <a:rPr dirty="0" err="1"/>
              <a:t>후보</a:t>
            </a:r>
            <a:r>
              <a:rPr dirty="0"/>
              <a:t>), </a:t>
            </a:r>
            <a:r>
              <a:rPr dirty="0" err="1"/>
              <a:t>RAG가</a:t>
            </a:r>
            <a:r>
              <a:rPr dirty="0"/>
              <a:t> </a:t>
            </a:r>
            <a:r>
              <a:rPr dirty="0" err="1"/>
              <a:t>제공하는</a:t>
            </a:r>
            <a:r>
              <a:rPr dirty="0"/>
              <a:t> </a:t>
            </a:r>
            <a:r>
              <a:rPr dirty="0" err="1"/>
              <a:t>해석</a:t>
            </a:r>
            <a:r>
              <a:rPr dirty="0"/>
              <a:t> </a:t>
            </a:r>
            <a:r>
              <a:rPr dirty="0" err="1"/>
              <a:t>근거·적용</a:t>
            </a:r>
            <a:r>
              <a:rPr dirty="0"/>
              <a:t> </a:t>
            </a:r>
            <a:r>
              <a:rPr dirty="0" err="1"/>
              <a:t>조건</a:t>
            </a:r>
            <a:r>
              <a:rPr dirty="0"/>
              <a:t>, </a:t>
            </a:r>
            <a:r>
              <a:rPr dirty="0" err="1"/>
              <a:t>검수된</a:t>
            </a:r>
            <a:r>
              <a:rPr dirty="0"/>
              <a:t> </a:t>
            </a:r>
            <a:r>
              <a:rPr dirty="0" err="1"/>
              <a:t>조건표의</a:t>
            </a:r>
            <a:r>
              <a:rPr dirty="0"/>
              <a:t> </a:t>
            </a:r>
            <a:r>
              <a:rPr dirty="0" err="1"/>
              <a:t>조건값·단위·출처</a:t>
            </a:r>
            <a:r>
              <a:rPr dirty="0"/>
              <a:t>, </a:t>
            </a:r>
            <a:r>
              <a:rPr dirty="0" err="1"/>
              <a:t>명세</a:t>
            </a:r>
            <a:r>
              <a:rPr dirty="0"/>
              <a:t> </a:t>
            </a:r>
            <a:r>
              <a:rPr dirty="0" err="1"/>
              <a:t>검증</a:t>
            </a:r>
            <a:r>
              <a:rPr dirty="0"/>
              <a:t> </a:t>
            </a:r>
            <a:r>
              <a:rPr dirty="0" err="1"/>
              <a:t>통과</a:t>
            </a:r>
            <a:r>
              <a:rPr dirty="0"/>
              <a:t> </a:t>
            </a:r>
            <a:r>
              <a:rPr dirty="0" err="1"/>
              <a:t>후</a:t>
            </a:r>
            <a:r>
              <a:rPr dirty="0"/>
              <a:t> </a:t>
            </a:r>
            <a:r>
              <a:rPr dirty="0" err="1"/>
              <a:t>좌표·설비</a:t>
            </a:r>
            <a:r>
              <a:rPr dirty="0"/>
              <a:t> </a:t>
            </a:r>
            <a:r>
              <a:rPr dirty="0" err="1"/>
              <a:t>정보</a:t>
            </a:r>
            <a:r>
              <a:rPr dirty="0"/>
              <a:t> </a:t>
            </a:r>
            <a:r>
              <a:rPr dirty="0" err="1"/>
              <a:t>결합</a:t>
            </a:r>
            <a:r>
              <a:rPr dirty="0"/>
              <a:t> → </a:t>
            </a:r>
            <a:r>
              <a:rPr dirty="0" err="1"/>
              <a:t>제조사별</a:t>
            </a:r>
            <a:r>
              <a:rPr dirty="0"/>
              <a:t> </a:t>
            </a:r>
            <a:r>
              <a:rPr dirty="0" err="1"/>
              <a:t>변환</a:t>
            </a:r>
            <a:r>
              <a:rPr dirty="0"/>
              <a:t>, </a:t>
            </a:r>
            <a:r>
              <a:rPr dirty="0" err="1"/>
              <a:t>필수</a:t>
            </a:r>
            <a:r>
              <a:rPr dirty="0"/>
              <a:t> </a:t>
            </a:r>
            <a:r>
              <a:rPr dirty="0" err="1"/>
              <a:t>파라미터·수신</a:t>
            </a:r>
            <a:r>
              <a:rPr dirty="0"/>
              <a:t> </a:t>
            </a:r>
            <a:r>
              <a:rPr dirty="0" err="1"/>
              <a:t>규격</a:t>
            </a:r>
            <a:r>
              <a:rPr dirty="0"/>
              <a:t> </a:t>
            </a:r>
            <a:r>
              <a:rPr dirty="0" err="1"/>
              <a:t>확인</a:t>
            </a:r>
            <a:r>
              <a:rPr dirty="0"/>
              <a:t> </a:t>
            </a:r>
            <a:r>
              <a:rPr dirty="0" err="1"/>
              <a:t>후</a:t>
            </a:r>
            <a:r>
              <a:rPr dirty="0"/>
              <a:t> </a:t>
            </a:r>
            <a:r>
              <a:rPr dirty="0" err="1"/>
              <a:t>전송</a:t>
            </a:r>
            <a:r>
              <a:rPr dirty="0"/>
              <a:t>(</a:t>
            </a:r>
            <a:r>
              <a:rPr dirty="0" err="1"/>
              <a:t>미충족</a:t>
            </a:r>
            <a:r>
              <a:rPr dirty="0"/>
              <a:t> </a:t>
            </a:r>
            <a:r>
              <a:rPr dirty="0" err="1"/>
              <a:t>시</a:t>
            </a:r>
            <a:r>
              <a:rPr dirty="0"/>
              <a:t> </a:t>
            </a:r>
            <a:r>
              <a:rPr dirty="0" err="1"/>
              <a:t>보완·보류</a:t>
            </a:r>
            <a:r>
              <a:rPr dirty="0"/>
              <a:t>)</a:t>
            </a:r>
            <a:r>
              <a:rPr dirty="0" err="1"/>
              <a:t>을</a:t>
            </a:r>
            <a:r>
              <a:rPr dirty="0"/>
              <a:t> </a:t>
            </a:r>
            <a:r>
              <a:rPr dirty="0" err="1"/>
              <a:t>짚는다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FF6D3-D6B5-13AD-EE40-5091D1D52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BCF455-9350-E285-074A-A2A9174E5B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447E7B-C562-1973-45A1-678E960D64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본문 2장의 템플릿 3열 구조를 전체 그림으로 보여주는 별첨. 질문이 오면 적용 문서 조회의 입력(작업 등록 정보 + 인식 단계 식별자 후보), RAG가 제공하는 해석 근거·적용 조건, 검수된 조건표의 조건값·단위·출처, 명세 검증 통과 후 좌표·설비 정보 결합 → 제조사별 변환, 필수 파라미터·수신 규격 확인 후 전송(미충족 시 보완·보류)을 짚는다.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21BD33-7571-3F19-6DEF-BD3C00B367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6299881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질문 '어디에 AI를 쓰나'에 대한 답. 모델 교체 시 검증·전달 로직이 바뀌지 않는다는 점을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문서를 프롬프트 설명문이 아니라 검증 가능한 제약으로 쓴다는 설계. 문서 맥락이 관계 해석을 바꾸는지는 E1-R(미실행).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질문 '실제 장비와 인터페이스는 어디에 연결되는가'의 답. 공통 명세 → 어댑터 → 로봇 프로그램/등록 작업 선택.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검증 영상.mp4(Foxglove 수신 화면)는 별도 영상 파일로 발표 PC에서 재생 여부 확인.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RAG라는 단어보다 '범위 제한 검색 + 원문 위치 보존'으로 설명. 정답 목록 제공과 구분.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질문 '자동 복구 시 어느 단계로 복귀하는가'의 답. 관측 부족은 입력, 모호·충돌은 관계 해석.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통합 대시보드와 구분. 이 HTML은 실행 기록의 조회 화면이며 대시보드 설계의 일부 항목을 확인한 자료.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질문 '실제로 검증한 범위'의 한 장 답. 각 행의 태그와 범위를 같이 읽는다.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새로 사용한 공개 철골 사진 8장에 세 판정 규칙을 적용했다. OCR 단독은 2·5·1, VLM 단독은 2·2·4, 합의는 0·0·8(올바른 ID 확정·잘못된 ID 확정·보류)이다. 각 모델의 정답 사진은 서로 다르며, 합의의 자동 확정은 0건이다. 두 판독 문자열에 정답이 포함된 4장도 자동 해결 건수로 세지 않는다. 참고로 기존 저장 출력의 단일 코드 7장에서는 같은 오답의 합의로 잘못된 ID 2건을 확정했다. 이번 새 8장과 합산하지 않는다.</a:t>
            </a:r>
          </a:p>
          <a:p>
            <a:r>
              <a:t>출처: output/reports/PV2_EXPERIMENT_RESULTS_2026-10-10.md, 2·3·5·6절.</a:t>
            </a:r>
          </a:p>
          <a:p>
            <a:r>
              <a:t>데이터: https://huggingface.co/datasets/iput-tk230215/steel-ocr-dataset-960</a:t>
            </a:r>
          </a:p>
          <a:p>
            <a:r>
              <a:t>모델: https://huggingface.co/PaddlePaddle/PP-OCRv6_medium_det , https://huggingface.co/PaddlePaddle/PP-OCRv6_medium_rec , https://huggingface.co/Qwen/Qwen3-VL-8B-Instruct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사례 A 멘트: OCR은 높은 점수를 냈지만 두 글자를 다르게 읽었습니다. 이미지 모델은 다른 문자열을 읽었고, 시스템은 이 차이를 숨기지 않고 확인 대상으로 남겼습니다. / 사례 B 멘트: 두 판독기가 서로 다르게 읽는다고 해서 한쪽이 반드시 맞는 것은 아닙니다. 비교의 목적은 차이를 드러내고 검토 대상으로 넘기는 데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질문 '다음 실증 조건'의 답. 미실행 항목에 수치를 넣지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수치를 요구받으면 '산정 항목과 식은 정했고 값은 현장 데이터로 채운다'로 답한다.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답변은 모두 현재 상태 기준. 수치 요구 시 A12 산정 항목으로.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각 본문 각주의 E 번호는 이 표로 연결.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E21·E22은 이번 세션에서 EVIDENCE.md에 추가.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질문 '데이터는 어디서'에 대한 답. 현장 데이터는 아직 확보하지 않았다.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의미 해석 정확도 질문의 답: 미측정. 현재는 문서 처리와 추적 흐름 시연.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질문 '코드는 어디서 볼 수 있나'의 답. README 첫 문단과 '현재 단계' 문단을 요약. 개발 브랜치 dev 9451321 기준. 실행 방법: PYTHONPATH=src python3 -m contextweld data/examples/part-order-scene.json --case normal (사진 판독이 아니라 후보·가상 작업지시 연결 예제).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README 디렉토리 구조와 문서 표를 요약. 기존 기획과 충돌하면 데모 스펙이 우선한다는 README 원칙을 언급.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90FB5A6-1389-4F6D-A8CC-3D40AD835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3238500"/>
            <a:ext cx="12192000" cy="12382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85BCFEAE-325D-4363-891C-1F36EC088F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4714875"/>
            <a:ext cx="10668000" cy="9525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BB38CCFA-625B-4EB8-985F-D1BA39615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3571875"/>
            <a:ext cx="12192000" cy="1428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548909E7-D017-406F-B88A-35EFC8CB3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666750"/>
            <a:ext cx="13525500" cy="1047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9175D3D2-C2D8-4C55-9737-8A1A2553F6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7250" y="2381250"/>
            <a:ext cx="13525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32B56164-0D6C-4DAE-927C-C43F9A126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666750"/>
            <a:ext cx="13525500" cy="1047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30FD189C-CBA5-41E8-8A1F-10C7A3AC1A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7250" y="2381250"/>
            <a:ext cx="6286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65653F5B-B8B7-453F-9859-319A0EBFDEA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096250" y="2381250"/>
            <a:ext cx="6286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D40562E1-D4C4-451B-9099-8F97FCC78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666750"/>
            <a:ext cx="13525500" cy="1047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784579DE-882A-4BBA-A8AB-CA3E90CADA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7250" y="2381250"/>
            <a:ext cx="6286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0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_1">
            <a:extLst>
              <a:ext uri="{FF2B5EF4-FFF2-40B4-BE49-F238E27FC236}">
                <a16:creationId xmlns:a16="http://schemas.microsoft.com/office/drawing/2014/main" id="{B7683462-DFEF-46EF-8938-FD94AA4346A8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002554"/>
          </a:solidFill>
          <a:ln w="0">
            <a:noFill/>
          </a:ln>
        </p:spPr>
        <p:txBody>
          <a:bodyPr/>
          <a:lstStyle/>
          <a:p>
            <a:endParaRPr lang="ko-Kore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06 전략 전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_1">
            <a:extLst>
              <a:ext uri="{FF2B5EF4-FFF2-40B4-BE49-F238E27FC236}">
                <a16:creationId xmlns:a16="http://schemas.microsoft.com/office/drawing/2014/main" id="{345E57EE-B507-4BA8-9A66-F6CEF5685175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685800" y="2686050"/>
            <a:ext cx="6591300" cy="2762250"/>
          </a:xfrm>
          <a:prstGeom prst="rect">
            <a:avLst/>
          </a:prstGeom>
          <a:solidFill>
            <a:srgbClr val="DCE7F2"/>
          </a:solidFill>
          <a:ln w="0">
            <a:noFill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" name="placeholder_2">
            <a:extLst>
              <a:ext uri="{FF2B5EF4-FFF2-40B4-BE49-F238E27FC236}">
                <a16:creationId xmlns:a16="http://schemas.microsoft.com/office/drawing/2014/main" id="{B282475A-B181-446F-9668-0DECC3A9E7F5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7962900" y="2686050"/>
            <a:ext cx="6591300" cy="2762250"/>
          </a:xfrm>
          <a:prstGeom prst="rect">
            <a:avLst/>
          </a:prstGeom>
          <a:solidFill>
            <a:srgbClr val="E2EEE6"/>
          </a:solidFill>
          <a:ln w="0">
            <a:noFill/>
          </a:ln>
        </p:spPr>
        <p:txBody>
          <a:bodyPr/>
          <a:lstStyle/>
          <a:p>
            <a:endParaRPr lang="ko-Kore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4 마무리 메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_1">
            <a:extLst>
              <a:ext uri="{FF2B5EF4-FFF2-40B4-BE49-F238E27FC236}">
                <a16:creationId xmlns:a16="http://schemas.microsoft.com/office/drawing/2014/main" id="{8608DCDB-74A9-424B-8645-741576873BFC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002554"/>
          </a:solidFill>
          <a:ln w="0">
            <a:noFill/>
          </a:ln>
        </p:spPr>
        <p:txBody>
          <a:bodyPr/>
          <a:lstStyle/>
          <a:p>
            <a:endParaRPr lang="ko-Kore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2 적용 사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_1">
            <a:extLst>
              <a:ext uri="{FF2B5EF4-FFF2-40B4-BE49-F238E27FC236}">
                <a16:creationId xmlns:a16="http://schemas.microsoft.com/office/drawing/2014/main" id="{B4C4FBC1-E150-4ACB-8A5A-165AF475F9E4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685800" y="2324100"/>
            <a:ext cx="8096250" cy="4286250"/>
          </a:xfrm>
          <a:prstGeom prst="rect">
            <a:avLst/>
          </a:prstGeom>
          <a:solidFill>
            <a:srgbClr val="E6EDF3"/>
          </a:solidFill>
          <a:ln w="0">
            <a:noFill/>
          </a:ln>
        </p:spPr>
        <p:txBody>
          <a:bodyPr/>
          <a:lstStyle/>
          <a:p>
            <a:endParaRPr lang="ko-Kore-KR" altLang="en-US"/>
          </a:p>
        </p:txBody>
      </p:sp>
    </p:spTree>
    <p:extLst>
      <p:ext uri="{BB962C8B-B14F-4D97-AF65-F5344CB8AC3E}">
        <p14:creationId xmlns:p14="http://schemas.microsoft.com/office/powerpoint/2010/main" val="3983066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04 사진과 사업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_1">
            <a:extLst>
              <a:ext uri="{FF2B5EF4-FFF2-40B4-BE49-F238E27FC236}">
                <a16:creationId xmlns:a16="http://schemas.microsoft.com/office/drawing/2014/main" id="{9EB0F854-6485-4016-B641-AE7293DAB282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685800" y="2657475"/>
            <a:ext cx="5695950" cy="4257675"/>
          </a:xfrm>
          <a:prstGeom prst="rect">
            <a:avLst/>
          </a:prstGeom>
          <a:solidFill>
            <a:srgbClr val="EAF0F5"/>
          </a:solidFill>
          <a:ln w="0">
            <a:noFill/>
          </a:ln>
        </p:spPr>
        <p:txBody>
          <a:bodyPr/>
          <a:lstStyle/>
          <a:p>
            <a:endParaRPr lang="ko-Kore-KR" altLang="en-US"/>
          </a:p>
        </p:txBody>
      </p:sp>
    </p:spTree>
    <p:extLst>
      <p:ext uri="{BB962C8B-B14F-4D97-AF65-F5344CB8AC3E}">
        <p14:creationId xmlns:p14="http://schemas.microsoft.com/office/powerpoint/2010/main" val="2568670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7" r:id="rId8"/>
    <p:sldLayoutId id="2147483659" r:id="rId9"/>
    <p:sldLayoutId id="2147483660" r:id="rId10"/>
    <p:sldLayoutId id="2147483661" r:id="rId1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3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jpg"/><Relationship Id="rId5" Type="http://schemas.openxmlformats.org/officeDocument/2006/relationships/image" Target="../media/image21.jpg"/><Relationship Id="rId4" Type="http://schemas.openxmlformats.org/officeDocument/2006/relationships/image" Target="../media/image8.jp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8.jp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TWI%20&#183;%20https:/www.twi-global.com/technical-knowledge/job-knowledge/weld-symbols" TargetMode="External"/><Relationship Id="rId7" Type="http://schemas.openxmlformats.org/officeDocument/2006/relationships/hyperlink" Target="https://ainnov.co.kr/pac2026%20&#183;%20https:/ainnov.co.kr/public/assets/download/pac/pac2026_hd-hyundai-robotics_mission_3.pdf%20&#183;%20https:/support.microsoft.com/en-gb/office/fonts/benefits-of-embedding-custom-fonts" TargetMode="Externa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Relationship Id="rId6" Type="http://schemas.openxmlformats.org/officeDocument/2006/relationships/hyperlink" Target="Hyundai%20Robotics%20&#4352;&#4457;&#4540;&#4361;&#4469;&#4520;%20GitHub%20&#183;%20https:/github.com/hyundai-robotics/doc-arc-weld/blob/ko/2_Command/5_arccond.md" TargetMode="External"/><Relationship Id="rId5" Type="http://schemas.openxmlformats.org/officeDocument/2006/relationships/hyperlink" Target="LANL%20Engineering%20Standards%20&#183;%20https:/engstandards.lanl.gov/esm/welding/vol4/4-01-Att-1-R1.pdf" TargetMode="External"/><Relationship Id="rId4" Type="http://schemas.openxmlformats.org/officeDocument/2006/relationships/hyperlink" Target="LANL%20Engineering%20Standards%20&#183;%20https:/engstandards.lanl.gov/esm/welding/welding_specs/3501-xxxx-1.pdf" TargetMode="Externa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ukkhnn/PAC2026" TargetMode="Externa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ukkhnn/PAC2026" TargetMode="Externa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oto-backing-1">
            <a:extLst>
              <a:ext uri="{FF2B5EF4-FFF2-40B4-BE49-F238E27FC236}">
                <a16:creationId xmlns:a16="http://schemas.microsoft.com/office/drawing/2014/main" id="{8D56EBCE-3979-49AC-9CFA-47A4F9C2691D}"/>
              </a:ext>
            </a:extLst>
          </p:cNvPr>
          <p:cNvSpPr>
            <a:spLocks noGrp="1"/>
          </p:cNvSpPr>
          <p:nvPr/>
        </p:nvSpPr>
        <p:spPr>
          <a:xfrm>
            <a:off x="0" y="-149214"/>
            <a:ext cx="15240000" cy="8572500"/>
          </a:xfrm>
          <a:prstGeom prst="rect">
            <a:avLst/>
          </a:prstGeom>
          <a:solidFill>
            <a:srgbClr val="002554"/>
          </a:solidFill>
          <a:ln w="0">
            <a:noFill/>
            <a:prstDash val="solid"/>
          </a:ln>
        </p:spPr>
        <p:txBody>
          <a:bodyPr/>
          <a:lstStyle/>
          <a:p>
            <a:endParaRPr lang="ko-Kore-KR" altLang="en-US" dirty="0"/>
          </a:p>
        </p:txBody>
      </p:sp>
      <p:pic>
        <p:nvPicPr>
          <p:cNvPr id="22" name="Picture 21" descr="shipyard-live-03-A-overview.jpg"/>
          <p:cNvPicPr>
            <a:picLocks noChangeAspect="1"/>
          </p:cNvPicPr>
          <p:nvPr/>
        </p:nvPicPr>
        <p:blipFill>
          <a:blip r:embed="rId3"/>
          <a:srcRect l="22356" r="22356"/>
          <a:stretch>
            <a:fillRect/>
          </a:stretch>
        </p:blipFill>
        <p:spPr>
          <a:xfrm>
            <a:off x="6729015" y="-149214"/>
            <a:ext cx="8425860" cy="8572500"/>
          </a:xfrm>
          <a:prstGeom prst="rect">
            <a:avLst/>
          </a:prstGeom>
        </p:spPr>
      </p:pic>
      <p:sp>
        <p:nvSpPr>
          <p:cNvPr id="4" name="geometric-layout-2">
            <a:extLst>
              <a:ext uri="{FF2B5EF4-FFF2-40B4-BE49-F238E27FC236}">
                <a16:creationId xmlns:a16="http://schemas.microsoft.com/office/drawing/2014/main" id="{94791DEC-1939-4C7F-BD27-8CBB45C4DD95}"/>
              </a:ext>
            </a:extLst>
          </p:cNvPr>
          <p:cNvSpPr>
            <a:spLocks noGrp="1"/>
          </p:cNvSpPr>
          <p:nvPr/>
        </p:nvSpPr>
        <p:spPr>
          <a:xfrm>
            <a:off x="284550" y="-542925"/>
            <a:ext cx="11239500" cy="8572500"/>
          </a:xfrm>
          <a:custGeom>
            <a:avLst/>
            <a:gdLst/>
            <a:ahLst/>
            <a:cxnLst/>
            <a:rect l="0" t="0" r="0" b="0"/>
            <a:pathLst>
              <a:path w="11239500" h="8572500">
                <a:moveTo>
                  <a:pt x="0" y="0"/>
                </a:moveTo>
                <a:lnTo>
                  <a:pt x="11239500" y="0"/>
                </a:lnTo>
                <a:lnTo>
                  <a:pt x="6286500" y="8572500"/>
                </a:lnTo>
                <a:lnTo>
                  <a:pt x="0" y="85725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ore-KR" altLang="en-US" dirty="0"/>
          </a:p>
        </p:txBody>
      </p:sp>
      <p:sp>
        <p:nvSpPr>
          <p:cNvPr id="5" name="geometric-layout-3">
            <a:extLst>
              <a:ext uri="{FF2B5EF4-FFF2-40B4-BE49-F238E27FC236}">
                <a16:creationId xmlns:a16="http://schemas.microsoft.com/office/drawing/2014/main" id="{67D5663A-EEAD-468A-AEB0-1842ABBDA811}"/>
              </a:ext>
            </a:extLst>
          </p:cNvPr>
          <p:cNvSpPr>
            <a:spLocks noGrp="1"/>
          </p:cNvSpPr>
          <p:nvPr/>
        </p:nvSpPr>
        <p:spPr>
          <a:xfrm>
            <a:off x="10191750" y="0"/>
            <a:ext cx="5048250" cy="8572500"/>
          </a:xfrm>
          <a:custGeom>
            <a:avLst/>
            <a:gdLst/>
            <a:ahLst/>
            <a:cxnLst/>
            <a:rect l="0" t="0" r="0" b="0"/>
            <a:pathLst>
              <a:path w="5048250" h="8572500">
                <a:moveTo>
                  <a:pt x="0" y="8572500"/>
                </a:moveTo>
                <a:lnTo>
                  <a:pt x="5048250" y="0"/>
                </a:lnTo>
                <a:lnTo>
                  <a:pt x="5048250" y="8572500"/>
                </a:lnTo>
                <a:close/>
              </a:path>
            </a:pathLst>
          </a:custGeom>
          <a:solidFill>
            <a:srgbClr val="00843D"/>
          </a:solidFill>
          <a:ln w="0">
            <a:noFill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6" name="geometric-layout-4">
            <a:extLst>
              <a:ext uri="{FF2B5EF4-FFF2-40B4-BE49-F238E27FC236}">
                <a16:creationId xmlns:a16="http://schemas.microsoft.com/office/drawing/2014/main" id="{A9C03447-2BB9-41FD-91EC-7E26F1E84B9F}"/>
              </a:ext>
            </a:extLst>
          </p:cNvPr>
          <p:cNvSpPr>
            <a:spLocks noGrp="1"/>
          </p:cNvSpPr>
          <p:nvPr/>
        </p:nvSpPr>
        <p:spPr>
          <a:xfrm>
            <a:off x="9591675" y="0"/>
            <a:ext cx="5362575" cy="8572500"/>
          </a:xfrm>
          <a:custGeom>
            <a:avLst/>
            <a:gdLst/>
            <a:ahLst/>
            <a:cxnLst/>
            <a:rect l="0" t="0" r="0" b="0"/>
            <a:pathLst>
              <a:path w="5362575" h="8572500">
                <a:moveTo>
                  <a:pt x="5048250" y="0"/>
                </a:moveTo>
                <a:lnTo>
                  <a:pt x="5362575" y="0"/>
                </a:lnTo>
                <a:lnTo>
                  <a:pt x="314325" y="8572500"/>
                </a:lnTo>
                <a:lnTo>
                  <a:pt x="0" y="85725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7" name="text-5">
            <a:extLst>
              <a:ext uri="{FF2B5EF4-FFF2-40B4-BE49-F238E27FC236}">
                <a16:creationId xmlns:a16="http://schemas.microsoft.com/office/drawing/2014/main" id="{6BE820AF-9B28-4962-9022-30A911C90864}"/>
              </a:ext>
            </a:extLst>
          </p:cNvPr>
          <p:cNvSpPr>
            <a:spLocks noGrp="1"/>
          </p:cNvSpPr>
          <p:nvPr/>
        </p:nvSpPr>
        <p:spPr>
          <a:xfrm>
            <a:off x="781050" y="542925"/>
            <a:ext cx="66675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1875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rPr>
              <a:t>ContextWeld</a:t>
            </a:r>
          </a:p>
        </p:txBody>
      </p:sp>
      <p:sp>
        <p:nvSpPr>
          <p:cNvPr id="8" name="text-6">
            <a:extLst>
              <a:ext uri="{FF2B5EF4-FFF2-40B4-BE49-F238E27FC236}">
                <a16:creationId xmlns:a16="http://schemas.microsoft.com/office/drawing/2014/main" id="{268D5159-7773-4807-9CAF-D45749EE478C}"/>
              </a:ext>
            </a:extLst>
          </p:cNvPr>
          <p:cNvSpPr>
            <a:spLocks noGrp="1"/>
          </p:cNvSpPr>
          <p:nvPr/>
        </p:nvSpPr>
        <p:spPr>
          <a:xfrm>
            <a:off x="742949" y="2381250"/>
            <a:ext cx="8425859" cy="2076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6600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6600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600" b="1" dirty="0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rPr>
              <a:t>용접 작업 준비의</a:t>
            </a:r>
          </a:p>
          <a:p>
            <a:pPr algn="l">
              <a:buNone/>
              <a:defRPr sz="6600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600" b="1" dirty="0" err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rPr>
              <a:t>자동화</a:t>
            </a:r>
            <a:r>
              <a:rPr lang="ko-KR" altLang="en-US" sz="6600" b="1" dirty="0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en-US" altLang="ko-KR" sz="6600" b="1" dirty="0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rPr>
              <a:t>: </a:t>
            </a:r>
            <a:r>
              <a:rPr lang="en-US" altLang="ko-KR" sz="6600" b="1" dirty="0" err="1">
                <a:solidFill>
                  <a:schemeClr val="tx2">
                    <a:lumMod val="50000"/>
                    <a:lumOff val="50000"/>
                  </a:schemeClr>
                </a:solidFill>
                <a:latin typeface="Apple SD Gothic Neo"/>
                <a:ea typeface="Apple SD Gothic Neo"/>
                <a:cs typeface="Apple SD Gothic Neo"/>
              </a:rPr>
              <a:t>ContextWeld</a:t>
            </a:r>
            <a:endParaRPr sz="6600" b="1" dirty="0">
              <a:solidFill>
                <a:schemeClr val="tx2">
                  <a:lumMod val="50000"/>
                  <a:lumOff val="50000"/>
                </a:schemeClr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9" name="text-7">
            <a:extLst>
              <a:ext uri="{FF2B5EF4-FFF2-40B4-BE49-F238E27FC236}">
                <a16:creationId xmlns:a16="http://schemas.microsoft.com/office/drawing/2014/main" id="{AF9A485D-98DD-4ABB-85DA-15138EFEDDF5}"/>
              </a:ext>
            </a:extLst>
          </p:cNvPr>
          <p:cNvSpPr>
            <a:spLocks noGrp="1"/>
          </p:cNvSpPr>
          <p:nvPr/>
        </p:nvSpPr>
        <p:spPr>
          <a:xfrm>
            <a:off x="790575" y="4810125"/>
            <a:ext cx="6810375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550" b="1">
                <a:solidFill>
                  <a:srgbClr val="202F42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2550" b="1">
                <a:solidFill>
                  <a:srgbClr val="202F4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 dirty="0" err="1">
                <a:solidFill>
                  <a:srgbClr val="202F42"/>
                </a:solidFill>
                <a:latin typeface="Apple SD Gothic Neo"/>
                <a:ea typeface="Apple SD Gothic Neo"/>
                <a:cs typeface="Apple SD Gothic Neo"/>
              </a:rPr>
              <a:t>현장 표기에서 로봇에 전달할 작업 정보까지</a:t>
            </a:r>
            <a:endParaRPr sz="2550" b="1" dirty="0">
              <a:solidFill>
                <a:srgbClr val="202F42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0" name="rule-8">
            <a:extLst>
              <a:ext uri="{FF2B5EF4-FFF2-40B4-BE49-F238E27FC236}">
                <a16:creationId xmlns:a16="http://schemas.microsoft.com/office/drawing/2014/main" id="{23B7F06E-3811-4AD7-8211-2ED086903BF8}"/>
              </a:ext>
            </a:extLst>
          </p:cNvPr>
          <p:cNvSpPr>
            <a:spLocks noGrp="1"/>
          </p:cNvSpPr>
          <p:nvPr/>
        </p:nvSpPr>
        <p:spPr>
          <a:xfrm>
            <a:off x="790575" y="6076950"/>
            <a:ext cx="4476750" cy="95"/>
          </a:xfrm>
          <a:prstGeom prst="line">
            <a:avLst/>
          </a:prstGeom>
          <a:noFill/>
          <a:ln w="19050">
            <a:solidFill>
              <a:srgbClr val="00843D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1" name="text-9">
            <a:extLst>
              <a:ext uri="{FF2B5EF4-FFF2-40B4-BE49-F238E27FC236}">
                <a16:creationId xmlns:a16="http://schemas.microsoft.com/office/drawing/2014/main" id="{AF71007F-9C18-41AA-8823-97D2A6A9F17F}"/>
              </a:ext>
            </a:extLst>
          </p:cNvPr>
          <p:cNvSpPr>
            <a:spLocks noGrp="1"/>
          </p:cNvSpPr>
          <p:nvPr/>
        </p:nvSpPr>
        <p:spPr>
          <a:xfrm>
            <a:off x="790575" y="6419850"/>
            <a:ext cx="59055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950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1950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00" b="0" dirty="0" err="1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rPr>
              <a:t>Static Duo · HD현대로보틱스 과제 3</a:t>
            </a:r>
            <a:endParaRPr sz="1950" b="0" dirty="0">
              <a:solidFill>
                <a:srgbClr val="52647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2" name="text-10">
            <a:extLst>
              <a:ext uri="{FF2B5EF4-FFF2-40B4-BE49-F238E27FC236}">
                <a16:creationId xmlns:a16="http://schemas.microsoft.com/office/drawing/2014/main" id="{C873FDB9-624C-42F8-93F1-64FC8FFAF6D2}"/>
              </a:ext>
            </a:extLst>
          </p:cNvPr>
          <p:cNvSpPr>
            <a:spLocks noGrp="1"/>
          </p:cNvSpPr>
          <p:nvPr/>
        </p:nvSpPr>
        <p:spPr>
          <a:xfrm>
            <a:off x="790575" y="7667625"/>
            <a:ext cx="523875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650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1650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rPr>
              <a:t>2026. 10</a:t>
            </a:r>
          </a:p>
        </p:txBody>
      </p:sp>
      <p:sp>
        <p:nvSpPr>
          <p:cNvPr id="13" name="text-11">
            <a:extLst>
              <a:ext uri="{FF2B5EF4-FFF2-40B4-BE49-F238E27FC236}">
                <a16:creationId xmlns:a16="http://schemas.microsoft.com/office/drawing/2014/main" id="{78B05AD7-DC28-4C34-B923-644D997D486C}"/>
              </a:ext>
            </a:extLst>
          </p:cNvPr>
          <p:cNvSpPr>
            <a:spLocks noGrp="1"/>
          </p:cNvSpPr>
          <p:nvPr/>
        </p:nvSpPr>
        <p:spPr>
          <a:xfrm>
            <a:off x="11419367" y="7000875"/>
            <a:ext cx="2972908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5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r">
              <a:buNone/>
              <a:defRPr sz="5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en-US" sz="51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PAC 2026</a:t>
            </a:r>
            <a:endParaRPr sz="5100" b="1" dirty="0">
              <a:solidFill>
                <a:srgbClr val="FFFFFF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84000" y="7722000"/>
            <a:ext cx="138708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50" b="0">
                <a:solidFill>
                  <a:srgbClr val="687584"/>
                </a:solidFill>
                <a:latin typeface="Apple SD Gothic Neo"/>
                <a:ea typeface="Apple SD Gothic Neo"/>
              </a:rPr>
              <a:t>시뮬레이션 장면(Isaac Sim, 프로젝트 렌더링) · 과제 요구 E11 · 출처 별첨 A14</a:t>
            </a:r>
          </a:p>
        </p:txBody>
      </p:sp>
      <p:sp>
        <p:nvSpPr>
          <p:cNvPr id="14" name="text-418">
            <a:extLst>
              <a:ext uri="{FF2B5EF4-FFF2-40B4-BE49-F238E27FC236}">
                <a16:creationId xmlns:a16="http://schemas.microsoft.com/office/drawing/2014/main" id="{A49B44A0-016A-EBFB-E288-14BD3B9B21E7}"/>
              </a:ext>
            </a:extLst>
          </p:cNvPr>
          <p:cNvSpPr>
            <a:spLocks noGrp="1"/>
          </p:cNvSpPr>
          <p:nvPr/>
        </p:nvSpPr>
        <p:spPr>
          <a:xfrm>
            <a:off x="742949" y="6988164"/>
            <a:ext cx="718185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defRPr sz="18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altLang="en-US" sz="1875" b="1" dirty="0" err="1">
                <a:solidFill>
                  <a:schemeClr val="bg2">
                    <a:lumMod val="50000"/>
                  </a:schemeClr>
                </a:solidFill>
                <a:latin typeface="Apple SD Gothic Neo"/>
                <a:ea typeface="Apple SD Gothic Neo"/>
                <a:cs typeface="Apple SD Gothic Neo"/>
              </a:rPr>
              <a:t>스태틱</a:t>
            </a:r>
            <a:r>
              <a:rPr lang="ko-KR" altLang="en-US" sz="1875" b="1" dirty="0">
                <a:solidFill>
                  <a:schemeClr val="bg2">
                    <a:lumMod val="50000"/>
                  </a:schemeClr>
                </a:solidFill>
                <a:latin typeface="Apple SD Gothic Neo"/>
                <a:ea typeface="Apple SD Gothic Neo"/>
                <a:cs typeface="Apple SD Gothic Neo"/>
              </a:rPr>
              <a:t> 듀오 </a:t>
            </a:r>
            <a:r>
              <a:rPr lang="en-US" altLang="ko-KR" sz="1875" b="1" dirty="0">
                <a:solidFill>
                  <a:schemeClr val="bg2">
                    <a:lumMod val="50000"/>
                  </a:schemeClr>
                </a:solidFill>
                <a:latin typeface="Apple SD Gothic Neo"/>
                <a:ea typeface="Apple SD Gothic Neo"/>
                <a:cs typeface="Apple SD Gothic Neo"/>
              </a:rPr>
              <a:t>/</a:t>
            </a:r>
            <a:r>
              <a:rPr lang="ko-KR" altLang="en-US" sz="1875" b="1" dirty="0">
                <a:solidFill>
                  <a:schemeClr val="bg2">
                    <a:lumMod val="50000"/>
                  </a:schemeClr>
                </a:solidFill>
                <a:latin typeface="Apple SD Gothic Neo"/>
                <a:ea typeface="Apple SD Gothic Neo"/>
                <a:cs typeface="Apple SD Gothic Neo"/>
              </a:rPr>
              <a:t> 서비스 기획 </a:t>
            </a:r>
            <a:r>
              <a:rPr lang="en-US" altLang="ko-KR" sz="1875" b="1" dirty="0">
                <a:solidFill>
                  <a:schemeClr val="bg2">
                    <a:lumMod val="50000"/>
                  </a:schemeClr>
                </a:solidFill>
                <a:latin typeface="Apple SD Gothic Neo"/>
                <a:ea typeface="Apple SD Gothic Neo"/>
                <a:cs typeface="Apple SD Gothic Neo"/>
              </a:rPr>
              <a:t>:</a:t>
            </a:r>
            <a:r>
              <a:rPr lang="ko-KR" altLang="en-US" sz="1875" b="1" dirty="0">
                <a:solidFill>
                  <a:schemeClr val="bg2">
                    <a:lumMod val="50000"/>
                  </a:schemeClr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ko-KR" altLang="en-US" sz="1875" b="1" dirty="0" err="1">
                <a:solidFill>
                  <a:schemeClr val="bg2">
                    <a:lumMod val="50000"/>
                  </a:schemeClr>
                </a:solidFill>
                <a:latin typeface="Apple SD Gothic Neo"/>
                <a:ea typeface="Apple SD Gothic Neo"/>
                <a:cs typeface="Apple SD Gothic Neo"/>
              </a:rPr>
              <a:t>염승재</a:t>
            </a:r>
            <a:r>
              <a:rPr lang="ko-KR" altLang="en-US" sz="1875" b="1" dirty="0">
                <a:solidFill>
                  <a:schemeClr val="bg2">
                    <a:lumMod val="50000"/>
                  </a:schemeClr>
                </a:solidFill>
                <a:latin typeface="Apple SD Gothic Neo"/>
                <a:ea typeface="Apple SD Gothic Neo"/>
                <a:cs typeface="Apple SD Gothic Neo"/>
              </a:rPr>
              <a:t>  개발자 </a:t>
            </a:r>
            <a:r>
              <a:rPr lang="en-US" altLang="ko-KR" sz="1875" b="1" dirty="0">
                <a:solidFill>
                  <a:schemeClr val="bg2">
                    <a:lumMod val="50000"/>
                  </a:schemeClr>
                </a:solidFill>
                <a:latin typeface="Apple SD Gothic Neo"/>
                <a:ea typeface="Apple SD Gothic Neo"/>
                <a:cs typeface="Apple SD Gothic Neo"/>
              </a:rPr>
              <a:t>:</a:t>
            </a:r>
            <a:r>
              <a:rPr lang="ko-KR" altLang="en-US" sz="1875" b="1" dirty="0">
                <a:solidFill>
                  <a:schemeClr val="bg2">
                    <a:lumMod val="50000"/>
                  </a:schemeClr>
                </a:solidFill>
                <a:latin typeface="Apple SD Gothic Neo"/>
                <a:ea typeface="Apple SD Gothic Neo"/>
                <a:cs typeface="Apple SD Gothic Neo"/>
              </a:rPr>
              <a:t> 양현욱 </a:t>
            </a:r>
            <a:endParaRPr sz="1875" b="1" dirty="0">
              <a:solidFill>
                <a:schemeClr val="bg2">
                  <a:lumMod val="50000"/>
                </a:schemeClr>
              </a:solidFill>
              <a:latin typeface="Apple SD Gothic Neo"/>
              <a:ea typeface="Apple SD Gothic Neo"/>
              <a:cs typeface="Apple SD Gothic Neo"/>
            </a:endParaRPr>
          </a:p>
        </p:txBody>
      </p:sp>
    </p:spTree>
    <p:extLst>
      <p:ext uri="{BB962C8B-B14F-4D97-AF65-F5344CB8AC3E}">
        <p14:creationId xmlns:p14="http://schemas.microsoft.com/office/powerpoint/2010/main" val="10040649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개체 틀 14">
            <a:extLst>
              <a:ext uri="{FF2B5EF4-FFF2-40B4-BE49-F238E27FC236}">
                <a16:creationId xmlns:a16="http://schemas.microsoft.com/office/drawing/2014/main" id="{9C823E1A-D738-DA23-1A1C-9FDF9E415B71}"/>
              </a:ext>
            </a:extLst>
          </p:cNvPr>
          <p:cNvPicPr>
            <a:picLocks noGrp="1" noChangeAspect="1"/>
          </p:cNvPicPr>
          <p:nvPr>
            <p:ph type="pic" idx="20"/>
          </p:nvPr>
        </p:nvPicPr>
        <p:blipFill>
          <a:blip r:embed="rId3">
            <a:alphaModFix amt="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Marke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802" r="24329" b="802"/>
          <a:stretch>
            <a:fillRect/>
          </a:stretch>
        </p:blipFill>
        <p:spPr>
          <a:xfrm>
            <a:off x="5217982" y="-19050"/>
            <a:ext cx="11532235" cy="8572500"/>
          </a:xfrm>
          <a:prstGeom prst="rect">
            <a:avLst/>
          </a:prstGeom>
          <a:noFill/>
          <a:effectLst>
            <a:outerShdw blurRad="50800" dist="50800" dir="5400000" algn="ctr" rotWithShape="0">
              <a:srgbClr val="000000">
                <a:alpha val="91393"/>
              </a:srgbClr>
            </a:outerShdw>
          </a:effectLst>
        </p:spPr>
      </p:pic>
      <p:sp>
        <p:nvSpPr>
          <p:cNvPr id="2" name="photo-backing-409">
            <a:extLst>
              <a:ext uri="{FF2B5EF4-FFF2-40B4-BE49-F238E27FC236}">
                <a16:creationId xmlns:a16="http://schemas.microsoft.com/office/drawing/2014/main" id="{BBC78CD0-94B7-422A-80BC-F4577D555806}"/>
              </a:ext>
            </a:extLst>
          </p:cNvPr>
          <p:cNvSpPr>
            <a:spLocks noGrp="1"/>
          </p:cNvSpPr>
          <p:nvPr/>
        </p:nvSpPr>
        <p:spPr>
          <a:xfrm rot="20975628">
            <a:off x="-1433458" y="-856511"/>
            <a:ext cx="8301461" cy="10531879"/>
          </a:xfrm>
          <a:prstGeom prst="rect">
            <a:avLst/>
          </a:prstGeom>
          <a:solidFill>
            <a:srgbClr val="002554"/>
          </a:solidFill>
          <a:ln w="0">
            <a:noFill/>
            <a:prstDash val="solid"/>
          </a:ln>
          <a:scene3d>
            <a:camera prst="orthographicFront">
              <a:rot lat="0" lon="0" rev="0"/>
            </a:camera>
            <a:lightRig rig="threePt" dir="t"/>
          </a:scene3d>
        </p:spPr>
        <p:txBody>
          <a:bodyPr/>
          <a:lstStyle/>
          <a:p>
            <a:endParaRPr lang="ko-Kore-KR" altLang="en-US" dirty="0"/>
          </a:p>
        </p:txBody>
      </p:sp>
      <p:sp>
        <p:nvSpPr>
          <p:cNvPr id="4" name="text-410">
            <a:extLst>
              <a:ext uri="{FF2B5EF4-FFF2-40B4-BE49-F238E27FC236}">
                <a16:creationId xmlns:a16="http://schemas.microsoft.com/office/drawing/2014/main" id="{6DBF99BE-9B3D-41C8-A3E2-96874989FE31}"/>
              </a:ext>
            </a:extLst>
          </p:cNvPr>
          <p:cNvSpPr>
            <a:spLocks noGrp="1"/>
          </p:cNvSpPr>
          <p:nvPr/>
        </p:nvSpPr>
        <p:spPr>
          <a:xfrm>
            <a:off x="685800" y="352424"/>
            <a:ext cx="7239000" cy="847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en-US" altLang="ko-KR" sz="2000" b="1" dirty="0" err="1">
                <a:solidFill>
                  <a:schemeClr val="tx2">
                    <a:lumMod val="50000"/>
                    <a:lumOff val="50000"/>
                  </a:schemeClr>
                </a:solidFill>
                <a:latin typeface="Apple SD Gothic Neo"/>
                <a:ea typeface="Apple SD Gothic Neo"/>
                <a:cs typeface="Apple SD Gothic Neo"/>
              </a:rPr>
              <a:t>ContextWeld</a:t>
            </a:r>
            <a:endParaRPr sz="2000" b="1" dirty="0">
              <a:solidFill>
                <a:srgbClr val="FFFFFF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5" name="text-411">
            <a:extLst>
              <a:ext uri="{FF2B5EF4-FFF2-40B4-BE49-F238E27FC236}">
                <a16:creationId xmlns:a16="http://schemas.microsoft.com/office/drawing/2014/main" id="{7C0B4DBE-DA93-44AE-A8BC-15E826D238CA}"/>
              </a:ext>
            </a:extLst>
          </p:cNvPr>
          <p:cNvSpPr>
            <a:spLocks noGrp="1"/>
          </p:cNvSpPr>
          <p:nvPr/>
        </p:nvSpPr>
        <p:spPr>
          <a:xfrm>
            <a:off x="10382250" y="361950"/>
            <a:ext cx="4171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200" b="0">
                <a:solidFill>
                  <a:srgbClr val="BDCFD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r">
              <a:defRPr sz="1200" b="0">
                <a:solidFill>
                  <a:srgbClr val="BDCFD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 dirty="0">
                <a:solidFill>
                  <a:srgbClr val="BDCFDF"/>
                </a:solidFill>
                <a:latin typeface="Apple SD Gothic Neo"/>
                <a:ea typeface="Apple SD Gothic Neo"/>
                <a:cs typeface="Apple SD Gothic Neo"/>
              </a:rPr>
              <a:t>INVESTOR PRESENTATION</a:t>
            </a:r>
          </a:p>
        </p:txBody>
      </p:sp>
      <p:sp>
        <p:nvSpPr>
          <p:cNvPr id="6" name="text-412">
            <a:extLst>
              <a:ext uri="{FF2B5EF4-FFF2-40B4-BE49-F238E27FC236}">
                <a16:creationId xmlns:a16="http://schemas.microsoft.com/office/drawing/2014/main" id="{B92D3142-50F9-42CA-82B4-8BEB617211DA}"/>
              </a:ext>
            </a:extLst>
          </p:cNvPr>
          <p:cNvSpPr>
            <a:spLocks noGrp="1"/>
          </p:cNvSpPr>
          <p:nvPr/>
        </p:nvSpPr>
        <p:spPr>
          <a:xfrm>
            <a:off x="685800" y="8096250"/>
            <a:ext cx="5715000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050" b="0">
                <a:solidFill>
                  <a:srgbClr val="9FB8CD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defRPr sz="1050" b="0">
                <a:solidFill>
                  <a:srgbClr val="9FB8C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9FB8CD"/>
                </a:solidFill>
                <a:latin typeface="Apple SD Gothic Neo"/>
                <a:ea typeface="Apple SD Gothic Neo"/>
                <a:cs typeface="Apple SD Gothic Neo"/>
              </a:rPr>
              <a:t>Company name</a:t>
            </a:r>
          </a:p>
        </p:txBody>
      </p:sp>
      <p:sp>
        <p:nvSpPr>
          <p:cNvPr id="7" name="text-413">
            <a:extLst>
              <a:ext uri="{FF2B5EF4-FFF2-40B4-BE49-F238E27FC236}">
                <a16:creationId xmlns:a16="http://schemas.microsoft.com/office/drawing/2014/main" id="{EFD62DE3-8A9B-4181-B69A-D9FC76378E6A}"/>
              </a:ext>
            </a:extLst>
          </p:cNvPr>
          <p:cNvSpPr>
            <a:spLocks noGrp="1"/>
          </p:cNvSpPr>
          <p:nvPr/>
        </p:nvSpPr>
        <p:spPr>
          <a:xfrm>
            <a:off x="13868400" y="8039100"/>
            <a:ext cx="6858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275" b="0">
                <a:solidFill>
                  <a:srgbClr val="9FB8CD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r">
              <a:defRPr sz="1275" b="0">
                <a:solidFill>
                  <a:srgbClr val="9FB8C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8CD"/>
                </a:solidFill>
                <a:latin typeface="Apple SD Gothic Neo"/>
                <a:ea typeface="Apple SD Gothic Neo"/>
                <a:cs typeface="Apple SD Gothic Neo"/>
              </a:rPr>
              <a:t>14</a:t>
            </a:r>
          </a:p>
        </p:txBody>
      </p:sp>
      <p:sp>
        <p:nvSpPr>
          <p:cNvPr id="8" name="text-414">
            <a:extLst>
              <a:ext uri="{FF2B5EF4-FFF2-40B4-BE49-F238E27FC236}">
                <a16:creationId xmlns:a16="http://schemas.microsoft.com/office/drawing/2014/main" id="{1BC24306-ECDC-4DFD-B3B4-BE924B50CDE9}"/>
              </a:ext>
            </a:extLst>
          </p:cNvPr>
          <p:cNvSpPr>
            <a:spLocks noGrp="1"/>
          </p:cNvSpPr>
          <p:nvPr/>
        </p:nvSpPr>
        <p:spPr>
          <a:xfrm>
            <a:off x="704850" y="1628775"/>
            <a:ext cx="1333500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defRPr sz="18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OUR NEXT CHAPTER</a:t>
            </a:r>
          </a:p>
        </p:txBody>
      </p:sp>
      <p:sp>
        <p:nvSpPr>
          <p:cNvPr id="9" name="text-415">
            <a:extLst>
              <a:ext uri="{FF2B5EF4-FFF2-40B4-BE49-F238E27FC236}">
                <a16:creationId xmlns:a16="http://schemas.microsoft.com/office/drawing/2014/main" id="{F3ADB693-FC26-47B1-97A2-799AB2163FAA}"/>
              </a:ext>
            </a:extLst>
          </p:cNvPr>
          <p:cNvSpPr>
            <a:spLocks noGrp="1"/>
          </p:cNvSpPr>
          <p:nvPr/>
        </p:nvSpPr>
        <p:spPr>
          <a:xfrm>
            <a:off x="607884" y="1962149"/>
            <a:ext cx="13849350" cy="35433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500" b="1">
                <a:solidFill>
                  <a:srgbClr val="00E600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r>
              <a:rPr lang="ko-Kore-KR" altLang="ko-Kore-KR" sz="6000" dirty="0">
                <a:solidFill>
                  <a:schemeClr val="bg1"/>
                </a:solidFill>
              </a:rPr>
              <a:t>용접로봇도</a:t>
            </a:r>
            <a:br>
              <a:rPr lang="ko-Kore-KR" altLang="ko-Kore-KR" sz="6000" dirty="0">
                <a:solidFill>
                  <a:schemeClr val="bg1"/>
                </a:solidFill>
              </a:rPr>
            </a:br>
            <a:r>
              <a:rPr lang="ko-Kore-KR" altLang="ko-Kore-KR" sz="6000" b="1" dirty="0">
                <a:solidFill>
                  <a:schemeClr val="bg1"/>
                </a:solidFill>
              </a:rPr>
              <a:t>현장 표기</a:t>
            </a:r>
            <a:r>
              <a:rPr lang="ko-Kore-KR" altLang="ko-Kore-KR" sz="6000" dirty="0">
                <a:solidFill>
                  <a:schemeClr val="bg1"/>
                </a:solidFill>
              </a:rPr>
              <a:t>를</a:t>
            </a:r>
            <a:r>
              <a:rPr lang="ko-Kore-KR" altLang="ko-Kore-KR" sz="6000" b="1" dirty="0">
                <a:solidFill>
                  <a:schemeClr val="bg1"/>
                </a:solidFill>
              </a:rPr>
              <a:t> </a:t>
            </a:r>
            <a:r>
              <a:rPr lang="ko-Kore-KR" altLang="ko-Kore-KR" sz="6000" dirty="0">
                <a:solidFill>
                  <a:schemeClr val="bg1"/>
                </a:solidFill>
              </a:rPr>
              <a:t>읽어야 합니다</a:t>
            </a:r>
          </a:p>
        </p:txBody>
      </p:sp>
      <p:sp>
        <p:nvSpPr>
          <p:cNvPr id="10" name="text-416">
            <a:extLst>
              <a:ext uri="{FF2B5EF4-FFF2-40B4-BE49-F238E27FC236}">
                <a16:creationId xmlns:a16="http://schemas.microsoft.com/office/drawing/2014/main" id="{FFBE2090-7BAC-43C4-B8A7-85FD782F6DD4}"/>
              </a:ext>
            </a:extLst>
          </p:cNvPr>
          <p:cNvSpPr>
            <a:spLocks noGrp="1"/>
          </p:cNvSpPr>
          <p:nvPr/>
        </p:nvSpPr>
        <p:spPr>
          <a:xfrm>
            <a:off x="742950" y="5819775"/>
            <a:ext cx="13192125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r>
              <a:rPr lang="ko-Kore-KR" altLang="ko-Kore-KR" sz="2400" dirty="0">
                <a:solidFill>
                  <a:schemeClr val="bg1"/>
                </a:solidFill>
              </a:rPr>
              <a:t>ContextWeld는 용접로봇에 카메라와 OCR 기반 비전 AI를 결합해,</a:t>
            </a:r>
            <a:br>
              <a:rPr lang="ko-Kore-KR" altLang="ko-Kore-KR" sz="2400" dirty="0">
                <a:solidFill>
                  <a:schemeClr val="bg1"/>
                </a:solidFill>
              </a:rPr>
            </a:br>
            <a:r>
              <a:rPr lang="ko-Kore-KR" altLang="ko-Kore-KR" sz="2400" dirty="0">
                <a:solidFill>
                  <a:schemeClr val="bg1"/>
                </a:solidFill>
              </a:rPr>
              <a:t>현장 표기를 직접 읽고 작업 정보로 연결하는 것을 목표로 합니다.</a:t>
            </a:r>
          </a:p>
        </p:txBody>
      </p:sp>
      <p:sp>
        <p:nvSpPr>
          <p:cNvPr id="11" name="rule-417">
            <a:extLst>
              <a:ext uri="{FF2B5EF4-FFF2-40B4-BE49-F238E27FC236}">
                <a16:creationId xmlns:a16="http://schemas.microsoft.com/office/drawing/2014/main" id="{2EAC9ACA-60D7-44D8-A5DB-0974148BD13E}"/>
              </a:ext>
            </a:extLst>
          </p:cNvPr>
          <p:cNvSpPr>
            <a:spLocks noGrp="1"/>
          </p:cNvSpPr>
          <p:nvPr/>
        </p:nvSpPr>
        <p:spPr>
          <a:xfrm>
            <a:off x="742950" y="6934200"/>
            <a:ext cx="13773150" cy="95"/>
          </a:xfrm>
          <a:prstGeom prst="line">
            <a:avLst/>
          </a:prstGeom>
          <a:noFill/>
          <a:ln w="9525">
            <a:solidFill>
              <a:srgbClr val="3E6588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2" name="text-418">
            <a:extLst>
              <a:ext uri="{FF2B5EF4-FFF2-40B4-BE49-F238E27FC236}">
                <a16:creationId xmlns:a16="http://schemas.microsoft.com/office/drawing/2014/main" id="{72D26DE8-3F76-4BE9-B2AC-6AD692BB77BE}"/>
              </a:ext>
            </a:extLst>
          </p:cNvPr>
          <p:cNvSpPr>
            <a:spLocks noGrp="1"/>
          </p:cNvSpPr>
          <p:nvPr/>
        </p:nvSpPr>
        <p:spPr>
          <a:xfrm>
            <a:off x="742950" y="7267575"/>
            <a:ext cx="718185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defRPr sz="18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altLang="en-US" sz="1875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스태틱</a:t>
            </a:r>
            <a:r>
              <a:rPr lang="ko-KR" altLang="en-US" sz="1875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듀오 </a:t>
            </a:r>
            <a:r>
              <a:rPr lang="en-US" altLang="ko-KR" sz="1875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/</a:t>
            </a:r>
            <a:r>
              <a:rPr lang="ko-KR" altLang="en-US" sz="1875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서비스 기획 </a:t>
            </a:r>
            <a:r>
              <a:rPr lang="en-US" altLang="ko-KR" sz="1875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:</a:t>
            </a:r>
            <a:r>
              <a:rPr lang="ko-KR" altLang="en-US" sz="1875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ko-KR" altLang="en-US" sz="1875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염승재</a:t>
            </a:r>
            <a:r>
              <a:rPr lang="ko-KR" altLang="en-US" sz="1875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 개발자 </a:t>
            </a:r>
            <a:r>
              <a:rPr lang="en-US" altLang="ko-KR" sz="1875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:</a:t>
            </a:r>
            <a:r>
              <a:rPr lang="ko-KR" altLang="en-US" sz="1875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양현욱 </a:t>
            </a:r>
            <a:endParaRPr sz="1875" b="1" dirty="0">
              <a:solidFill>
                <a:srgbClr val="FFFFFF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3" name="text-419">
            <a:extLst>
              <a:ext uri="{FF2B5EF4-FFF2-40B4-BE49-F238E27FC236}">
                <a16:creationId xmlns:a16="http://schemas.microsoft.com/office/drawing/2014/main" id="{3CBE199E-9868-4607-B0A7-6A961BEB51A7}"/>
              </a:ext>
            </a:extLst>
          </p:cNvPr>
          <p:cNvSpPr>
            <a:spLocks noGrp="1"/>
          </p:cNvSpPr>
          <p:nvPr/>
        </p:nvSpPr>
        <p:spPr>
          <a:xfrm>
            <a:off x="9648825" y="7267575"/>
            <a:ext cx="4867275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725" b="0">
                <a:solidFill>
                  <a:srgbClr val="BDCFD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r">
              <a:defRPr sz="1725" b="0">
                <a:solidFill>
                  <a:srgbClr val="BDCFDF"/>
                </a:solidFill>
                <a:latin typeface="Apple SD Gothic Neo"/>
                <a:ea typeface="Apple SD Gothic Neo"/>
                <a:cs typeface="Apple SD Gothic Neo"/>
              </a:defRPr>
            </a:pPr>
            <a:endParaRPr sz="1725" b="0" dirty="0">
              <a:solidFill>
                <a:srgbClr val="BDCFDF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6" name="방향 강조 도형-489">
            <a:extLst>
              <a:ext uri="{FF2B5EF4-FFF2-40B4-BE49-F238E27FC236}">
                <a16:creationId xmlns:a16="http://schemas.microsoft.com/office/drawing/2014/main" id="{DDA53F64-1ABF-31AD-7696-6FEA3F5B0A84}"/>
              </a:ext>
            </a:extLst>
          </p:cNvPr>
          <p:cNvSpPr>
            <a:spLocks noGrp="1"/>
          </p:cNvSpPr>
          <p:nvPr/>
        </p:nvSpPr>
        <p:spPr>
          <a:xfrm>
            <a:off x="5760243" y="7353300"/>
            <a:ext cx="876300" cy="628650"/>
          </a:xfrm>
          <a:custGeom>
            <a:avLst/>
            <a:gdLst/>
            <a:ahLst/>
            <a:cxnLst/>
            <a:rect l="0" t="0" r="0" b="0"/>
            <a:pathLst>
              <a:path w="876300" h="628650">
                <a:moveTo>
                  <a:pt x="0" y="0"/>
                </a:moveTo>
                <a:lnTo>
                  <a:pt x="523875" y="0"/>
                </a:lnTo>
                <a:lnTo>
                  <a:pt x="876300" y="314325"/>
                </a:lnTo>
                <a:lnTo>
                  <a:pt x="523875" y="628650"/>
                </a:lnTo>
                <a:lnTo>
                  <a:pt x="0" y="628650"/>
                </a:lnTo>
                <a:lnTo>
                  <a:pt x="352425" y="314325"/>
                </a:lnTo>
                <a:close/>
              </a:path>
            </a:pathLst>
          </a:custGeom>
          <a:solidFill>
            <a:srgbClr val="00843D"/>
          </a:solidFill>
          <a:ln w="0">
            <a:noFill/>
          </a:ln>
        </p:spPr>
        <p:txBody>
          <a:bodyPr/>
          <a:lstStyle/>
          <a:p>
            <a:endParaRPr lang="ko-Kore-KR" altLang="en-US"/>
          </a:p>
        </p:txBody>
      </p:sp>
    </p:spTree>
    <p:extLst>
      <p:ext uri="{BB962C8B-B14F-4D97-AF65-F5344CB8AC3E}">
        <p14:creationId xmlns:p14="http://schemas.microsoft.com/office/powerpoint/2010/main" val="764720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-12">
            <a:extLst>
              <a:ext uri="{FF2B5EF4-FFF2-40B4-BE49-F238E27FC236}">
                <a16:creationId xmlns:a16="http://schemas.microsoft.com/office/drawing/2014/main" id="{6BEC409E-0664-4F9F-B794-0CE4F75F8D21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6191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425" b="1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1425" b="1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rPr>
              <a:t>ContextWeld</a:t>
            </a:r>
          </a:p>
        </p:txBody>
      </p:sp>
      <p:sp>
        <p:nvSpPr>
          <p:cNvPr id="3" name="text-14">
            <a:extLst>
              <a:ext uri="{FF2B5EF4-FFF2-40B4-BE49-F238E27FC236}">
                <a16:creationId xmlns:a16="http://schemas.microsoft.com/office/drawing/2014/main" id="{AE299CCF-F7B6-4C5D-81EF-06D1C0C689F5}"/>
              </a:ext>
            </a:extLst>
          </p:cNvPr>
          <p:cNvSpPr>
            <a:spLocks noGrp="1"/>
          </p:cNvSpPr>
          <p:nvPr/>
        </p:nvSpPr>
        <p:spPr>
          <a:xfrm>
            <a:off x="685800" y="8077200"/>
            <a:ext cx="6667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125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1125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rPr>
              <a:t>Static Duo</a:t>
            </a:r>
          </a:p>
        </p:txBody>
      </p:sp>
      <p:sp>
        <p:nvSpPr>
          <p:cNvPr id="4" name="text-15">
            <a:extLst>
              <a:ext uri="{FF2B5EF4-FFF2-40B4-BE49-F238E27FC236}">
                <a16:creationId xmlns:a16="http://schemas.microsoft.com/office/drawing/2014/main" id="{767A2DF6-1914-4C82-82C9-D88A5C8AD9D2}"/>
              </a:ext>
            </a:extLst>
          </p:cNvPr>
          <p:cNvSpPr>
            <a:spLocks noGrp="1"/>
          </p:cNvSpPr>
          <p:nvPr/>
        </p:nvSpPr>
        <p:spPr>
          <a:xfrm>
            <a:off x="13868400" y="8020050"/>
            <a:ext cx="6858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r">
              <a:buNone/>
              <a:defRPr sz="1350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defRPr>
            </a:pPr>
            <a:endParaRPr/>
          </a:p>
        </p:txBody>
      </p:sp>
      <p:sp>
        <p:nvSpPr>
          <p:cNvPr id="5" name="text-16">
            <a:extLst>
              <a:ext uri="{FF2B5EF4-FFF2-40B4-BE49-F238E27FC236}">
                <a16:creationId xmlns:a16="http://schemas.microsoft.com/office/drawing/2014/main" id="{54EE8F34-AA37-4FFC-8A53-3F91BA83673B}"/>
              </a:ext>
            </a:extLst>
          </p:cNvPr>
          <p:cNvSpPr>
            <a:spLocks noGrp="1"/>
          </p:cNvSpPr>
          <p:nvPr/>
        </p:nvSpPr>
        <p:spPr>
          <a:xfrm>
            <a:off x="685800" y="1771650"/>
            <a:ext cx="4953000" cy="1123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6450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6450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450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rPr>
              <a:t>Contents</a:t>
            </a:r>
          </a:p>
        </p:txBody>
      </p:sp>
      <p:sp>
        <p:nvSpPr>
          <p:cNvPr id="6" name="text-17">
            <a:extLst>
              <a:ext uri="{FF2B5EF4-FFF2-40B4-BE49-F238E27FC236}">
                <a16:creationId xmlns:a16="http://schemas.microsoft.com/office/drawing/2014/main" id="{4459C5F0-0762-440E-9283-22E62B79C8ED}"/>
              </a:ext>
            </a:extLst>
          </p:cNvPr>
          <p:cNvSpPr>
            <a:spLocks noGrp="1"/>
          </p:cNvSpPr>
          <p:nvPr/>
        </p:nvSpPr>
        <p:spPr>
          <a:xfrm>
            <a:off x="733425" y="2952750"/>
            <a:ext cx="457200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100" b="0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2100" b="0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rPr>
              <a:t>전체 목차 · 본문 11장 + 별첨</a:t>
            </a:r>
          </a:p>
        </p:txBody>
      </p:sp>
      <p:sp>
        <p:nvSpPr>
          <p:cNvPr id="7" name="geometric-layout-18">
            <a:extLst>
              <a:ext uri="{FF2B5EF4-FFF2-40B4-BE49-F238E27FC236}">
                <a16:creationId xmlns:a16="http://schemas.microsoft.com/office/drawing/2014/main" id="{B7986E3F-8748-42CA-905D-08E2D92123DC}"/>
              </a:ext>
            </a:extLst>
          </p:cNvPr>
          <p:cNvSpPr>
            <a:spLocks noGrp="1"/>
          </p:cNvSpPr>
          <p:nvPr/>
        </p:nvSpPr>
        <p:spPr>
          <a:xfrm>
            <a:off x="704850" y="5086350"/>
            <a:ext cx="2333625" cy="2028825"/>
          </a:xfrm>
          <a:custGeom>
            <a:avLst/>
            <a:gdLst/>
            <a:ahLst/>
            <a:cxnLst/>
            <a:rect l="0" t="0" r="0" b="0"/>
            <a:pathLst>
              <a:path w="2867025" h="2486025">
                <a:moveTo>
                  <a:pt x="0" y="2486025"/>
                </a:moveTo>
                <a:lnTo>
                  <a:pt x="1428750" y="0"/>
                </a:lnTo>
                <a:lnTo>
                  <a:pt x="2867025" y="2486025"/>
                </a:lnTo>
                <a:close/>
              </a:path>
            </a:pathLst>
          </a:custGeom>
          <a:solidFill>
            <a:srgbClr val="EDF2FA"/>
          </a:solidFill>
          <a:ln w="0">
            <a:noFill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8" name="geometric-layout-19">
            <a:extLst>
              <a:ext uri="{FF2B5EF4-FFF2-40B4-BE49-F238E27FC236}">
                <a16:creationId xmlns:a16="http://schemas.microsoft.com/office/drawing/2014/main" id="{2931044F-0794-4F3E-9B14-AFF1F95F84D5}"/>
              </a:ext>
            </a:extLst>
          </p:cNvPr>
          <p:cNvSpPr>
            <a:spLocks noGrp="1"/>
          </p:cNvSpPr>
          <p:nvPr/>
        </p:nvSpPr>
        <p:spPr>
          <a:xfrm>
            <a:off x="2238375" y="5638800"/>
            <a:ext cx="1704975" cy="1476375"/>
          </a:xfrm>
          <a:custGeom>
            <a:avLst/>
            <a:gdLst/>
            <a:ahLst/>
            <a:cxnLst/>
            <a:rect l="0" t="0" r="0" b="0"/>
            <a:pathLst>
              <a:path w="2171700" h="1876425">
                <a:moveTo>
                  <a:pt x="0" y="1876425"/>
                </a:moveTo>
                <a:lnTo>
                  <a:pt x="1085850" y="0"/>
                </a:lnTo>
                <a:lnTo>
                  <a:pt x="2171700" y="1876425"/>
                </a:lnTo>
                <a:close/>
              </a:path>
            </a:pathLst>
          </a:custGeom>
          <a:solidFill>
            <a:srgbClr val="00843D"/>
          </a:solidFill>
          <a:ln w="0">
            <a:noFill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0" name="text-21">
            <a:extLst>
              <a:ext uri="{FF2B5EF4-FFF2-40B4-BE49-F238E27FC236}">
                <a16:creationId xmlns:a16="http://schemas.microsoft.com/office/drawing/2014/main" id="{6BA8AF58-5820-4F4E-B24D-C3D981CC82D8}"/>
              </a:ext>
            </a:extLst>
          </p:cNvPr>
          <p:cNvSpPr>
            <a:spLocks noGrp="1"/>
          </p:cNvSpPr>
          <p:nvPr/>
        </p:nvSpPr>
        <p:spPr>
          <a:xfrm>
            <a:off x="6334125" y="1866900"/>
            <a:ext cx="8191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100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2100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11" name="text-22">
            <a:extLst>
              <a:ext uri="{FF2B5EF4-FFF2-40B4-BE49-F238E27FC236}">
                <a16:creationId xmlns:a16="http://schemas.microsoft.com/office/drawing/2014/main" id="{CE769663-48E6-47FB-8351-13BDC61ADF3D}"/>
              </a:ext>
            </a:extLst>
          </p:cNvPr>
          <p:cNvSpPr>
            <a:spLocks noGrp="1"/>
          </p:cNvSpPr>
          <p:nvPr/>
        </p:nvSpPr>
        <p:spPr>
          <a:xfrm>
            <a:off x="7410450" y="1771650"/>
            <a:ext cx="7124700" cy="5810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925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2925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altLang="en-US" sz="2925" b="1" dirty="0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rPr>
              <a:t>목표와 서비스 개요</a:t>
            </a:r>
            <a:endParaRPr sz="2925" b="1" dirty="0">
              <a:solidFill>
                <a:srgbClr val="002554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2" name="text-23">
            <a:extLst>
              <a:ext uri="{FF2B5EF4-FFF2-40B4-BE49-F238E27FC236}">
                <a16:creationId xmlns:a16="http://schemas.microsoft.com/office/drawing/2014/main" id="{CBBB4700-5D65-41F3-B4D2-3991F3944A47}"/>
              </a:ext>
            </a:extLst>
          </p:cNvPr>
          <p:cNvSpPr>
            <a:spLocks noGrp="1"/>
          </p:cNvSpPr>
          <p:nvPr/>
        </p:nvSpPr>
        <p:spPr>
          <a:xfrm>
            <a:off x="7439025" y="2419350"/>
            <a:ext cx="6858000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1875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altLang="en-US" sz="1500" dirty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rPr>
              <a:t>1 작업 준비 자동화 · 2 서비스 개요 · 3 전체 처리 구조</a:t>
            </a:r>
            <a:endParaRPr sz="1500" b="0" dirty="0">
              <a:solidFill>
                <a:srgbClr val="52647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3" name="rule-24">
            <a:extLst>
              <a:ext uri="{FF2B5EF4-FFF2-40B4-BE49-F238E27FC236}">
                <a16:creationId xmlns:a16="http://schemas.microsoft.com/office/drawing/2014/main" id="{530CFD8A-416F-4676-8B27-E46DEE50FFBA}"/>
              </a:ext>
            </a:extLst>
          </p:cNvPr>
          <p:cNvSpPr>
            <a:spLocks noGrp="1"/>
          </p:cNvSpPr>
          <p:nvPr/>
        </p:nvSpPr>
        <p:spPr>
          <a:xfrm>
            <a:off x="6334125" y="2952750"/>
            <a:ext cx="8220075" cy="95"/>
          </a:xfrm>
          <a:prstGeom prst="line">
            <a:avLst/>
          </a:prstGeom>
          <a:noFill/>
          <a:ln w="9525">
            <a:solidFill>
              <a:srgbClr val="D4DCE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4" name="text-25">
            <a:extLst>
              <a:ext uri="{FF2B5EF4-FFF2-40B4-BE49-F238E27FC236}">
                <a16:creationId xmlns:a16="http://schemas.microsoft.com/office/drawing/2014/main" id="{4AE236E7-055A-4D7B-8E63-AB9363720C87}"/>
              </a:ext>
            </a:extLst>
          </p:cNvPr>
          <p:cNvSpPr>
            <a:spLocks noGrp="1"/>
          </p:cNvSpPr>
          <p:nvPr/>
        </p:nvSpPr>
        <p:spPr>
          <a:xfrm>
            <a:off x="6334125" y="3257550"/>
            <a:ext cx="8191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100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2100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5" name="text-26">
            <a:extLst>
              <a:ext uri="{FF2B5EF4-FFF2-40B4-BE49-F238E27FC236}">
                <a16:creationId xmlns:a16="http://schemas.microsoft.com/office/drawing/2014/main" id="{A5059C92-B5B8-4638-B11F-305A283173E5}"/>
              </a:ext>
            </a:extLst>
          </p:cNvPr>
          <p:cNvSpPr>
            <a:spLocks noGrp="1"/>
          </p:cNvSpPr>
          <p:nvPr/>
        </p:nvSpPr>
        <p:spPr>
          <a:xfrm>
            <a:off x="7410450" y="3162300"/>
            <a:ext cx="7124700" cy="5810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925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2925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 dirty="0" err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rPr>
              <a:t>단계별 설계 원리</a:t>
            </a:r>
            <a:endParaRPr sz="2925" b="1" dirty="0">
              <a:solidFill>
                <a:srgbClr val="002554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6" name="text-27">
            <a:extLst>
              <a:ext uri="{FF2B5EF4-FFF2-40B4-BE49-F238E27FC236}">
                <a16:creationId xmlns:a16="http://schemas.microsoft.com/office/drawing/2014/main" id="{CC48297A-162B-4387-B6B2-12FE53B57362}"/>
              </a:ext>
            </a:extLst>
          </p:cNvPr>
          <p:cNvSpPr>
            <a:spLocks noGrp="1"/>
          </p:cNvSpPr>
          <p:nvPr/>
        </p:nvSpPr>
        <p:spPr>
          <a:xfrm>
            <a:off x="7439025" y="3810000"/>
            <a:ext cx="6858000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1875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 dirty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rPr>
              <a:t>4 </a:t>
            </a:r>
            <a:r>
              <a:rPr sz="1500" b="0" dirty="0" err="1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rPr>
              <a:t>입력</a:t>
            </a:r>
            <a:r>
              <a:rPr sz="1500" b="0" dirty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0" dirty="0" err="1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rPr>
              <a:t>관측</a:t>
            </a:r>
            <a:r>
              <a:rPr sz="1500" b="0" dirty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rPr>
              <a:t> · 5 </a:t>
            </a:r>
            <a:r>
              <a:rPr sz="1500" b="0" dirty="0" err="1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rPr>
              <a:t>판단</a:t>
            </a:r>
            <a:r>
              <a:rPr sz="1500" b="0" dirty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0" dirty="0" err="1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rPr>
              <a:t>OCR·장면</a:t>
            </a:r>
            <a:r>
              <a:rPr sz="1500" b="0" dirty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rPr>
              <a:t> · 6 </a:t>
            </a:r>
            <a:r>
              <a:rPr sz="1500" b="0" dirty="0" err="1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rPr>
              <a:t>검증</a:t>
            </a:r>
            <a:r>
              <a:rPr sz="1500" b="0" dirty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0" dirty="0" err="1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rPr>
              <a:t>맥락</a:t>
            </a:r>
            <a:r>
              <a:rPr sz="1500" b="0" dirty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rPr>
              <a:t> · 7 </a:t>
            </a:r>
            <a:r>
              <a:rPr sz="1500" b="0" dirty="0" err="1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rPr>
              <a:t>전달</a:t>
            </a:r>
            <a:r>
              <a:rPr sz="1500" b="0" dirty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0" dirty="0" err="1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rPr>
              <a:t>파라미터</a:t>
            </a:r>
            <a:endParaRPr sz="1500" b="0" dirty="0">
              <a:solidFill>
                <a:srgbClr val="52647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7" name="rule-28">
            <a:extLst>
              <a:ext uri="{FF2B5EF4-FFF2-40B4-BE49-F238E27FC236}">
                <a16:creationId xmlns:a16="http://schemas.microsoft.com/office/drawing/2014/main" id="{7A86A37E-7B7F-426E-A2DD-12DFFA07FF1E}"/>
              </a:ext>
            </a:extLst>
          </p:cNvPr>
          <p:cNvSpPr>
            <a:spLocks noGrp="1"/>
          </p:cNvSpPr>
          <p:nvPr/>
        </p:nvSpPr>
        <p:spPr>
          <a:xfrm>
            <a:off x="6334125" y="4343400"/>
            <a:ext cx="8220075" cy="95"/>
          </a:xfrm>
          <a:prstGeom prst="line">
            <a:avLst/>
          </a:prstGeom>
          <a:noFill/>
          <a:ln w="9525">
            <a:solidFill>
              <a:srgbClr val="D4DCE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8" name="text-29">
            <a:extLst>
              <a:ext uri="{FF2B5EF4-FFF2-40B4-BE49-F238E27FC236}">
                <a16:creationId xmlns:a16="http://schemas.microsoft.com/office/drawing/2014/main" id="{1651ECC7-08C0-4706-8B9F-2F8D981E978B}"/>
              </a:ext>
            </a:extLst>
          </p:cNvPr>
          <p:cNvSpPr>
            <a:spLocks noGrp="1"/>
          </p:cNvSpPr>
          <p:nvPr/>
        </p:nvSpPr>
        <p:spPr>
          <a:xfrm>
            <a:off x="6334125" y="4648200"/>
            <a:ext cx="8191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100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2100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9" name="text-30">
            <a:extLst>
              <a:ext uri="{FF2B5EF4-FFF2-40B4-BE49-F238E27FC236}">
                <a16:creationId xmlns:a16="http://schemas.microsoft.com/office/drawing/2014/main" id="{D580DCBC-F5EB-4B66-9F49-85A5546081BF}"/>
              </a:ext>
            </a:extLst>
          </p:cNvPr>
          <p:cNvSpPr>
            <a:spLocks noGrp="1"/>
          </p:cNvSpPr>
          <p:nvPr/>
        </p:nvSpPr>
        <p:spPr>
          <a:xfrm>
            <a:off x="7410450" y="4552950"/>
            <a:ext cx="7124700" cy="5810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925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2925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rPr>
              <a:t>추적 · 근거 · 경제성</a:t>
            </a:r>
          </a:p>
        </p:txBody>
      </p:sp>
      <p:sp>
        <p:nvSpPr>
          <p:cNvPr id="20" name="text-31">
            <a:extLst>
              <a:ext uri="{FF2B5EF4-FFF2-40B4-BE49-F238E27FC236}">
                <a16:creationId xmlns:a16="http://schemas.microsoft.com/office/drawing/2014/main" id="{7366ED86-CB40-437B-B135-F56043B1C7A0}"/>
              </a:ext>
            </a:extLst>
          </p:cNvPr>
          <p:cNvSpPr>
            <a:spLocks noGrp="1"/>
          </p:cNvSpPr>
          <p:nvPr/>
        </p:nvSpPr>
        <p:spPr>
          <a:xfrm>
            <a:off x="7439025" y="5200650"/>
            <a:ext cx="6858000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1875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rPr>
              <a:t>8 관리자 대시보드 · 9 설계의 근거 · 10 도입·운영 경제성</a:t>
            </a:r>
          </a:p>
        </p:txBody>
      </p:sp>
      <p:sp>
        <p:nvSpPr>
          <p:cNvPr id="21" name="rule-32">
            <a:extLst>
              <a:ext uri="{FF2B5EF4-FFF2-40B4-BE49-F238E27FC236}">
                <a16:creationId xmlns:a16="http://schemas.microsoft.com/office/drawing/2014/main" id="{B6257C0D-8D67-4331-820B-52A63B558618}"/>
              </a:ext>
            </a:extLst>
          </p:cNvPr>
          <p:cNvSpPr>
            <a:spLocks noGrp="1"/>
          </p:cNvSpPr>
          <p:nvPr/>
        </p:nvSpPr>
        <p:spPr>
          <a:xfrm>
            <a:off x="6334125" y="5734050"/>
            <a:ext cx="8220075" cy="95"/>
          </a:xfrm>
          <a:prstGeom prst="line">
            <a:avLst/>
          </a:prstGeom>
          <a:noFill/>
          <a:ln w="9525">
            <a:solidFill>
              <a:srgbClr val="D4DCE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2" name="text-33">
            <a:extLst>
              <a:ext uri="{FF2B5EF4-FFF2-40B4-BE49-F238E27FC236}">
                <a16:creationId xmlns:a16="http://schemas.microsoft.com/office/drawing/2014/main" id="{F06DDB26-9648-49C5-BF2A-D84896B487D7}"/>
              </a:ext>
            </a:extLst>
          </p:cNvPr>
          <p:cNvSpPr>
            <a:spLocks noGrp="1"/>
          </p:cNvSpPr>
          <p:nvPr/>
        </p:nvSpPr>
        <p:spPr>
          <a:xfrm>
            <a:off x="6334125" y="6038850"/>
            <a:ext cx="8191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100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2100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3" name="text-34">
            <a:extLst>
              <a:ext uri="{FF2B5EF4-FFF2-40B4-BE49-F238E27FC236}">
                <a16:creationId xmlns:a16="http://schemas.microsoft.com/office/drawing/2014/main" id="{5D39AC29-39DD-4B26-81E1-D4617334DAE2}"/>
              </a:ext>
            </a:extLst>
          </p:cNvPr>
          <p:cNvSpPr>
            <a:spLocks noGrp="1"/>
          </p:cNvSpPr>
          <p:nvPr/>
        </p:nvSpPr>
        <p:spPr>
          <a:xfrm>
            <a:off x="7410450" y="5943600"/>
            <a:ext cx="7124700" cy="5810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925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2925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rPr>
              <a:t>제안과 별첨</a:t>
            </a:r>
          </a:p>
        </p:txBody>
      </p:sp>
      <p:sp>
        <p:nvSpPr>
          <p:cNvPr id="24" name="text-35">
            <a:extLst>
              <a:ext uri="{FF2B5EF4-FFF2-40B4-BE49-F238E27FC236}">
                <a16:creationId xmlns:a16="http://schemas.microsoft.com/office/drawing/2014/main" id="{D730D2E4-6647-4393-8312-B38DFC8D14FF}"/>
              </a:ext>
            </a:extLst>
          </p:cNvPr>
          <p:cNvSpPr>
            <a:spLocks noGrp="1"/>
          </p:cNvSpPr>
          <p:nvPr/>
        </p:nvSpPr>
        <p:spPr>
          <a:xfrm>
            <a:off x="7439025" y="6591300"/>
            <a:ext cx="6858000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1875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rPr>
              <a:t>11 공동 실증 제안 · 별첨 A1~A15 (좌측 목록, 발화 없음)</a:t>
            </a:r>
          </a:p>
        </p:txBody>
      </p:sp>
      <p:sp>
        <p:nvSpPr>
          <p:cNvPr id="25" name="rule-36">
            <a:extLst>
              <a:ext uri="{FF2B5EF4-FFF2-40B4-BE49-F238E27FC236}">
                <a16:creationId xmlns:a16="http://schemas.microsoft.com/office/drawing/2014/main" id="{41D11014-B069-4D4D-8A3D-A2C87DC6EDB9}"/>
              </a:ext>
            </a:extLst>
          </p:cNvPr>
          <p:cNvSpPr>
            <a:spLocks noGrp="1"/>
          </p:cNvSpPr>
          <p:nvPr/>
        </p:nvSpPr>
        <p:spPr>
          <a:xfrm>
            <a:off x="6334125" y="7124700"/>
            <a:ext cx="8220075" cy="95"/>
          </a:xfrm>
          <a:prstGeom prst="line">
            <a:avLst/>
          </a:prstGeom>
          <a:noFill/>
          <a:ln w="9525">
            <a:solidFill>
              <a:srgbClr val="D4DCE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7" name="TextBox 26"/>
          <p:cNvSpPr txBox="1"/>
          <p:nvPr/>
        </p:nvSpPr>
        <p:spPr>
          <a:xfrm>
            <a:off x="720000" y="3491999"/>
            <a:ext cx="5256000" cy="154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002554"/>
                </a:solidFill>
                <a:latin typeface="Apple SD Gothic Neo"/>
                <a:ea typeface="Apple SD Gothic Neo"/>
              </a:rPr>
              <a:t>별첨 (질의응답·열람용, 발화 없음)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526477"/>
                </a:solidFill>
                <a:latin typeface="Apple SD Gothic Neo"/>
                <a:ea typeface="Apple SD Gothic Neo"/>
              </a:rPr>
              <a:t>A1 시스템 구조도·구현 상태(2장) · A2 두 갈래 관측·AI 역할 · A3 문서 제약 · A4 범위값·전송/수신 · A5 RGB 1대·A/B 관측 · A6 근거 검색 · A7 사람 개입·화이트박스 · A8 로컬 대시보드·조회 화면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526477"/>
                </a:solidFill>
                <a:latin typeface="Apple SD Gothic Neo"/>
                <a:ea typeface="Apple SD Gothic Neo"/>
              </a:rPr>
              <a:t>A9 실행 근거 요약 · A10 PV2 실험(2장) · A11 다음 검증 계획 · A12 경제성 산정 항목 · A13 예상 질문 · A14 출처·근거(4장) · A15 용어·설계 규칙(2장) · A16 미션 요구 대응</a:t>
            </a:r>
          </a:p>
        </p:txBody>
      </p:sp>
    </p:spTree>
    <p:extLst>
      <p:ext uri="{BB962C8B-B14F-4D97-AF65-F5344CB8AC3E}">
        <p14:creationId xmlns:p14="http://schemas.microsoft.com/office/powerpoint/2010/main" val="1976128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-326">
            <a:extLst>
              <a:ext uri="{FF2B5EF4-FFF2-40B4-BE49-F238E27FC236}">
                <a16:creationId xmlns:a16="http://schemas.microsoft.com/office/drawing/2014/main" id="{1B56CC67-38BC-4AFD-904F-59A8C889997D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6191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425" b="1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1425" b="1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rPr>
              <a:t>ContextWeld</a:t>
            </a:r>
          </a:p>
        </p:txBody>
      </p:sp>
      <p:sp>
        <p:nvSpPr>
          <p:cNvPr id="5" name="text-330">
            <a:extLst>
              <a:ext uri="{FF2B5EF4-FFF2-40B4-BE49-F238E27FC236}">
                <a16:creationId xmlns:a16="http://schemas.microsoft.com/office/drawing/2014/main" id="{002F4173-8818-43B9-9E11-AEF36EA40388}"/>
              </a:ext>
            </a:extLst>
          </p:cNvPr>
          <p:cNvSpPr>
            <a:spLocks noGrp="1"/>
          </p:cNvSpPr>
          <p:nvPr/>
        </p:nvSpPr>
        <p:spPr>
          <a:xfrm>
            <a:off x="666750" y="971550"/>
            <a:ext cx="1388745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600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3600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rPr>
              <a:t>ContextWeld 서비스 개요</a:t>
            </a:r>
          </a:p>
        </p:txBody>
      </p:sp>
      <p:sp>
        <p:nvSpPr>
          <p:cNvPr id="6" name="text-331">
            <a:extLst>
              <a:ext uri="{FF2B5EF4-FFF2-40B4-BE49-F238E27FC236}">
                <a16:creationId xmlns:a16="http://schemas.microsoft.com/office/drawing/2014/main" id="{58615FF2-DB71-4B98-82FF-947553EB73D4}"/>
              </a:ext>
            </a:extLst>
          </p:cNvPr>
          <p:cNvSpPr>
            <a:spLocks noGrp="1"/>
          </p:cNvSpPr>
          <p:nvPr/>
        </p:nvSpPr>
        <p:spPr>
          <a:xfrm>
            <a:off x="685800" y="8077200"/>
            <a:ext cx="6667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125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1125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rPr>
              <a:t>Static Duo</a:t>
            </a:r>
          </a:p>
        </p:txBody>
      </p:sp>
      <p:sp>
        <p:nvSpPr>
          <p:cNvPr id="7" name="text-332">
            <a:extLst>
              <a:ext uri="{FF2B5EF4-FFF2-40B4-BE49-F238E27FC236}">
                <a16:creationId xmlns:a16="http://schemas.microsoft.com/office/drawing/2014/main" id="{F3B25258-F41D-4802-9C41-8CFBC53F23D5}"/>
              </a:ext>
            </a:extLst>
          </p:cNvPr>
          <p:cNvSpPr>
            <a:spLocks noGrp="1"/>
          </p:cNvSpPr>
          <p:nvPr/>
        </p:nvSpPr>
        <p:spPr>
          <a:xfrm>
            <a:off x="13868400" y="8020050"/>
            <a:ext cx="6858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r">
              <a:buNone/>
              <a:defRPr sz="1350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8" name="text-333">
            <a:extLst>
              <a:ext uri="{FF2B5EF4-FFF2-40B4-BE49-F238E27FC236}">
                <a16:creationId xmlns:a16="http://schemas.microsoft.com/office/drawing/2014/main" id="{97D9CEDA-42A9-421D-B6BD-720699D641B5}"/>
              </a:ext>
            </a:extLst>
          </p:cNvPr>
          <p:cNvSpPr>
            <a:spLocks noGrp="1"/>
          </p:cNvSpPr>
          <p:nvPr/>
        </p:nvSpPr>
        <p:spPr>
          <a:xfrm>
            <a:off x="685800" y="2085975"/>
            <a:ext cx="30575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100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2100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rPr>
              <a:t>입력 자료</a:t>
            </a:r>
          </a:p>
        </p:txBody>
      </p:sp>
      <p:sp>
        <p:nvSpPr>
          <p:cNvPr id="9" name="text-334">
            <a:extLst>
              <a:ext uri="{FF2B5EF4-FFF2-40B4-BE49-F238E27FC236}">
                <a16:creationId xmlns:a16="http://schemas.microsoft.com/office/drawing/2014/main" id="{2085B996-5139-4F75-8C7D-75483FBA18B2}"/>
              </a:ext>
            </a:extLst>
          </p:cNvPr>
          <p:cNvSpPr>
            <a:spLocks noGrp="1"/>
          </p:cNvSpPr>
          <p:nvPr/>
        </p:nvSpPr>
        <p:spPr>
          <a:xfrm>
            <a:off x="4876800" y="2085975"/>
            <a:ext cx="54959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100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2100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rPr>
              <a:t>ContextWeld 서비스</a:t>
            </a:r>
          </a:p>
        </p:txBody>
      </p:sp>
      <p:sp>
        <p:nvSpPr>
          <p:cNvPr id="10" name="text-335">
            <a:extLst>
              <a:ext uri="{FF2B5EF4-FFF2-40B4-BE49-F238E27FC236}">
                <a16:creationId xmlns:a16="http://schemas.microsoft.com/office/drawing/2014/main" id="{AF09451C-10BD-44EE-855A-5BE52FE452FC}"/>
              </a:ext>
            </a:extLst>
          </p:cNvPr>
          <p:cNvSpPr>
            <a:spLocks noGrp="1"/>
          </p:cNvSpPr>
          <p:nvPr/>
        </p:nvSpPr>
        <p:spPr>
          <a:xfrm>
            <a:off x="11487150" y="2085975"/>
            <a:ext cx="30670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100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2100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rPr>
              <a:t>결과: 작업 정보</a:t>
            </a:r>
          </a:p>
        </p:txBody>
      </p:sp>
      <p:sp>
        <p:nvSpPr>
          <p:cNvPr id="11" name="rectangle-336">
            <a:extLst>
              <a:ext uri="{FF2B5EF4-FFF2-40B4-BE49-F238E27FC236}">
                <a16:creationId xmlns:a16="http://schemas.microsoft.com/office/drawing/2014/main" id="{898D1347-8782-445D-B6BC-F3C4BA914189}"/>
              </a:ext>
            </a:extLst>
          </p:cNvPr>
          <p:cNvSpPr>
            <a:spLocks noGrp="1"/>
          </p:cNvSpPr>
          <p:nvPr/>
        </p:nvSpPr>
        <p:spPr>
          <a:xfrm>
            <a:off x="685800" y="2847975"/>
            <a:ext cx="3057525" cy="752475"/>
          </a:xfrm>
          <a:prstGeom prst="rect">
            <a:avLst/>
          </a:prstGeom>
          <a:solidFill>
            <a:srgbClr val="F7F9FB"/>
          </a:solidFill>
          <a:ln w="0">
            <a:noFill/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12" name="그래픽 11">
            <a:extLst>
              <a:ext uri="{FF2B5EF4-FFF2-40B4-BE49-F238E27FC236}">
                <a16:creationId xmlns:a16="http://schemas.microsoft.com/office/drawing/2014/main" id="{4A3A011D-0D69-4AE0-A596-802BD41D24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66775" y="3009900"/>
            <a:ext cx="428625" cy="428625"/>
          </a:xfrm>
          <a:prstGeom prst="rect">
            <a:avLst/>
          </a:prstGeom>
        </p:spPr>
      </p:pic>
      <p:sp>
        <p:nvSpPr>
          <p:cNvPr id="13" name="text-337">
            <a:extLst>
              <a:ext uri="{FF2B5EF4-FFF2-40B4-BE49-F238E27FC236}">
                <a16:creationId xmlns:a16="http://schemas.microsoft.com/office/drawing/2014/main" id="{B257A926-5AA7-4006-BD40-C734ACEFCC35}"/>
              </a:ext>
            </a:extLst>
          </p:cNvPr>
          <p:cNvSpPr>
            <a:spLocks noGrp="1"/>
          </p:cNvSpPr>
          <p:nvPr/>
        </p:nvSpPr>
        <p:spPr>
          <a:xfrm>
            <a:off x="1476375" y="3028950"/>
            <a:ext cx="211455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2025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00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rPr>
              <a:t>현장 표기 사진</a:t>
            </a:r>
          </a:p>
        </p:txBody>
      </p:sp>
      <p:sp>
        <p:nvSpPr>
          <p:cNvPr id="14" name="rectangle-338">
            <a:extLst>
              <a:ext uri="{FF2B5EF4-FFF2-40B4-BE49-F238E27FC236}">
                <a16:creationId xmlns:a16="http://schemas.microsoft.com/office/drawing/2014/main" id="{A9E596F4-A455-4513-BF6F-BBD2156C099E}"/>
              </a:ext>
            </a:extLst>
          </p:cNvPr>
          <p:cNvSpPr>
            <a:spLocks noGrp="1"/>
          </p:cNvSpPr>
          <p:nvPr/>
        </p:nvSpPr>
        <p:spPr>
          <a:xfrm>
            <a:off x="685800" y="3810000"/>
            <a:ext cx="3057525" cy="752475"/>
          </a:xfrm>
          <a:prstGeom prst="rect">
            <a:avLst/>
          </a:prstGeom>
          <a:solidFill>
            <a:srgbClr val="F7F9FB"/>
          </a:solidFill>
          <a:ln w="0">
            <a:noFill/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15" name="그래픽 14">
            <a:extLst>
              <a:ext uri="{FF2B5EF4-FFF2-40B4-BE49-F238E27FC236}">
                <a16:creationId xmlns:a16="http://schemas.microsoft.com/office/drawing/2014/main" id="{7CF0F1B6-F977-4349-83D6-509DBAEAA7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866775" y="3971925"/>
            <a:ext cx="428625" cy="428625"/>
          </a:xfrm>
          <a:prstGeom prst="rect">
            <a:avLst/>
          </a:prstGeom>
        </p:spPr>
      </p:pic>
      <p:sp>
        <p:nvSpPr>
          <p:cNvPr id="16" name="text-339">
            <a:extLst>
              <a:ext uri="{FF2B5EF4-FFF2-40B4-BE49-F238E27FC236}">
                <a16:creationId xmlns:a16="http://schemas.microsoft.com/office/drawing/2014/main" id="{4FC63CAC-8CA0-4DCB-80EF-D7F2F8B9A105}"/>
              </a:ext>
            </a:extLst>
          </p:cNvPr>
          <p:cNvSpPr>
            <a:spLocks noGrp="1"/>
          </p:cNvSpPr>
          <p:nvPr/>
        </p:nvSpPr>
        <p:spPr>
          <a:xfrm>
            <a:off x="1476375" y="3990975"/>
            <a:ext cx="211455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2025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00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rPr>
              <a:t>작업지시·도면·WPS</a:t>
            </a:r>
          </a:p>
        </p:txBody>
      </p:sp>
      <p:sp>
        <p:nvSpPr>
          <p:cNvPr id="17" name="rectangle-340">
            <a:extLst>
              <a:ext uri="{FF2B5EF4-FFF2-40B4-BE49-F238E27FC236}">
                <a16:creationId xmlns:a16="http://schemas.microsoft.com/office/drawing/2014/main" id="{CBBC0A47-6340-4AF6-A342-3F8A72DBAD9C}"/>
              </a:ext>
            </a:extLst>
          </p:cNvPr>
          <p:cNvSpPr>
            <a:spLocks noGrp="1"/>
          </p:cNvSpPr>
          <p:nvPr/>
        </p:nvSpPr>
        <p:spPr>
          <a:xfrm>
            <a:off x="685800" y="4772025"/>
            <a:ext cx="3057525" cy="752475"/>
          </a:xfrm>
          <a:prstGeom prst="rect">
            <a:avLst/>
          </a:prstGeom>
          <a:solidFill>
            <a:srgbClr val="F7F9FB"/>
          </a:solidFill>
          <a:ln w="0">
            <a:noFill/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18" name="그래픽 17">
            <a:extLst>
              <a:ext uri="{FF2B5EF4-FFF2-40B4-BE49-F238E27FC236}">
                <a16:creationId xmlns:a16="http://schemas.microsoft.com/office/drawing/2014/main" id="{74556CDE-4BFA-410C-B483-460D72681D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866775" y="4933950"/>
            <a:ext cx="428625" cy="428625"/>
          </a:xfrm>
          <a:prstGeom prst="rect">
            <a:avLst/>
          </a:prstGeom>
        </p:spPr>
      </p:pic>
      <p:sp>
        <p:nvSpPr>
          <p:cNvPr id="19" name="text-341">
            <a:extLst>
              <a:ext uri="{FF2B5EF4-FFF2-40B4-BE49-F238E27FC236}">
                <a16:creationId xmlns:a16="http://schemas.microsoft.com/office/drawing/2014/main" id="{1DC11DF9-1FBC-441C-8122-7C1ED12B1AC4}"/>
              </a:ext>
            </a:extLst>
          </p:cNvPr>
          <p:cNvSpPr>
            <a:spLocks noGrp="1"/>
          </p:cNvSpPr>
          <p:nvPr/>
        </p:nvSpPr>
        <p:spPr>
          <a:xfrm>
            <a:off x="1476375" y="4953000"/>
            <a:ext cx="211455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2025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00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rPr>
              <a:t>좌표·수신 조건(별도)</a:t>
            </a:r>
          </a:p>
        </p:txBody>
      </p:sp>
      <p:sp>
        <p:nvSpPr>
          <p:cNvPr id="20" name="rectangle-342">
            <a:extLst>
              <a:ext uri="{FF2B5EF4-FFF2-40B4-BE49-F238E27FC236}">
                <a16:creationId xmlns:a16="http://schemas.microsoft.com/office/drawing/2014/main" id="{7B014E3C-11B4-481A-84CD-F0F0454AB475}"/>
              </a:ext>
            </a:extLst>
          </p:cNvPr>
          <p:cNvSpPr>
            <a:spLocks noGrp="1"/>
          </p:cNvSpPr>
          <p:nvPr/>
        </p:nvSpPr>
        <p:spPr>
          <a:xfrm>
            <a:off x="4876800" y="2847975"/>
            <a:ext cx="5495925" cy="2886075"/>
          </a:xfrm>
          <a:prstGeom prst="rect">
            <a:avLst/>
          </a:prstGeom>
          <a:solidFill>
            <a:srgbClr val="FFFFFF"/>
          </a:solidFill>
          <a:ln w="14288">
            <a:solidFill>
              <a:srgbClr val="D4DCE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1" name="rectangle-343">
            <a:extLst>
              <a:ext uri="{FF2B5EF4-FFF2-40B4-BE49-F238E27FC236}">
                <a16:creationId xmlns:a16="http://schemas.microsoft.com/office/drawing/2014/main" id="{4C946591-29B9-45AB-8373-BD1E59A1928E}"/>
              </a:ext>
            </a:extLst>
          </p:cNvPr>
          <p:cNvSpPr>
            <a:spLocks noGrp="1"/>
          </p:cNvSpPr>
          <p:nvPr/>
        </p:nvSpPr>
        <p:spPr>
          <a:xfrm>
            <a:off x="4876800" y="2847975"/>
            <a:ext cx="5495925" cy="600075"/>
          </a:xfrm>
          <a:prstGeom prst="rect">
            <a:avLst/>
          </a:prstGeom>
          <a:solidFill>
            <a:srgbClr val="EDF2FA"/>
          </a:solidFill>
          <a:ln w="0">
            <a:noFill/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2" name="text-344">
            <a:extLst>
              <a:ext uri="{FF2B5EF4-FFF2-40B4-BE49-F238E27FC236}">
                <a16:creationId xmlns:a16="http://schemas.microsoft.com/office/drawing/2014/main" id="{126DCCEC-0A15-4FE1-AF7D-5EE6A750737E}"/>
              </a:ext>
            </a:extLst>
          </p:cNvPr>
          <p:cNvSpPr>
            <a:spLocks noGrp="1"/>
          </p:cNvSpPr>
          <p:nvPr/>
        </p:nvSpPr>
        <p:spPr>
          <a:xfrm>
            <a:off x="5105400" y="2924175"/>
            <a:ext cx="5038725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175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ctr">
              <a:buNone/>
              <a:defRPr sz="2175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rPr>
              <a:t>자동화할 업무</a:t>
            </a:r>
          </a:p>
        </p:txBody>
      </p:sp>
      <p:sp>
        <p:nvSpPr>
          <p:cNvPr id="23" name="diagram-node-345">
            <a:extLst>
              <a:ext uri="{FF2B5EF4-FFF2-40B4-BE49-F238E27FC236}">
                <a16:creationId xmlns:a16="http://schemas.microsoft.com/office/drawing/2014/main" id="{1A5BAF26-85D8-43B4-AA8C-8D39499EDD95}"/>
              </a:ext>
            </a:extLst>
          </p:cNvPr>
          <p:cNvSpPr>
            <a:spLocks noGrp="1"/>
          </p:cNvSpPr>
          <p:nvPr/>
        </p:nvSpPr>
        <p:spPr>
          <a:xfrm>
            <a:off x="5181600" y="3714750"/>
            <a:ext cx="4886325" cy="438150"/>
          </a:xfrm>
          <a:prstGeom prst="rect">
            <a:avLst/>
          </a:prstGeom>
          <a:solidFill>
            <a:srgbClr val="F3F5F8"/>
          </a:solidFill>
          <a:ln w="14288">
            <a:noFill/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4" name="text-346">
            <a:extLst>
              <a:ext uri="{FF2B5EF4-FFF2-40B4-BE49-F238E27FC236}">
                <a16:creationId xmlns:a16="http://schemas.microsoft.com/office/drawing/2014/main" id="{A220A7E5-0070-4C55-9844-A66857FD0AC7}"/>
              </a:ext>
            </a:extLst>
          </p:cNvPr>
          <p:cNvSpPr>
            <a:spLocks noGrp="1"/>
          </p:cNvSpPr>
          <p:nvPr/>
        </p:nvSpPr>
        <p:spPr>
          <a:xfrm>
            <a:off x="5276850" y="3752850"/>
            <a:ext cx="469582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025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ctr">
              <a:buNone/>
              <a:defRPr sz="2025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rPr>
              <a:t>표기 확인 → 대상 연결</a:t>
            </a:r>
          </a:p>
        </p:txBody>
      </p:sp>
      <p:sp>
        <p:nvSpPr>
          <p:cNvPr id="25" name="diagram-node-347">
            <a:extLst>
              <a:ext uri="{FF2B5EF4-FFF2-40B4-BE49-F238E27FC236}">
                <a16:creationId xmlns:a16="http://schemas.microsoft.com/office/drawing/2014/main" id="{80A4851D-FD0E-458F-A8DB-771766F9F244}"/>
              </a:ext>
            </a:extLst>
          </p:cNvPr>
          <p:cNvSpPr>
            <a:spLocks noGrp="1"/>
          </p:cNvSpPr>
          <p:nvPr/>
        </p:nvSpPr>
        <p:spPr>
          <a:xfrm>
            <a:off x="5181600" y="4333875"/>
            <a:ext cx="4886325" cy="438150"/>
          </a:xfrm>
          <a:prstGeom prst="rect">
            <a:avLst/>
          </a:prstGeom>
          <a:solidFill>
            <a:srgbClr val="F3F5F8"/>
          </a:solidFill>
          <a:ln w="14288">
            <a:noFill/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6" name="text-348">
            <a:extLst>
              <a:ext uri="{FF2B5EF4-FFF2-40B4-BE49-F238E27FC236}">
                <a16:creationId xmlns:a16="http://schemas.microsoft.com/office/drawing/2014/main" id="{5350A860-F28D-40DE-A4B4-AAE939B73DA9}"/>
              </a:ext>
            </a:extLst>
          </p:cNvPr>
          <p:cNvSpPr>
            <a:spLocks noGrp="1"/>
          </p:cNvSpPr>
          <p:nvPr/>
        </p:nvSpPr>
        <p:spPr>
          <a:xfrm>
            <a:off x="5276850" y="4371975"/>
            <a:ext cx="469582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025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ctr">
              <a:buNone/>
              <a:defRPr sz="2025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rPr>
              <a:t>문서 조회 → 조건 확인</a:t>
            </a:r>
          </a:p>
        </p:txBody>
      </p:sp>
      <p:sp>
        <p:nvSpPr>
          <p:cNvPr id="27" name="diagram-node-349">
            <a:extLst>
              <a:ext uri="{FF2B5EF4-FFF2-40B4-BE49-F238E27FC236}">
                <a16:creationId xmlns:a16="http://schemas.microsoft.com/office/drawing/2014/main" id="{1DDB1AD5-CEE2-47CC-8AE6-9368AC40DCD8}"/>
              </a:ext>
            </a:extLst>
          </p:cNvPr>
          <p:cNvSpPr>
            <a:spLocks noGrp="1"/>
          </p:cNvSpPr>
          <p:nvPr/>
        </p:nvSpPr>
        <p:spPr>
          <a:xfrm>
            <a:off x="5181600" y="4953000"/>
            <a:ext cx="4886325" cy="438150"/>
          </a:xfrm>
          <a:prstGeom prst="rect">
            <a:avLst/>
          </a:prstGeom>
          <a:solidFill>
            <a:srgbClr val="ECF5EF"/>
          </a:solidFill>
          <a:ln w="14288">
            <a:noFill/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8" name="text-350">
            <a:extLst>
              <a:ext uri="{FF2B5EF4-FFF2-40B4-BE49-F238E27FC236}">
                <a16:creationId xmlns:a16="http://schemas.microsoft.com/office/drawing/2014/main" id="{4A4B27D3-4AC4-46C8-A181-B55CC3EAB68C}"/>
              </a:ext>
            </a:extLst>
          </p:cNvPr>
          <p:cNvSpPr>
            <a:spLocks noGrp="1"/>
          </p:cNvSpPr>
          <p:nvPr/>
        </p:nvSpPr>
        <p:spPr>
          <a:xfrm>
            <a:off x="5276850" y="4991100"/>
            <a:ext cx="469582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025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ctr">
              <a:buNone/>
              <a:defRPr sz="2025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rPr>
              <a:t>장비용 작업 정보 준비</a:t>
            </a:r>
          </a:p>
        </p:txBody>
      </p:sp>
      <p:sp>
        <p:nvSpPr>
          <p:cNvPr id="29" name="rectangle-351">
            <a:extLst>
              <a:ext uri="{FF2B5EF4-FFF2-40B4-BE49-F238E27FC236}">
                <a16:creationId xmlns:a16="http://schemas.microsoft.com/office/drawing/2014/main" id="{A7045916-900A-4743-883B-A5785AB1BDB5}"/>
              </a:ext>
            </a:extLst>
          </p:cNvPr>
          <p:cNvSpPr>
            <a:spLocks noGrp="1"/>
          </p:cNvSpPr>
          <p:nvPr/>
        </p:nvSpPr>
        <p:spPr>
          <a:xfrm>
            <a:off x="11487150" y="2847975"/>
            <a:ext cx="3067050" cy="752475"/>
          </a:xfrm>
          <a:prstGeom prst="rect">
            <a:avLst/>
          </a:prstGeom>
          <a:solidFill>
            <a:srgbClr val="ECF5EF"/>
          </a:solidFill>
          <a:ln w="0">
            <a:noFill/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0" name="text-352">
            <a:extLst>
              <a:ext uri="{FF2B5EF4-FFF2-40B4-BE49-F238E27FC236}">
                <a16:creationId xmlns:a16="http://schemas.microsoft.com/office/drawing/2014/main" id="{A9A409CE-1332-401A-ABC6-0A427ED3A481}"/>
              </a:ext>
            </a:extLst>
          </p:cNvPr>
          <p:cNvSpPr>
            <a:spLocks noGrp="1"/>
          </p:cNvSpPr>
          <p:nvPr/>
        </p:nvSpPr>
        <p:spPr>
          <a:xfrm>
            <a:off x="11677650" y="3019425"/>
            <a:ext cx="268605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025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ctr">
              <a:buNone/>
              <a:defRPr sz="2025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rPr>
              <a:t>어느 부재 · 어느 용접부</a:t>
            </a:r>
          </a:p>
        </p:txBody>
      </p:sp>
      <p:sp>
        <p:nvSpPr>
          <p:cNvPr id="31" name="rectangle-353">
            <a:extLst>
              <a:ext uri="{FF2B5EF4-FFF2-40B4-BE49-F238E27FC236}">
                <a16:creationId xmlns:a16="http://schemas.microsoft.com/office/drawing/2014/main" id="{9DE4A861-747E-4582-8931-44C31FE0C8A4}"/>
              </a:ext>
            </a:extLst>
          </p:cNvPr>
          <p:cNvSpPr>
            <a:spLocks noGrp="1"/>
          </p:cNvSpPr>
          <p:nvPr/>
        </p:nvSpPr>
        <p:spPr>
          <a:xfrm>
            <a:off x="11487150" y="3810000"/>
            <a:ext cx="3067050" cy="752475"/>
          </a:xfrm>
          <a:prstGeom prst="rect">
            <a:avLst/>
          </a:prstGeom>
          <a:solidFill>
            <a:srgbClr val="ECF5EF"/>
          </a:solidFill>
          <a:ln w="0">
            <a:noFill/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2" name="text-354">
            <a:extLst>
              <a:ext uri="{FF2B5EF4-FFF2-40B4-BE49-F238E27FC236}">
                <a16:creationId xmlns:a16="http://schemas.microsoft.com/office/drawing/2014/main" id="{C578B509-02A0-4E71-8A8C-4571B2C68CB5}"/>
              </a:ext>
            </a:extLst>
          </p:cNvPr>
          <p:cNvSpPr>
            <a:spLocks noGrp="1"/>
          </p:cNvSpPr>
          <p:nvPr/>
        </p:nvSpPr>
        <p:spPr>
          <a:xfrm>
            <a:off x="11677650" y="3981450"/>
            <a:ext cx="268605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025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ctr">
              <a:buNone/>
              <a:defRPr sz="2025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rPr>
              <a:t>어떤 조건 (출처·단위)</a:t>
            </a:r>
          </a:p>
        </p:txBody>
      </p:sp>
      <p:sp>
        <p:nvSpPr>
          <p:cNvPr id="33" name="rectangle-355">
            <a:extLst>
              <a:ext uri="{FF2B5EF4-FFF2-40B4-BE49-F238E27FC236}">
                <a16:creationId xmlns:a16="http://schemas.microsoft.com/office/drawing/2014/main" id="{A59FD2B6-15CB-4E98-AFF4-DB4C8B9B8667}"/>
              </a:ext>
            </a:extLst>
          </p:cNvPr>
          <p:cNvSpPr>
            <a:spLocks noGrp="1"/>
          </p:cNvSpPr>
          <p:nvPr/>
        </p:nvSpPr>
        <p:spPr>
          <a:xfrm>
            <a:off x="11487150" y="4772025"/>
            <a:ext cx="3067050" cy="752475"/>
          </a:xfrm>
          <a:prstGeom prst="rect">
            <a:avLst/>
          </a:prstGeom>
          <a:solidFill>
            <a:srgbClr val="00843D"/>
          </a:solidFill>
          <a:ln w="0">
            <a:noFill/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4" name="text-356">
            <a:extLst>
              <a:ext uri="{FF2B5EF4-FFF2-40B4-BE49-F238E27FC236}">
                <a16:creationId xmlns:a16="http://schemas.microsoft.com/office/drawing/2014/main" id="{82F2DBAE-18B1-4CEF-A5FA-E52D7D2B3A30}"/>
              </a:ext>
            </a:extLst>
          </p:cNvPr>
          <p:cNvSpPr>
            <a:spLocks noGrp="1"/>
          </p:cNvSpPr>
          <p:nvPr/>
        </p:nvSpPr>
        <p:spPr>
          <a:xfrm>
            <a:off x="11677650" y="4943475"/>
            <a:ext cx="268605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ctr"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전달 가능 상태 (설명용 형식)</a:t>
            </a:r>
          </a:p>
        </p:txBody>
      </p:sp>
      <p:sp>
        <p:nvSpPr>
          <p:cNvPr id="35" name="rule-357">
            <a:extLst>
              <a:ext uri="{FF2B5EF4-FFF2-40B4-BE49-F238E27FC236}">
                <a16:creationId xmlns:a16="http://schemas.microsoft.com/office/drawing/2014/main" id="{39C0B21D-5116-4A24-9179-EB97DD271165}"/>
              </a:ext>
            </a:extLst>
          </p:cNvPr>
          <p:cNvSpPr>
            <a:spLocks noGrp="1"/>
          </p:cNvSpPr>
          <p:nvPr/>
        </p:nvSpPr>
        <p:spPr>
          <a:xfrm>
            <a:off x="3943350" y="4276725"/>
            <a:ext cx="714375" cy="95"/>
          </a:xfrm>
          <a:prstGeom prst="line">
            <a:avLst/>
          </a:prstGeom>
          <a:noFill/>
          <a:ln w="1905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6" name="diagram-arrow-358">
            <a:extLst>
              <a:ext uri="{FF2B5EF4-FFF2-40B4-BE49-F238E27FC236}">
                <a16:creationId xmlns:a16="http://schemas.microsoft.com/office/drawing/2014/main" id="{AE9F1C32-C600-4AA3-91DA-D3182333AA0E}"/>
              </a:ext>
            </a:extLst>
          </p:cNvPr>
          <p:cNvSpPr>
            <a:spLocks noGrp="1"/>
          </p:cNvSpPr>
          <p:nvPr/>
        </p:nvSpPr>
        <p:spPr>
          <a:xfrm>
            <a:off x="4581525" y="4229100"/>
            <a:ext cx="76200" cy="95250"/>
          </a:xfrm>
          <a:custGeom>
            <a:avLst/>
            <a:gdLst/>
            <a:ahLst/>
            <a:cxnLst/>
            <a:rect l="0" t="0" r="0" b="0"/>
            <a:pathLst>
              <a:path w="76200" h="95250">
                <a:moveTo>
                  <a:pt x="0" y="0"/>
                </a:moveTo>
                <a:lnTo>
                  <a:pt x="76200" y="47625"/>
                </a:lnTo>
                <a:lnTo>
                  <a:pt x="0" y="95250"/>
                </a:lnTo>
                <a:close/>
              </a:path>
            </a:pathLst>
          </a:custGeom>
          <a:solidFill>
            <a:srgbClr val="003087"/>
          </a:solidFill>
          <a:ln w="0">
            <a:noFill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7" name="rule-359">
            <a:extLst>
              <a:ext uri="{FF2B5EF4-FFF2-40B4-BE49-F238E27FC236}">
                <a16:creationId xmlns:a16="http://schemas.microsoft.com/office/drawing/2014/main" id="{95E74964-8F84-4DE4-B00A-8B843D4CAE8A}"/>
              </a:ext>
            </a:extLst>
          </p:cNvPr>
          <p:cNvSpPr>
            <a:spLocks noGrp="1"/>
          </p:cNvSpPr>
          <p:nvPr/>
        </p:nvSpPr>
        <p:spPr>
          <a:xfrm>
            <a:off x="10582275" y="4276725"/>
            <a:ext cx="685800" cy="95"/>
          </a:xfrm>
          <a:prstGeom prst="line">
            <a:avLst/>
          </a:prstGeom>
          <a:noFill/>
          <a:ln w="19050">
            <a:solidFill>
              <a:srgbClr val="00843D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8" name="diagram-arrow-360">
            <a:extLst>
              <a:ext uri="{FF2B5EF4-FFF2-40B4-BE49-F238E27FC236}">
                <a16:creationId xmlns:a16="http://schemas.microsoft.com/office/drawing/2014/main" id="{7944D83F-06F8-4C58-8F1D-1C47923E60EE}"/>
              </a:ext>
            </a:extLst>
          </p:cNvPr>
          <p:cNvSpPr>
            <a:spLocks noGrp="1"/>
          </p:cNvSpPr>
          <p:nvPr/>
        </p:nvSpPr>
        <p:spPr>
          <a:xfrm>
            <a:off x="11191875" y="4229100"/>
            <a:ext cx="76200" cy="95250"/>
          </a:xfrm>
          <a:custGeom>
            <a:avLst/>
            <a:gdLst/>
            <a:ahLst/>
            <a:cxnLst/>
            <a:rect l="0" t="0" r="0" b="0"/>
            <a:pathLst>
              <a:path w="76200" h="95250">
                <a:moveTo>
                  <a:pt x="0" y="0"/>
                </a:moveTo>
                <a:lnTo>
                  <a:pt x="76200" y="47625"/>
                </a:lnTo>
                <a:lnTo>
                  <a:pt x="0" y="95250"/>
                </a:lnTo>
                <a:close/>
              </a:path>
            </a:pathLst>
          </a:custGeom>
          <a:solidFill>
            <a:srgbClr val="00843D"/>
          </a:solidFill>
          <a:ln w="0">
            <a:noFill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9" name="rule-361">
            <a:extLst>
              <a:ext uri="{FF2B5EF4-FFF2-40B4-BE49-F238E27FC236}">
                <a16:creationId xmlns:a16="http://schemas.microsoft.com/office/drawing/2014/main" id="{7B8D2AB1-A145-4A39-8CF4-E86C6EC2640C}"/>
              </a:ext>
            </a:extLst>
          </p:cNvPr>
          <p:cNvSpPr>
            <a:spLocks noGrp="1"/>
          </p:cNvSpPr>
          <p:nvPr/>
        </p:nvSpPr>
        <p:spPr>
          <a:xfrm>
            <a:off x="685800" y="6229350"/>
            <a:ext cx="13868400" cy="95"/>
          </a:xfrm>
          <a:prstGeom prst="line">
            <a:avLst/>
          </a:prstGeom>
          <a:noFill/>
          <a:ln w="14288">
            <a:solidFill>
              <a:srgbClr val="D4DCE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0" name="text-362">
            <a:extLst>
              <a:ext uri="{FF2B5EF4-FFF2-40B4-BE49-F238E27FC236}">
                <a16:creationId xmlns:a16="http://schemas.microsoft.com/office/drawing/2014/main" id="{8077B820-9EAC-4281-B316-1A60204C09E8}"/>
              </a:ext>
            </a:extLst>
          </p:cNvPr>
          <p:cNvSpPr>
            <a:spLocks noGrp="1"/>
          </p:cNvSpPr>
          <p:nvPr/>
        </p:nvSpPr>
        <p:spPr>
          <a:xfrm>
            <a:off x="685800" y="6638925"/>
            <a:ext cx="657225" cy="561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075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3075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75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41" name="text-363">
            <a:extLst>
              <a:ext uri="{FF2B5EF4-FFF2-40B4-BE49-F238E27FC236}">
                <a16:creationId xmlns:a16="http://schemas.microsoft.com/office/drawing/2014/main" id="{46202247-9DE6-4D7D-814E-AFD84AA42019}"/>
              </a:ext>
            </a:extLst>
          </p:cNvPr>
          <p:cNvSpPr>
            <a:spLocks noGrp="1"/>
          </p:cNvSpPr>
          <p:nvPr/>
        </p:nvSpPr>
        <p:spPr>
          <a:xfrm>
            <a:off x="1581150" y="6543675"/>
            <a:ext cx="30861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250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2250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rPr>
              <a:t>정상 작업</a:t>
            </a:r>
          </a:p>
        </p:txBody>
      </p:sp>
      <p:sp>
        <p:nvSpPr>
          <p:cNvPr id="42" name="text-364">
            <a:extLst>
              <a:ext uri="{FF2B5EF4-FFF2-40B4-BE49-F238E27FC236}">
                <a16:creationId xmlns:a16="http://schemas.microsoft.com/office/drawing/2014/main" id="{4910E7BF-661E-4D2E-9CBF-EF7EFAC9771C}"/>
              </a:ext>
            </a:extLst>
          </p:cNvPr>
          <p:cNvSpPr>
            <a:spLocks noGrp="1"/>
          </p:cNvSpPr>
          <p:nvPr/>
        </p:nvSpPr>
        <p:spPr>
          <a:xfrm>
            <a:off x="1581150" y="7105650"/>
            <a:ext cx="30861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950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1950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00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rPr>
              <a:t>자동 진행 → 전달</a:t>
            </a:r>
          </a:p>
        </p:txBody>
      </p:sp>
      <p:sp>
        <p:nvSpPr>
          <p:cNvPr id="43" name="text-365">
            <a:extLst>
              <a:ext uri="{FF2B5EF4-FFF2-40B4-BE49-F238E27FC236}">
                <a16:creationId xmlns:a16="http://schemas.microsoft.com/office/drawing/2014/main" id="{495B76EC-04D0-483A-A0FB-991140E00CB9}"/>
              </a:ext>
            </a:extLst>
          </p:cNvPr>
          <p:cNvSpPr>
            <a:spLocks noGrp="1"/>
          </p:cNvSpPr>
          <p:nvPr/>
        </p:nvSpPr>
        <p:spPr>
          <a:xfrm>
            <a:off x="5619750" y="6638925"/>
            <a:ext cx="657225" cy="561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075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3075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75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44" name="text-366">
            <a:extLst>
              <a:ext uri="{FF2B5EF4-FFF2-40B4-BE49-F238E27FC236}">
                <a16:creationId xmlns:a16="http://schemas.microsoft.com/office/drawing/2014/main" id="{8C8FD412-6E9A-4A86-894E-D2B6E11F7930}"/>
              </a:ext>
            </a:extLst>
          </p:cNvPr>
          <p:cNvSpPr>
            <a:spLocks noGrp="1"/>
          </p:cNvSpPr>
          <p:nvPr/>
        </p:nvSpPr>
        <p:spPr>
          <a:xfrm>
            <a:off x="6515100" y="6543675"/>
            <a:ext cx="30861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250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2250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rPr>
              <a:t>정보 부족</a:t>
            </a:r>
          </a:p>
        </p:txBody>
      </p:sp>
      <p:sp>
        <p:nvSpPr>
          <p:cNvPr id="45" name="text-367">
            <a:extLst>
              <a:ext uri="{FF2B5EF4-FFF2-40B4-BE49-F238E27FC236}">
                <a16:creationId xmlns:a16="http://schemas.microsoft.com/office/drawing/2014/main" id="{434D26EB-0C08-4027-9CB1-9216F4B979A1}"/>
              </a:ext>
            </a:extLst>
          </p:cNvPr>
          <p:cNvSpPr>
            <a:spLocks noGrp="1"/>
          </p:cNvSpPr>
          <p:nvPr/>
        </p:nvSpPr>
        <p:spPr>
          <a:xfrm>
            <a:off x="6515100" y="7105650"/>
            <a:ext cx="30861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950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1950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00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rPr>
              <a:t>원인별 보완 (재촬영·재해석·재조회)</a:t>
            </a:r>
          </a:p>
        </p:txBody>
      </p:sp>
      <p:sp>
        <p:nvSpPr>
          <p:cNvPr id="46" name="text-368">
            <a:extLst>
              <a:ext uri="{FF2B5EF4-FFF2-40B4-BE49-F238E27FC236}">
                <a16:creationId xmlns:a16="http://schemas.microsoft.com/office/drawing/2014/main" id="{0CF8DF24-CD7F-4DA9-8E0E-D4C61AE6CF16}"/>
              </a:ext>
            </a:extLst>
          </p:cNvPr>
          <p:cNvSpPr>
            <a:spLocks noGrp="1"/>
          </p:cNvSpPr>
          <p:nvPr/>
        </p:nvSpPr>
        <p:spPr>
          <a:xfrm>
            <a:off x="10553700" y="6638925"/>
            <a:ext cx="657225" cy="561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075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3075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75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47" name="text-369">
            <a:extLst>
              <a:ext uri="{FF2B5EF4-FFF2-40B4-BE49-F238E27FC236}">
                <a16:creationId xmlns:a16="http://schemas.microsoft.com/office/drawing/2014/main" id="{53FD20C4-2944-444E-AE08-2C2D21D79078}"/>
              </a:ext>
            </a:extLst>
          </p:cNvPr>
          <p:cNvSpPr>
            <a:spLocks noGrp="1"/>
          </p:cNvSpPr>
          <p:nvPr/>
        </p:nvSpPr>
        <p:spPr>
          <a:xfrm>
            <a:off x="11449050" y="6543675"/>
            <a:ext cx="30861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250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2250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rPr>
              <a:t>예외</a:t>
            </a:r>
          </a:p>
        </p:txBody>
      </p:sp>
      <p:sp>
        <p:nvSpPr>
          <p:cNvPr id="48" name="text-370">
            <a:extLst>
              <a:ext uri="{FF2B5EF4-FFF2-40B4-BE49-F238E27FC236}">
                <a16:creationId xmlns:a16="http://schemas.microsoft.com/office/drawing/2014/main" id="{E6775349-45BA-40CC-8E62-F347D564EC4E}"/>
              </a:ext>
            </a:extLst>
          </p:cNvPr>
          <p:cNvSpPr>
            <a:spLocks noGrp="1"/>
          </p:cNvSpPr>
          <p:nvPr/>
        </p:nvSpPr>
        <p:spPr>
          <a:xfrm>
            <a:off x="11449050" y="7105650"/>
            <a:ext cx="30861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950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1950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00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rPr>
              <a:t>자동 해결이 안 되면 확인 요청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4000" y="7722000"/>
            <a:ext cx="138708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50" b="0">
                <a:solidFill>
                  <a:srgbClr val="687584"/>
                </a:solidFill>
                <a:latin typeface="Apple SD Gothic Neo"/>
                <a:ea typeface="Apple SD Gothic Neo"/>
              </a:rPr>
              <a:t>서비스 전체 동작은 목표 설계 · 대표 작업 설명용 예시이며 고객의 현재 업무를 단정하지 않음 · 개별 실행 근거(E16·E17·E21)를 하나의 통합 성공 사례로 합치지 않음 · 결과 값은 설명용 형식 · 별첨 A1-1</a:t>
            </a:r>
          </a:p>
        </p:txBody>
      </p:sp>
    </p:spTree>
    <p:extLst>
      <p:ext uri="{BB962C8B-B14F-4D97-AF65-F5344CB8AC3E}">
        <p14:creationId xmlns:p14="http://schemas.microsoft.com/office/powerpoint/2010/main" val="3494094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7600" y="381600"/>
            <a:ext cx="61920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1">
                <a:solidFill>
                  <a:srgbClr val="002554"/>
                </a:solidFill>
                <a:latin typeface="Apple SD Gothic Neo"/>
                <a:ea typeface="Apple SD Gothic Neo"/>
              </a:rPr>
              <a:t>ContextWeld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6000" y="917999"/>
            <a:ext cx="13896000" cy="54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600" b="1">
                <a:solidFill>
                  <a:srgbClr val="002554"/>
                </a:solidFill>
                <a:latin typeface="Apple SD Gothic Neo"/>
                <a:ea typeface="Apple SD Gothic Neo"/>
              </a:rPr>
              <a:t>자동화를 이어가는 전체 처리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000" y="1440000"/>
            <a:ext cx="138960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50" b="0">
                <a:solidFill>
                  <a:srgbClr val="526477"/>
                </a:solidFill>
                <a:latin typeface="Apple SD Gothic Neo"/>
                <a:ea typeface="Apple SD Gothic Neo"/>
              </a:rPr>
              <a:t>입력·판독과 관계 해석·문서 검증·장비 전달을 연결하고, 문제 원인에 맞춰 필요한 단계로 돌아가는 목표 설계 · 실선=처리 / 점선=재촬영·확인·수정 복귀 / 회색 점선=장비 연계</a:t>
            </a:r>
          </a:p>
        </p:txBody>
      </p:sp>
      <p:pic>
        <p:nvPicPr>
          <p:cNvPr id="5" name="Picture 4" descr="system-structure-v2-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7200" y="1782000"/>
            <a:ext cx="9273600" cy="579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7600" y="8078400"/>
            <a:ext cx="6660000" cy="2376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0">
                <a:solidFill>
                  <a:srgbClr val="687584"/>
                </a:solidFill>
                <a:latin typeface="Apple SD Gothic Neo"/>
                <a:ea typeface="Apple SD Gothic Neo"/>
              </a:rPr>
              <a:t>Static Duo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40000" y="8020800"/>
            <a:ext cx="1404000" cy="30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1350" b="0">
                <a:solidFill>
                  <a:srgbClr val="687584"/>
                </a:solidFill>
                <a:latin typeface="Apple SD Gothic Neo"/>
                <a:ea typeface="Apple SD Gothic Neo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4000" y="7722000"/>
            <a:ext cx="138708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50" b="0">
                <a:solidFill>
                  <a:srgbClr val="687584"/>
                </a:solidFill>
                <a:latin typeface="Apple SD Gothic Neo"/>
                <a:ea typeface="Apple SD Gothic Neo"/>
              </a:rPr>
              <a:t>AI 추론=인식·비정형 해석 / 명시적 로직=조회·검사·상태·전달 · 현재 실행: 저장 관측→문서 데모→모의 수신 · Isaac 관측·전체 연결, 관계 해석 자동 연결 [후속] · 별첨 A1-1·A1-2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99302-7046-0EF1-B7F8-9DBC308CE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-173">
            <a:extLst>
              <a:ext uri="{FF2B5EF4-FFF2-40B4-BE49-F238E27FC236}">
                <a16:creationId xmlns:a16="http://schemas.microsoft.com/office/drawing/2014/main" id="{85660990-D573-4E22-0D9D-B8BE901303D7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6191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425" b="1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1425" b="1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rPr>
              <a:t>ContextWeld</a:t>
            </a:r>
          </a:p>
        </p:txBody>
      </p:sp>
      <p:sp>
        <p:nvSpPr>
          <p:cNvPr id="12" name="text-177">
            <a:extLst>
              <a:ext uri="{FF2B5EF4-FFF2-40B4-BE49-F238E27FC236}">
                <a16:creationId xmlns:a16="http://schemas.microsoft.com/office/drawing/2014/main" id="{4CB077EA-6696-E8CE-4796-F8A038B62C9E}"/>
              </a:ext>
            </a:extLst>
          </p:cNvPr>
          <p:cNvSpPr>
            <a:spLocks noGrp="1"/>
          </p:cNvSpPr>
          <p:nvPr/>
        </p:nvSpPr>
        <p:spPr>
          <a:xfrm>
            <a:off x="666750" y="971550"/>
            <a:ext cx="1388745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600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>
              <a:defRPr sz="3600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 dirty="0" err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rPr>
              <a:t>입력</a:t>
            </a:r>
            <a:r>
              <a:rPr sz="3600" b="1" dirty="0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3600" b="1" dirty="0" err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rPr>
              <a:t>단계</a:t>
            </a:r>
            <a:r>
              <a:rPr sz="3600" b="1" dirty="0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rPr>
              <a:t>: </a:t>
            </a:r>
            <a:r>
              <a:rPr lang="ko-Kore-KR" altLang="ko-Kore-KR" sz="3600" b="1" dirty="0">
                <a:solidFill>
                  <a:srgbClr val="002554"/>
                </a:solidFill>
                <a:latin typeface="Apple SD Gothic Neo"/>
              </a:rPr>
              <a:t>현장 표기를 직접 관측하는 용접로봇</a:t>
            </a:r>
          </a:p>
        </p:txBody>
      </p:sp>
      <p:sp>
        <p:nvSpPr>
          <p:cNvPr id="13" name="text-178">
            <a:extLst>
              <a:ext uri="{FF2B5EF4-FFF2-40B4-BE49-F238E27FC236}">
                <a16:creationId xmlns:a16="http://schemas.microsoft.com/office/drawing/2014/main" id="{7F663EE0-8C84-1FE4-2AED-39761C41FBFC}"/>
              </a:ext>
            </a:extLst>
          </p:cNvPr>
          <p:cNvSpPr>
            <a:spLocks noGrp="1"/>
          </p:cNvSpPr>
          <p:nvPr/>
        </p:nvSpPr>
        <p:spPr>
          <a:xfrm>
            <a:off x="685800" y="8077200"/>
            <a:ext cx="6667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125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1125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rPr>
              <a:t>Static Duo</a:t>
            </a:r>
          </a:p>
        </p:txBody>
      </p:sp>
      <p:sp>
        <p:nvSpPr>
          <p:cNvPr id="14" name="text-179">
            <a:extLst>
              <a:ext uri="{FF2B5EF4-FFF2-40B4-BE49-F238E27FC236}">
                <a16:creationId xmlns:a16="http://schemas.microsoft.com/office/drawing/2014/main" id="{1C6BEA4C-7B33-CE63-4EE6-F0B440FFEEFB}"/>
              </a:ext>
            </a:extLst>
          </p:cNvPr>
          <p:cNvSpPr>
            <a:spLocks noGrp="1"/>
          </p:cNvSpPr>
          <p:nvPr/>
        </p:nvSpPr>
        <p:spPr>
          <a:xfrm>
            <a:off x="13868400" y="8020050"/>
            <a:ext cx="6858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r">
              <a:buNone/>
              <a:defRPr sz="1350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 dirty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rPr>
              <a:t>0</a:t>
            </a:r>
            <a:r>
              <a:rPr lang="en-US" altLang="ko-KR" sz="1350" b="0" dirty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  <a:endParaRPr sz="1350" b="0" dirty="0">
              <a:solidFill>
                <a:srgbClr val="687584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7" name="text-192">
            <a:extLst>
              <a:ext uri="{FF2B5EF4-FFF2-40B4-BE49-F238E27FC236}">
                <a16:creationId xmlns:a16="http://schemas.microsoft.com/office/drawing/2014/main" id="{8347432C-B602-5385-9CBF-63EB435AEFBF}"/>
              </a:ext>
            </a:extLst>
          </p:cNvPr>
          <p:cNvSpPr>
            <a:spLocks noGrp="1"/>
          </p:cNvSpPr>
          <p:nvPr/>
        </p:nvSpPr>
        <p:spPr>
          <a:xfrm>
            <a:off x="666750" y="1781271"/>
            <a:ext cx="138684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650" b="1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r>
              <a:rPr lang="ko-Kore-KR" altLang="ko-Kore-KR" sz="1600" dirty="0"/>
              <a:t>로봇에 장착한 카메라로 표기를 촬영하고,</a:t>
            </a:r>
            <a:r>
              <a:rPr lang="ko-Kore-KR" altLang="en-US" sz="1600" dirty="0"/>
              <a:t> </a:t>
            </a:r>
            <a:r>
              <a:rPr lang="ko-Kore-KR" altLang="ko-Kore-KR" sz="1600" dirty="0"/>
              <a:t>OCR·비전 AI가 해석할 이미지를 확보합니다.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CF75F35-458A-3F0E-6FD5-CB3D77E6FFAE}"/>
              </a:ext>
            </a:extLst>
          </p:cNvPr>
          <p:cNvSpPr txBox="1"/>
          <p:nvPr/>
        </p:nvSpPr>
        <p:spPr>
          <a:xfrm>
            <a:off x="684000" y="7722000"/>
            <a:ext cx="138708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50" b="0">
                <a:solidFill>
                  <a:srgbClr val="687584"/>
                </a:solidFill>
                <a:latin typeface="Apple SD Gothic Neo"/>
                <a:ea typeface="Apple SD Gothic Neo"/>
              </a:rPr>
              <a:t>근거 E17 [실행] 반사 A/B 시뮬레이션 · 자동화 목표: 사람이 사진을 다시 확인하고 촬영을 지시하는 반복을 줄임 · 별첨 A5</a:t>
            </a:r>
          </a:p>
        </p:txBody>
      </p:sp>
      <p:pic>
        <p:nvPicPr>
          <p:cNvPr id="3" name="KakaoTalk_Video_2026-10-10-12-10-42">
            <a:hlinkClick r:id="" action="ppaction://media"/>
            <a:extLst>
              <a:ext uri="{FF2B5EF4-FFF2-40B4-BE49-F238E27FC236}">
                <a16:creationId xmlns:a16="http://schemas.microsoft.com/office/drawing/2014/main" id="{6E9D1E77-9FA1-98F8-031E-6943A5788F6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37537" y="2559643"/>
            <a:ext cx="14563725" cy="4221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277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67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 descr="shipyard-live-03-A-wrist.jpg"/>
          <p:cNvPicPr>
            <a:picLocks noChangeAspect="1"/>
          </p:cNvPicPr>
          <p:nvPr/>
        </p:nvPicPr>
        <p:blipFill>
          <a:blip r:embed="rId3"/>
          <a:srcRect t="12749" b="12749"/>
          <a:stretch>
            <a:fillRect/>
          </a:stretch>
        </p:blipFill>
        <p:spPr>
          <a:xfrm>
            <a:off x="685800" y="2686050"/>
            <a:ext cx="6591300" cy="2762250"/>
          </a:xfrm>
          <a:prstGeom prst="rect">
            <a:avLst/>
          </a:prstGeom>
        </p:spPr>
      </p:pic>
      <p:pic>
        <p:nvPicPr>
          <p:cNvPr id="38" name="Picture 37" descr="shipyard-live-03-B-wrist.jpg"/>
          <p:cNvPicPr>
            <a:picLocks noChangeAspect="1"/>
          </p:cNvPicPr>
          <p:nvPr/>
        </p:nvPicPr>
        <p:blipFill>
          <a:blip r:embed="rId4"/>
          <a:srcRect t="12749" b="12749"/>
          <a:stretch>
            <a:fillRect/>
          </a:stretch>
        </p:blipFill>
        <p:spPr>
          <a:xfrm>
            <a:off x="7962900" y="2686050"/>
            <a:ext cx="6591300" cy="2762250"/>
          </a:xfrm>
          <a:prstGeom prst="rect">
            <a:avLst/>
          </a:prstGeom>
        </p:spPr>
      </p:pic>
      <p:sp>
        <p:nvSpPr>
          <p:cNvPr id="8" name="text-173">
            <a:extLst>
              <a:ext uri="{FF2B5EF4-FFF2-40B4-BE49-F238E27FC236}">
                <a16:creationId xmlns:a16="http://schemas.microsoft.com/office/drawing/2014/main" id="{1267278A-6522-4375-AE87-381F5684CF0E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6191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425" b="1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1425" b="1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rPr>
              <a:t>ContextWeld</a:t>
            </a:r>
          </a:p>
        </p:txBody>
      </p:sp>
      <p:sp>
        <p:nvSpPr>
          <p:cNvPr id="12" name="text-177">
            <a:extLst>
              <a:ext uri="{FF2B5EF4-FFF2-40B4-BE49-F238E27FC236}">
                <a16:creationId xmlns:a16="http://schemas.microsoft.com/office/drawing/2014/main" id="{39247CAB-6972-4762-A5EF-D13898438F66}"/>
              </a:ext>
            </a:extLst>
          </p:cNvPr>
          <p:cNvSpPr>
            <a:spLocks noGrp="1"/>
          </p:cNvSpPr>
          <p:nvPr/>
        </p:nvSpPr>
        <p:spPr>
          <a:xfrm>
            <a:off x="666750" y="971550"/>
            <a:ext cx="1388745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600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3600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rPr>
              <a:t>입력 단계: 관측과 정보 확보</a:t>
            </a:r>
          </a:p>
        </p:txBody>
      </p:sp>
      <p:sp>
        <p:nvSpPr>
          <p:cNvPr id="13" name="text-178">
            <a:extLst>
              <a:ext uri="{FF2B5EF4-FFF2-40B4-BE49-F238E27FC236}">
                <a16:creationId xmlns:a16="http://schemas.microsoft.com/office/drawing/2014/main" id="{8AC0957A-54A5-4723-9AAC-12B8C9B78F68}"/>
              </a:ext>
            </a:extLst>
          </p:cNvPr>
          <p:cNvSpPr>
            <a:spLocks noGrp="1"/>
          </p:cNvSpPr>
          <p:nvPr/>
        </p:nvSpPr>
        <p:spPr>
          <a:xfrm>
            <a:off x="685800" y="8077200"/>
            <a:ext cx="6667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125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1125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rPr>
              <a:t>Static Duo</a:t>
            </a:r>
          </a:p>
        </p:txBody>
      </p:sp>
      <p:sp>
        <p:nvSpPr>
          <p:cNvPr id="14" name="text-179">
            <a:extLst>
              <a:ext uri="{FF2B5EF4-FFF2-40B4-BE49-F238E27FC236}">
                <a16:creationId xmlns:a16="http://schemas.microsoft.com/office/drawing/2014/main" id="{B532B45C-6C69-40C1-B033-756D7E18A829}"/>
              </a:ext>
            </a:extLst>
          </p:cNvPr>
          <p:cNvSpPr>
            <a:spLocks noGrp="1"/>
          </p:cNvSpPr>
          <p:nvPr/>
        </p:nvSpPr>
        <p:spPr>
          <a:xfrm>
            <a:off x="13868400" y="8020050"/>
            <a:ext cx="6858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r">
              <a:buNone/>
              <a:defRPr sz="1350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3" name="text-188">
            <a:extLst>
              <a:ext uri="{FF2B5EF4-FFF2-40B4-BE49-F238E27FC236}">
                <a16:creationId xmlns:a16="http://schemas.microsoft.com/office/drawing/2014/main" id="{AEC747FD-BDF0-4123-869A-665047DE7117}"/>
              </a:ext>
            </a:extLst>
          </p:cNvPr>
          <p:cNvSpPr>
            <a:spLocks noGrp="1"/>
          </p:cNvSpPr>
          <p:nvPr/>
        </p:nvSpPr>
        <p:spPr>
          <a:xfrm>
            <a:off x="685800" y="2028825"/>
            <a:ext cx="6591300" cy="504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775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2775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rPr>
              <a:t>A 시점 [실행]</a:t>
            </a:r>
          </a:p>
        </p:txBody>
      </p:sp>
      <p:sp>
        <p:nvSpPr>
          <p:cNvPr id="24" name="text-189">
            <a:extLst>
              <a:ext uri="{FF2B5EF4-FFF2-40B4-BE49-F238E27FC236}">
                <a16:creationId xmlns:a16="http://schemas.microsoft.com/office/drawing/2014/main" id="{BDCDDD2A-D0FD-42CF-930F-A32A8F9D8FF2}"/>
              </a:ext>
            </a:extLst>
          </p:cNvPr>
          <p:cNvSpPr>
            <a:spLocks noGrp="1"/>
          </p:cNvSpPr>
          <p:nvPr/>
        </p:nvSpPr>
        <p:spPr>
          <a:xfrm>
            <a:off x="685800" y="5534025"/>
            <a:ext cx="6591300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725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1725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rPr>
              <a:t>작업등 반사가 표기 일부를 가림</a:t>
            </a:r>
          </a:p>
        </p:txBody>
      </p:sp>
      <p:sp>
        <p:nvSpPr>
          <p:cNvPr id="25" name="text-190">
            <a:extLst>
              <a:ext uri="{FF2B5EF4-FFF2-40B4-BE49-F238E27FC236}">
                <a16:creationId xmlns:a16="http://schemas.microsoft.com/office/drawing/2014/main" id="{8E3EFA76-AC88-41C5-9F33-4BEDE98E51C5}"/>
              </a:ext>
            </a:extLst>
          </p:cNvPr>
          <p:cNvSpPr>
            <a:spLocks noGrp="1"/>
          </p:cNvSpPr>
          <p:nvPr/>
        </p:nvSpPr>
        <p:spPr>
          <a:xfrm>
            <a:off x="7962900" y="2028825"/>
            <a:ext cx="6591300" cy="504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775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2775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rPr>
              <a:t>B 시점 [실행]</a:t>
            </a:r>
          </a:p>
        </p:txBody>
      </p:sp>
      <p:sp>
        <p:nvSpPr>
          <p:cNvPr id="26" name="text-191">
            <a:extLst>
              <a:ext uri="{FF2B5EF4-FFF2-40B4-BE49-F238E27FC236}">
                <a16:creationId xmlns:a16="http://schemas.microsoft.com/office/drawing/2014/main" id="{306F1360-E0FD-459E-9040-351A5EE10BE2}"/>
              </a:ext>
            </a:extLst>
          </p:cNvPr>
          <p:cNvSpPr>
            <a:spLocks noGrp="1"/>
          </p:cNvSpPr>
          <p:nvPr/>
        </p:nvSpPr>
        <p:spPr>
          <a:xfrm>
            <a:off x="7962900" y="5534025"/>
            <a:ext cx="6591300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725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1725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rPr>
              <a:t>시점을 바꾸자 표기 전체가 보임 (육안 확인 기준)</a:t>
            </a:r>
          </a:p>
        </p:txBody>
      </p:sp>
      <p:sp>
        <p:nvSpPr>
          <p:cNvPr id="27" name="text-192">
            <a:extLst>
              <a:ext uri="{FF2B5EF4-FFF2-40B4-BE49-F238E27FC236}">
                <a16:creationId xmlns:a16="http://schemas.microsoft.com/office/drawing/2014/main" id="{3693D50F-1E89-41F6-B4A3-73C5B229EC21}"/>
              </a:ext>
            </a:extLst>
          </p:cNvPr>
          <p:cNvSpPr>
            <a:spLocks noGrp="1"/>
          </p:cNvSpPr>
          <p:nvPr/>
        </p:nvSpPr>
        <p:spPr>
          <a:xfrm>
            <a:off x="685800" y="1628775"/>
            <a:ext cx="138684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650" b="1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1650" b="1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rPr>
              <a:t>Isaac Sim · 수직 3면 강판 지그 가운데 패널의 수기 표기 · 카메라 이동은 사전 지정 동작 · 인식 연동 재촬영은 목표 설계</a:t>
            </a:r>
          </a:p>
        </p:txBody>
      </p:sp>
      <p:pic>
        <p:nvPicPr>
          <p:cNvPr id="29" name="그래픽 28">
            <a:extLst>
              <a:ext uri="{FF2B5EF4-FFF2-40B4-BE49-F238E27FC236}">
                <a16:creationId xmlns:a16="http://schemas.microsoft.com/office/drawing/2014/main" id="{CCEAE4A2-4081-442B-98BA-58167E08A7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685800" y="6286500"/>
            <a:ext cx="476250" cy="476250"/>
          </a:xfrm>
          <a:prstGeom prst="rect">
            <a:avLst/>
          </a:prstGeom>
        </p:spPr>
      </p:pic>
      <p:sp>
        <p:nvSpPr>
          <p:cNvPr id="30" name="text-194">
            <a:extLst>
              <a:ext uri="{FF2B5EF4-FFF2-40B4-BE49-F238E27FC236}">
                <a16:creationId xmlns:a16="http://schemas.microsoft.com/office/drawing/2014/main" id="{F4870C59-8108-4FA3-B8A8-709C44265BF2}"/>
              </a:ext>
            </a:extLst>
          </p:cNvPr>
          <p:cNvSpPr>
            <a:spLocks noGrp="1"/>
          </p:cNvSpPr>
          <p:nvPr/>
        </p:nvSpPr>
        <p:spPr>
          <a:xfrm>
            <a:off x="1381125" y="6153150"/>
            <a:ext cx="5810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475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2475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75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rPr>
              <a:t>판단과 근거</a:t>
            </a:r>
          </a:p>
        </p:txBody>
      </p:sp>
      <p:sp>
        <p:nvSpPr>
          <p:cNvPr id="31" name="text-195">
            <a:extLst>
              <a:ext uri="{FF2B5EF4-FFF2-40B4-BE49-F238E27FC236}">
                <a16:creationId xmlns:a16="http://schemas.microsoft.com/office/drawing/2014/main" id="{5F731C69-4F36-48C7-A669-ECB5963819FB}"/>
              </a:ext>
            </a:extLst>
          </p:cNvPr>
          <p:cNvSpPr>
            <a:spLocks noGrp="1"/>
          </p:cNvSpPr>
          <p:nvPr/>
        </p:nvSpPr>
        <p:spPr>
          <a:xfrm>
            <a:off x="1381125" y="6791325"/>
            <a:ext cx="589597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1875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rPr>
              <a:t>원본 사진을 작업·시도에 연결해 보존</a:t>
            </a:r>
          </a:p>
          <a:p>
            <a:pPr algn="l">
              <a:buNone/>
              <a:defRPr sz="1875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rPr>
              <a:t>표기 영역과 반사·가림 확인</a:t>
            </a:r>
          </a:p>
        </p:txBody>
      </p:sp>
      <p:pic>
        <p:nvPicPr>
          <p:cNvPr id="34" name="그래픽 33">
            <a:extLst>
              <a:ext uri="{FF2B5EF4-FFF2-40B4-BE49-F238E27FC236}">
                <a16:creationId xmlns:a16="http://schemas.microsoft.com/office/drawing/2014/main" id="{37A8AF89-2713-4681-946B-DD23159BFC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7962900" y="6286500"/>
            <a:ext cx="476250" cy="476250"/>
          </a:xfrm>
          <a:prstGeom prst="rect">
            <a:avLst/>
          </a:prstGeom>
        </p:spPr>
      </p:pic>
      <p:sp>
        <p:nvSpPr>
          <p:cNvPr id="35" name="text-198">
            <a:extLst>
              <a:ext uri="{FF2B5EF4-FFF2-40B4-BE49-F238E27FC236}">
                <a16:creationId xmlns:a16="http://schemas.microsoft.com/office/drawing/2014/main" id="{61580F04-CDA8-4CE9-9D2A-60CC479AD6DD}"/>
              </a:ext>
            </a:extLst>
          </p:cNvPr>
          <p:cNvSpPr>
            <a:spLocks noGrp="1"/>
          </p:cNvSpPr>
          <p:nvPr/>
        </p:nvSpPr>
        <p:spPr>
          <a:xfrm>
            <a:off x="8658225" y="6153150"/>
            <a:ext cx="5810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475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2475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75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rPr>
              <a:t>조치와 출력</a:t>
            </a:r>
          </a:p>
        </p:txBody>
      </p:sp>
      <p:sp>
        <p:nvSpPr>
          <p:cNvPr id="36" name="text-199">
            <a:extLst>
              <a:ext uri="{FF2B5EF4-FFF2-40B4-BE49-F238E27FC236}">
                <a16:creationId xmlns:a16="http://schemas.microsoft.com/office/drawing/2014/main" id="{60215CE9-EE0D-4100-BDBE-C614EA262D6C}"/>
              </a:ext>
            </a:extLst>
          </p:cNvPr>
          <p:cNvSpPr>
            <a:spLocks noGrp="1"/>
          </p:cNvSpPr>
          <p:nvPr/>
        </p:nvSpPr>
        <p:spPr>
          <a:xfrm>
            <a:off x="8658225" y="6791325"/>
            <a:ext cx="589597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1875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rPr>
              <a:t>부족하면 다른 시점 사진으로 보완</a:t>
            </a:r>
          </a:p>
          <a:p>
            <a:pPr algn="l">
              <a:buNone/>
              <a:defRPr sz="1875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rPr>
              <a:t>원본 보존, 새 관측·조치 이력 연결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4000" y="7722000"/>
            <a:ext cx="138708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50" b="0">
                <a:solidFill>
                  <a:srgbClr val="687584"/>
                </a:solidFill>
                <a:latin typeface="Apple SD Gothic Neo"/>
                <a:ea typeface="Apple SD Gothic Neo"/>
              </a:rPr>
              <a:t>근거 E17 [실행] 반사 A/B 시뮬레이션 · 자동화 목표: 사람이 사진을 다시 확인하고 촬영을 지시하는 반복을 줄임 · 별첨 A5</a:t>
            </a:r>
          </a:p>
        </p:txBody>
      </p:sp>
    </p:spTree>
    <p:extLst>
      <p:ext uri="{BB962C8B-B14F-4D97-AF65-F5344CB8AC3E}">
        <p14:creationId xmlns:p14="http://schemas.microsoft.com/office/powerpoint/2010/main" val="1794227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 descr="pv2-img-052.jpg"/>
          <p:cNvPicPr>
            <a:picLocks noChangeAspect="1"/>
          </p:cNvPicPr>
          <p:nvPr/>
        </p:nvPicPr>
        <p:blipFill>
          <a:blip r:embed="rId3"/>
          <a:srcRect t="167" b="167"/>
          <a:stretch>
            <a:fillRect/>
          </a:stretch>
        </p:blipFill>
        <p:spPr>
          <a:xfrm>
            <a:off x="685800" y="2657475"/>
            <a:ext cx="5695950" cy="4257675"/>
          </a:xfrm>
          <a:prstGeom prst="rect">
            <a:avLst/>
          </a:prstGeom>
        </p:spPr>
      </p:pic>
      <p:sp>
        <p:nvSpPr>
          <p:cNvPr id="5" name="text-63">
            <a:extLst>
              <a:ext uri="{FF2B5EF4-FFF2-40B4-BE49-F238E27FC236}">
                <a16:creationId xmlns:a16="http://schemas.microsoft.com/office/drawing/2014/main" id="{190023EB-240D-4058-95F9-CA6446D97FD1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6191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425" b="1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1425" b="1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rPr>
              <a:t>ContextWeld</a:t>
            </a:r>
          </a:p>
        </p:txBody>
      </p:sp>
      <p:sp>
        <p:nvSpPr>
          <p:cNvPr id="9" name="text-67">
            <a:extLst>
              <a:ext uri="{FF2B5EF4-FFF2-40B4-BE49-F238E27FC236}">
                <a16:creationId xmlns:a16="http://schemas.microsoft.com/office/drawing/2014/main" id="{B08CD6DC-DFF4-44DF-9C73-40C3221B37F6}"/>
              </a:ext>
            </a:extLst>
          </p:cNvPr>
          <p:cNvSpPr>
            <a:spLocks noGrp="1"/>
          </p:cNvSpPr>
          <p:nvPr/>
        </p:nvSpPr>
        <p:spPr>
          <a:xfrm>
            <a:off x="666750" y="971550"/>
            <a:ext cx="1388745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600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3600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rPr>
              <a:t>판단 단계: OCR와 장면 해석</a:t>
            </a:r>
          </a:p>
        </p:txBody>
      </p:sp>
      <p:sp>
        <p:nvSpPr>
          <p:cNvPr id="10" name="text-68">
            <a:extLst>
              <a:ext uri="{FF2B5EF4-FFF2-40B4-BE49-F238E27FC236}">
                <a16:creationId xmlns:a16="http://schemas.microsoft.com/office/drawing/2014/main" id="{4950F334-A6C9-4137-A8D7-467473C8AB90}"/>
              </a:ext>
            </a:extLst>
          </p:cNvPr>
          <p:cNvSpPr>
            <a:spLocks noGrp="1"/>
          </p:cNvSpPr>
          <p:nvPr/>
        </p:nvSpPr>
        <p:spPr>
          <a:xfrm>
            <a:off x="685800" y="8077200"/>
            <a:ext cx="6667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125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1125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rPr>
              <a:t>Static Duo</a:t>
            </a:r>
          </a:p>
        </p:txBody>
      </p:sp>
      <p:sp>
        <p:nvSpPr>
          <p:cNvPr id="11" name="text-69">
            <a:extLst>
              <a:ext uri="{FF2B5EF4-FFF2-40B4-BE49-F238E27FC236}">
                <a16:creationId xmlns:a16="http://schemas.microsoft.com/office/drawing/2014/main" id="{1E2FB8E4-0237-454C-8FC0-C58130D07C9B}"/>
              </a:ext>
            </a:extLst>
          </p:cNvPr>
          <p:cNvSpPr>
            <a:spLocks noGrp="1"/>
          </p:cNvSpPr>
          <p:nvPr/>
        </p:nvSpPr>
        <p:spPr>
          <a:xfrm>
            <a:off x="13868400" y="8020050"/>
            <a:ext cx="6858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r">
              <a:buNone/>
              <a:defRPr sz="1350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12" name="text-70">
            <a:extLst>
              <a:ext uri="{FF2B5EF4-FFF2-40B4-BE49-F238E27FC236}">
                <a16:creationId xmlns:a16="http://schemas.microsoft.com/office/drawing/2014/main" id="{85E3CFCA-DA15-4B7E-ABE4-D6BD65B4D4F8}"/>
              </a:ext>
            </a:extLst>
          </p:cNvPr>
          <p:cNvSpPr>
            <a:spLocks noGrp="1"/>
          </p:cNvSpPr>
          <p:nvPr/>
        </p:nvSpPr>
        <p:spPr>
          <a:xfrm>
            <a:off x="685800" y="2028825"/>
            <a:ext cx="569595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325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2325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rPr>
              <a:t>사례 A · 공개 철골 사진 052</a:t>
            </a:r>
          </a:p>
        </p:txBody>
      </p:sp>
      <p:sp>
        <p:nvSpPr>
          <p:cNvPr id="13" name="text-71">
            <a:extLst>
              <a:ext uri="{FF2B5EF4-FFF2-40B4-BE49-F238E27FC236}">
                <a16:creationId xmlns:a16="http://schemas.microsoft.com/office/drawing/2014/main" id="{4EEDAC2F-A5E3-4A8D-BFA7-206BE9D2A339}"/>
              </a:ext>
            </a:extLst>
          </p:cNvPr>
          <p:cNvSpPr>
            <a:spLocks noGrp="1"/>
          </p:cNvSpPr>
          <p:nvPr/>
        </p:nvSpPr>
        <p:spPr>
          <a:xfrm>
            <a:off x="685800" y="7115175"/>
            <a:ext cx="56959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1875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rPr>
              <a:t>라벨 M5SB24-16 · OCR M55624-16 (점수 0.979)</a:t>
            </a:r>
          </a:p>
          <a:p>
            <a:pPr algn="l">
              <a:buNone/>
              <a:defRPr sz="1875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rPr>
              <a:t>VLM M5SB24-16 → 판독 불일치로 보류 [실행]</a:t>
            </a:r>
          </a:p>
        </p:txBody>
      </p:sp>
      <p:sp>
        <p:nvSpPr>
          <p:cNvPr id="14" name="text-72">
            <a:extLst>
              <a:ext uri="{FF2B5EF4-FFF2-40B4-BE49-F238E27FC236}">
                <a16:creationId xmlns:a16="http://schemas.microsoft.com/office/drawing/2014/main" id="{010DA1F4-B388-4789-B834-72949F4DD8EF}"/>
              </a:ext>
            </a:extLst>
          </p:cNvPr>
          <p:cNvSpPr>
            <a:spLocks noGrp="1"/>
          </p:cNvSpPr>
          <p:nvPr/>
        </p:nvSpPr>
        <p:spPr>
          <a:xfrm>
            <a:off x="6905625" y="2085975"/>
            <a:ext cx="7048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850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2850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15" name="rectangle-73">
            <a:extLst>
              <a:ext uri="{FF2B5EF4-FFF2-40B4-BE49-F238E27FC236}">
                <a16:creationId xmlns:a16="http://schemas.microsoft.com/office/drawing/2014/main" id="{0D7BCD4C-F006-4285-B5E9-0521789DA61C}"/>
              </a:ext>
            </a:extLst>
          </p:cNvPr>
          <p:cNvSpPr>
            <a:spLocks noGrp="1"/>
          </p:cNvSpPr>
          <p:nvPr/>
        </p:nvSpPr>
        <p:spPr>
          <a:xfrm>
            <a:off x="7848600" y="2686050"/>
            <a:ext cx="6705600" cy="95"/>
          </a:xfrm>
          <a:prstGeom prst="line">
            <a:avLst/>
          </a:prstGeom>
          <a:noFill/>
          <a:ln w="14288">
            <a:solidFill>
              <a:srgbClr val="D4DCE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6" name="text-74">
            <a:extLst>
              <a:ext uri="{FF2B5EF4-FFF2-40B4-BE49-F238E27FC236}">
                <a16:creationId xmlns:a16="http://schemas.microsoft.com/office/drawing/2014/main" id="{C0A7CAB9-712E-4E47-8D45-3DC8F0323033}"/>
              </a:ext>
            </a:extLst>
          </p:cNvPr>
          <p:cNvSpPr>
            <a:spLocks noGrp="1"/>
          </p:cNvSpPr>
          <p:nvPr/>
        </p:nvSpPr>
        <p:spPr>
          <a:xfrm>
            <a:off x="7848600" y="2076450"/>
            <a:ext cx="670560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475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2475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75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rPr>
              <a:t>문자·숫자 인식 [관측] · OCR(문자 인식)</a:t>
            </a:r>
          </a:p>
        </p:txBody>
      </p:sp>
      <p:sp>
        <p:nvSpPr>
          <p:cNvPr id="17" name="text-75">
            <a:extLst>
              <a:ext uri="{FF2B5EF4-FFF2-40B4-BE49-F238E27FC236}">
                <a16:creationId xmlns:a16="http://schemas.microsoft.com/office/drawing/2014/main" id="{7526E975-7E38-4C80-A916-9A2E9C39F106}"/>
              </a:ext>
            </a:extLst>
          </p:cNvPr>
          <p:cNvSpPr>
            <a:spLocks noGrp="1"/>
          </p:cNvSpPr>
          <p:nvPr/>
        </p:nvSpPr>
        <p:spPr>
          <a:xfrm>
            <a:off x="7848600" y="2857500"/>
            <a:ext cx="67056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202F42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2025" b="0">
                <a:solidFill>
                  <a:srgbClr val="202F4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202F42"/>
                </a:solidFill>
                <a:latin typeface="Apple SD Gothic Neo"/>
                <a:ea typeface="Apple SD Gothic Neo"/>
                <a:cs typeface="Apple SD Gothic Neo"/>
              </a:rPr>
              <a:t>높은 인식 점수에도 오독이 생깁니다</a:t>
            </a:r>
          </a:p>
        </p:txBody>
      </p:sp>
      <p:sp>
        <p:nvSpPr>
          <p:cNvPr id="18" name="diagram-node-76">
            <a:extLst>
              <a:ext uri="{FF2B5EF4-FFF2-40B4-BE49-F238E27FC236}">
                <a16:creationId xmlns:a16="http://schemas.microsoft.com/office/drawing/2014/main" id="{83FF0E03-0742-4331-BE13-D5DC1C14E571}"/>
              </a:ext>
            </a:extLst>
          </p:cNvPr>
          <p:cNvSpPr>
            <a:spLocks noGrp="1"/>
          </p:cNvSpPr>
          <p:nvPr/>
        </p:nvSpPr>
        <p:spPr>
          <a:xfrm>
            <a:off x="7886700" y="3562350"/>
            <a:ext cx="2286000" cy="542925"/>
          </a:xfrm>
          <a:prstGeom prst="rect">
            <a:avLst/>
          </a:prstGeom>
          <a:solidFill>
            <a:srgbClr val="F3F5F8"/>
          </a:solidFill>
          <a:ln w="9525">
            <a:solidFill>
              <a:srgbClr val="D4DCE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9" name="text-77">
            <a:extLst>
              <a:ext uri="{FF2B5EF4-FFF2-40B4-BE49-F238E27FC236}">
                <a16:creationId xmlns:a16="http://schemas.microsoft.com/office/drawing/2014/main" id="{86F9A2EB-E593-4ED6-9662-F125613C6B25}"/>
              </a:ext>
            </a:extLst>
          </p:cNvPr>
          <p:cNvSpPr>
            <a:spLocks noGrp="1"/>
          </p:cNvSpPr>
          <p:nvPr/>
        </p:nvSpPr>
        <p:spPr>
          <a:xfrm>
            <a:off x="7981950" y="3600450"/>
            <a:ext cx="209550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725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ctr">
              <a:buNone/>
              <a:defRPr sz="1725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rPr>
              <a:t>OCR M55624-16</a:t>
            </a:r>
          </a:p>
        </p:txBody>
      </p:sp>
      <p:sp>
        <p:nvSpPr>
          <p:cNvPr id="20" name="diagram-node-78">
            <a:extLst>
              <a:ext uri="{FF2B5EF4-FFF2-40B4-BE49-F238E27FC236}">
                <a16:creationId xmlns:a16="http://schemas.microsoft.com/office/drawing/2014/main" id="{6FEB691F-ACB0-41C5-931D-3DACF07E0B91}"/>
              </a:ext>
            </a:extLst>
          </p:cNvPr>
          <p:cNvSpPr>
            <a:spLocks noGrp="1"/>
          </p:cNvSpPr>
          <p:nvPr/>
        </p:nvSpPr>
        <p:spPr>
          <a:xfrm>
            <a:off x="12163425" y="3562350"/>
            <a:ext cx="2362200" cy="542925"/>
          </a:xfrm>
          <a:prstGeom prst="rect">
            <a:avLst/>
          </a:prstGeom>
          <a:solidFill>
            <a:srgbClr val="F3F5F8"/>
          </a:solidFill>
          <a:ln w="9525">
            <a:solidFill>
              <a:srgbClr val="D4DCE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1" name="text-79">
            <a:extLst>
              <a:ext uri="{FF2B5EF4-FFF2-40B4-BE49-F238E27FC236}">
                <a16:creationId xmlns:a16="http://schemas.microsoft.com/office/drawing/2014/main" id="{A730604E-8F79-4EEA-BB3F-C84E5FD2B6F3}"/>
              </a:ext>
            </a:extLst>
          </p:cNvPr>
          <p:cNvSpPr>
            <a:spLocks noGrp="1"/>
          </p:cNvSpPr>
          <p:nvPr/>
        </p:nvSpPr>
        <p:spPr>
          <a:xfrm>
            <a:off x="12258675" y="3600450"/>
            <a:ext cx="217170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725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ctr">
              <a:buNone/>
              <a:defRPr sz="1725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rPr>
              <a:t>VLM M5SB24-16</a:t>
            </a:r>
          </a:p>
        </p:txBody>
      </p:sp>
      <p:pic>
        <p:nvPicPr>
          <p:cNvPr id="22" name="그래픽 21">
            <a:extLst>
              <a:ext uri="{FF2B5EF4-FFF2-40B4-BE49-F238E27FC236}">
                <a16:creationId xmlns:a16="http://schemas.microsoft.com/office/drawing/2014/main" id="{C3B4DC09-C82C-4B85-8355-3E6473FE59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0877550" y="3486150"/>
            <a:ext cx="638175" cy="638175"/>
          </a:xfrm>
          <a:prstGeom prst="rect">
            <a:avLst/>
          </a:prstGeom>
        </p:spPr>
      </p:pic>
      <p:sp>
        <p:nvSpPr>
          <p:cNvPr id="23" name="rule-80">
            <a:extLst>
              <a:ext uri="{FF2B5EF4-FFF2-40B4-BE49-F238E27FC236}">
                <a16:creationId xmlns:a16="http://schemas.microsoft.com/office/drawing/2014/main" id="{BB3435C6-8C34-45B9-8DF0-E543DE524CCC}"/>
              </a:ext>
            </a:extLst>
          </p:cNvPr>
          <p:cNvSpPr>
            <a:spLocks noGrp="1"/>
          </p:cNvSpPr>
          <p:nvPr/>
        </p:nvSpPr>
        <p:spPr>
          <a:xfrm>
            <a:off x="10277475" y="3829050"/>
            <a:ext cx="428625" cy="95"/>
          </a:xfrm>
          <a:prstGeom prst="line">
            <a:avLst/>
          </a:prstGeom>
          <a:noFill/>
          <a:ln w="1905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4" name="diagram-arrow-81">
            <a:extLst>
              <a:ext uri="{FF2B5EF4-FFF2-40B4-BE49-F238E27FC236}">
                <a16:creationId xmlns:a16="http://schemas.microsoft.com/office/drawing/2014/main" id="{B7197947-21A0-404B-902D-FB532F778B93}"/>
              </a:ext>
            </a:extLst>
          </p:cNvPr>
          <p:cNvSpPr>
            <a:spLocks noGrp="1"/>
          </p:cNvSpPr>
          <p:nvPr/>
        </p:nvSpPr>
        <p:spPr>
          <a:xfrm>
            <a:off x="10629900" y="3781425"/>
            <a:ext cx="76200" cy="95250"/>
          </a:xfrm>
          <a:custGeom>
            <a:avLst/>
            <a:gdLst/>
            <a:ahLst/>
            <a:cxnLst/>
            <a:rect l="0" t="0" r="0" b="0"/>
            <a:pathLst>
              <a:path w="76200" h="95250">
                <a:moveTo>
                  <a:pt x="0" y="0"/>
                </a:moveTo>
                <a:lnTo>
                  <a:pt x="76200" y="47625"/>
                </a:lnTo>
                <a:lnTo>
                  <a:pt x="0" y="95250"/>
                </a:lnTo>
                <a:close/>
              </a:path>
            </a:pathLst>
          </a:custGeom>
          <a:solidFill>
            <a:srgbClr val="003087"/>
          </a:solidFill>
          <a:ln w="0">
            <a:noFill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5" name="rule-82">
            <a:extLst>
              <a:ext uri="{FF2B5EF4-FFF2-40B4-BE49-F238E27FC236}">
                <a16:creationId xmlns:a16="http://schemas.microsoft.com/office/drawing/2014/main" id="{034D780A-CB1A-445B-BC47-EEB781EDAEA6}"/>
              </a:ext>
            </a:extLst>
          </p:cNvPr>
          <p:cNvSpPr>
            <a:spLocks noGrp="1"/>
          </p:cNvSpPr>
          <p:nvPr/>
        </p:nvSpPr>
        <p:spPr>
          <a:xfrm>
            <a:off x="11639550" y="3829050"/>
            <a:ext cx="409575" cy="95"/>
          </a:xfrm>
          <a:prstGeom prst="line">
            <a:avLst/>
          </a:prstGeom>
          <a:noFill/>
          <a:ln w="1905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6" name="diagram-arrow-83">
            <a:extLst>
              <a:ext uri="{FF2B5EF4-FFF2-40B4-BE49-F238E27FC236}">
                <a16:creationId xmlns:a16="http://schemas.microsoft.com/office/drawing/2014/main" id="{85613184-A6AD-461B-BD00-E38AB40F7929}"/>
              </a:ext>
            </a:extLst>
          </p:cNvPr>
          <p:cNvSpPr>
            <a:spLocks noGrp="1"/>
          </p:cNvSpPr>
          <p:nvPr/>
        </p:nvSpPr>
        <p:spPr>
          <a:xfrm>
            <a:off x="11972925" y="3781425"/>
            <a:ext cx="76200" cy="95250"/>
          </a:xfrm>
          <a:custGeom>
            <a:avLst/>
            <a:gdLst/>
            <a:ahLst/>
            <a:cxnLst/>
            <a:rect l="0" t="0" r="0" b="0"/>
            <a:pathLst>
              <a:path w="76200" h="95250">
                <a:moveTo>
                  <a:pt x="0" y="0"/>
                </a:moveTo>
                <a:lnTo>
                  <a:pt x="76200" y="47625"/>
                </a:lnTo>
                <a:lnTo>
                  <a:pt x="0" y="95250"/>
                </a:lnTo>
                <a:close/>
              </a:path>
            </a:pathLst>
          </a:custGeom>
          <a:solidFill>
            <a:srgbClr val="003087"/>
          </a:solidFill>
          <a:ln w="0">
            <a:noFill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7" name="text-84">
            <a:extLst>
              <a:ext uri="{FF2B5EF4-FFF2-40B4-BE49-F238E27FC236}">
                <a16:creationId xmlns:a16="http://schemas.microsoft.com/office/drawing/2014/main" id="{CF785862-A14F-47C1-938C-045833387259}"/>
              </a:ext>
            </a:extLst>
          </p:cNvPr>
          <p:cNvSpPr>
            <a:spLocks noGrp="1"/>
          </p:cNvSpPr>
          <p:nvPr/>
        </p:nvSpPr>
        <p:spPr>
          <a:xfrm>
            <a:off x="7848600" y="4286250"/>
            <a:ext cx="67056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025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ctr">
              <a:buNone/>
              <a:defRPr sz="2025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rPr>
              <a:t>불일치를 숨기지 않고 확인 대상으로 남김</a:t>
            </a:r>
          </a:p>
        </p:txBody>
      </p:sp>
      <p:sp>
        <p:nvSpPr>
          <p:cNvPr id="28" name="text-85">
            <a:extLst>
              <a:ext uri="{FF2B5EF4-FFF2-40B4-BE49-F238E27FC236}">
                <a16:creationId xmlns:a16="http://schemas.microsoft.com/office/drawing/2014/main" id="{0B1BE06F-E347-4A23-BF34-F7252BE4C72D}"/>
              </a:ext>
            </a:extLst>
          </p:cNvPr>
          <p:cNvSpPr>
            <a:spLocks noGrp="1"/>
          </p:cNvSpPr>
          <p:nvPr/>
        </p:nvSpPr>
        <p:spPr>
          <a:xfrm>
            <a:off x="6905625" y="4991100"/>
            <a:ext cx="7048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850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2850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29" name="rectangle-86">
            <a:extLst>
              <a:ext uri="{FF2B5EF4-FFF2-40B4-BE49-F238E27FC236}">
                <a16:creationId xmlns:a16="http://schemas.microsoft.com/office/drawing/2014/main" id="{C1DB6CA8-7AB2-43D9-9545-1C5DBB3E187F}"/>
              </a:ext>
            </a:extLst>
          </p:cNvPr>
          <p:cNvSpPr>
            <a:spLocks noGrp="1"/>
          </p:cNvSpPr>
          <p:nvPr/>
        </p:nvSpPr>
        <p:spPr>
          <a:xfrm>
            <a:off x="7848600" y="5591175"/>
            <a:ext cx="6705600" cy="95"/>
          </a:xfrm>
          <a:prstGeom prst="line">
            <a:avLst/>
          </a:prstGeom>
          <a:noFill/>
          <a:ln w="14288">
            <a:solidFill>
              <a:srgbClr val="D4DCE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0" name="text-87">
            <a:extLst>
              <a:ext uri="{FF2B5EF4-FFF2-40B4-BE49-F238E27FC236}">
                <a16:creationId xmlns:a16="http://schemas.microsoft.com/office/drawing/2014/main" id="{B38111A4-E2DA-475E-BE3B-A8C2B58A8652}"/>
              </a:ext>
            </a:extLst>
          </p:cNvPr>
          <p:cNvSpPr>
            <a:spLocks noGrp="1"/>
          </p:cNvSpPr>
          <p:nvPr/>
        </p:nvSpPr>
        <p:spPr>
          <a:xfrm>
            <a:off x="7848600" y="4981575"/>
            <a:ext cx="670560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475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2475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75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rPr>
              <a:t>장면 해석 [해석] · VLM</a:t>
            </a:r>
          </a:p>
        </p:txBody>
      </p:sp>
      <p:sp>
        <p:nvSpPr>
          <p:cNvPr id="31" name="text-88">
            <a:extLst>
              <a:ext uri="{FF2B5EF4-FFF2-40B4-BE49-F238E27FC236}">
                <a16:creationId xmlns:a16="http://schemas.microsoft.com/office/drawing/2014/main" id="{C8EA58F6-0BA6-44F7-AA41-05C56B31183A}"/>
              </a:ext>
            </a:extLst>
          </p:cNvPr>
          <p:cNvSpPr>
            <a:spLocks noGrp="1"/>
          </p:cNvSpPr>
          <p:nvPr/>
        </p:nvSpPr>
        <p:spPr>
          <a:xfrm>
            <a:off x="7848600" y="5810250"/>
            <a:ext cx="25146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175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2175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rPr>
              <a:t>이미지·글 함께 해석</a:t>
            </a:r>
          </a:p>
        </p:txBody>
      </p:sp>
      <p:sp>
        <p:nvSpPr>
          <p:cNvPr id="32" name="text-89">
            <a:extLst>
              <a:ext uri="{FF2B5EF4-FFF2-40B4-BE49-F238E27FC236}">
                <a16:creationId xmlns:a16="http://schemas.microsoft.com/office/drawing/2014/main" id="{5A9FF53A-0569-4500-94BF-4BC63ACEBFB8}"/>
              </a:ext>
            </a:extLst>
          </p:cNvPr>
          <p:cNvSpPr>
            <a:spLocks noGrp="1"/>
          </p:cNvSpPr>
          <p:nvPr/>
        </p:nvSpPr>
        <p:spPr>
          <a:xfrm>
            <a:off x="7848600" y="6334125"/>
            <a:ext cx="2514600" cy="885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1875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rPr>
              <a:t>VLM이 문자·기호·관계로</a:t>
            </a:r>
          </a:p>
          <a:p>
            <a:pPr algn="l">
              <a:buNone/>
              <a:defRPr sz="1875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rPr>
              <a:t>대상 후보를 제안</a:t>
            </a:r>
          </a:p>
        </p:txBody>
      </p:sp>
      <p:sp>
        <p:nvSpPr>
          <p:cNvPr id="33" name="rule-90">
            <a:extLst>
              <a:ext uri="{FF2B5EF4-FFF2-40B4-BE49-F238E27FC236}">
                <a16:creationId xmlns:a16="http://schemas.microsoft.com/office/drawing/2014/main" id="{ABA5A78A-440D-48B4-8FE5-DA109B955BEA}"/>
              </a:ext>
            </a:extLst>
          </p:cNvPr>
          <p:cNvSpPr>
            <a:spLocks noGrp="1"/>
          </p:cNvSpPr>
          <p:nvPr/>
        </p:nvSpPr>
        <p:spPr>
          <a:xfrm>
            <a:off x="10572750" y="5857875"/>
            <a:ext cx="95" cy="1514475"/>
          </a:xfrm>
          <a:prstGeom prst="line">
            <a:avLst/>
          </a:prstGeom>
          <a:noFill/>
          <a:ln w="14288">
            <a:solidFill>
              <a:srgbClr val="D4DCE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4" name="text-91">
            <a:extLst>
              <a:ext uri="{FF2B5EF4-FFF2-40B4-BE49-F238E27FC236}">
                <a16:creationId xmlns:a16="http://schemas.microsoft.com/office/drawing/2014/main" id="{20059DDE-A78D-44B6-9FB2-A6B2262E1C39}"/>
              </a:ext>
            </a:extLst>
          </p:cNvPr>
          <p:cNvSpPr>
            <a:spLocks noGrp="1"/>
          </p:cNvSpPr>
          <p:nvPr/>
        </p:nvSpPr>
        <p:spPr>
          <a:xfrm>
            <a:off x="10658475" y="5819775"/>
            <a:ext cx="79057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500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1500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rPr>
              <a:t>분리</a:t>
            </a:r>
          </a:p>
        </p:txBody>
      </p:sp>
      <p:sp>
        <p:nvSpPr>
          <p:cNvPr id="35" name="text-92">
            <a:extLst>
              <a:ext uri="{FF2B5EF4-FFF2-40B4-BE49-F238E27FC236}">
                <a16:creationId xmlns:a16="http://schemas.microsoft.com/office/drawing/2014/main" id="{D04CBFE3-FA1D-4E3C-886D-494A234A4933}"/>
              </a:ext>
            </a:extLst>
          </p:cNvPr>
          <p:cNvSpPr>
            <a:spLocks noGrp="1"/>
          </p:cNvSpPr>
          <p:nvPr/>
        </p:nvSpPr>
        <p:spPr>
          <a:xfrm>
            <a:off x="11496675" y="5819775"/>
            <a:ext cx="30575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725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1725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00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rPr>
              <a:t>OCR·VLM 분리 호출, 관계는 제안</a:t>
            </a:r>
          </a:p>
        </p:txBody>
      </p:sp>
      <p:sp>
        <p:nvSpPr>
          <p:cNvPr id="36" name="text-93">
            <a:extLst>
              <a:ext uri="{FF2B5EF4-FFF2-40B4-BE49-F238E27FC236}">
                <a16:creationId xmlns:a16="http://schemas.microsoft.com/office/drawing/2014/main" id="{CD566272-6057-4FED-A6D8-875A6789560D}"/>
              </a:ext>
            </a:extLst>
          </p:cNvPr>
          <p:cNvSpPr>
            <a:spLocks noGrp="1"/>
          </p:cNvSpPr>
          <p:nvPr/>
        </p:nvSpPr>
        <p:spPr>
          <a:xfrm>
            <a:off x="10658475" y="6372225"/>
            <a:ext cx="79057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500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1500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rPr>
              <a:t>보류</a:t>
            </a:r>
          </a:p>
        </p:txBody>
      </p:sp>
      <p:sp>
        <p:nvSpPr>
          <p:cNvPr id="37" name="text-94">
            <a:extLst>
              <a:ext uri="{FF2B5EF4-FFF2-40B4-BE49-F238E27FC236}">
                <a16:creationId xmlns:a16="http://schemas.microsoft.com/office/drawing/2014/main" id="{6C868C72-21FD-486C-B73A-711D67045DAB}"/>
              </a:ext>
            </a:extLst>
          </p:cNvPr>
          <p:cNvSpPr>
            <a:spLocks noGrp="1"/>
          </p:cNvSpPr>
          <p:nvPr/>
        </p:nvSpPr>
        <p:spPr>
          <a:xfrm>
            <a:off x="11496675" y="6372225"/>
            <a:ext cx="30575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725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1725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00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rPr>
              <a:t>판독이 다르면 확정 없이 보완·확인</a:t>
            </a:r>
          </a:p>
        </p:txBody>
      </p:sp>
      <p:sp>
        <p:nvSpPr>
          <p:cNvPr id="38" name="text-95">
            <a:extLst>
              <a:ext uri="{FF2B5EF4-FFF2-40B4-BE49-F238E27FC236}">
                <a16:creationId xmlns:a16="http://schemas.microsoft.com/office/drawing/2014/main" id="{20EBF779-9417-4E5B-AA4E-306439BDFB49}"/>
              </a:ext>
            </a:extLst>
          </p:cNvPr>
          <p:cNvSpPr>
            <a:spLocks noGrp="1"/>
          </p:cNvSpPr>
          <p:nvPr/>
        </p:nvSpPr>
        <p:spPr>
          <a:xfrm>
            <a:off x="10658475" y="6924675"/>
            <a:ext cx="79057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500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1500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rPr>
              <a:t>조회</a:t>
            </a:r>
          </a:p>
        </p:txBody>
      </p:sp>
      <p:sp>
        <p:nvSpPr>
          <p:cNvPr id="39" name="text-96">
            <a:extLst>
              <a:ext uri="{FF2B5EF4-FFF2-40B4-BE49-F238E27FC236}">
                <a16:creationId xmlns:a16="http://schemas.microsoft.com/office/drawing/2014/main" id="{7E2755C1-D092-46FA-BB59-36DE42A1FC4D}"/>
              </a:ext>
            </a:extLst>
          </p:cNvPr>
          <p:cNvSpPr>
            <a:spLocks noGrp="1"/>
          </p:cNvSpPr>
          <p:nvPr/>
        </p:nvSpPr>
        <p:spPr>
          <a:xfrm>
            <a:off x="11496675" y="6924675"/>
            <a:ext cx="30575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725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1725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50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rPr>
              <a:t>문자 합의 후보로 조회 · 관계 연결 [후속]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4000" y="7722000"/>
            <a:ext cx="138708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50" b="0">
                <a:solidFill>
                  <a:srgbClr val="687584"/>
                </a:solidFill>
                <a:latin typeface="Apple SD Gothic Neo"/>
                <a:ea typeface="Apple SD Gothic Neo"/>
              </a:rPr>
              <a:t>근거 E21 [실행] 공개 철골 사진 8장 판정 비교(HF Steel OCR Dataset 960, 라벨은 평가용) · 8장 대시보드 주 사례와 별도 실행 · 보류는 최종 성과가 아니라 보완 경로의 시작 · 별첨 A2·A9·A10</a:t>
            </a:r>
          </a:p>
        </p:txBody>
      </p:sp>
    </p:spTree>
    <p:extLst>
      <p:ext uri="{BB962C8B-B14F-4D97-AF65-F5344CB8AC3E}">
        <p14:creationId xmlns:p14="http://schemas.microsoft.com/office/powerpoint/2010/main" val="8805180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-394">
            <a:extLst>
              <a:ext uri="{FF2B5EF4-FFF2-40B4-BE49-F238E27FC236}">
                <a16:creationId xmlns:a16="http://schemas.microsoft.com/office/drawing/2014/main" id="{51820527-D61A-4D51-A002-5D3DD82AB56E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6191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425" b="1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1425" b="1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rPr>
              <a:t>ContextWeld</a:t>
            </a:r>
          </a:p>
        </p:txBody>
      </p:sp>
      <p:sp>
        <p:nvSpPr>
          <p:cNvPr id="5" name="text-398">
            <a:extLst>
              <a:ext uri="{FF2B5EF4-FFF2-40B4-BE49-F238E27FC236}">
                <a16:creationId xmlns:a16="http://schemas.microsoft.com/office/drawing/2014/main" id="{AD51A9EE-EA83-4757-8136-AAC70C197B12}"/>
              </a:ext>
            </a:extLst>
          </p:cNvPr>
          <p:cNvSpPr>
            <a:spLocks noGrp="1"/>
          </p:cNvSpPr>
          <p:nvPr/>
        </p:nvSpPr>
        <p:spPr>
          <a:xfrm>
            <a:off x="666750" y="971550"/>
            <a:ext cx="1388745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600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3600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 dirty="0" err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rPr>
              <a:t>검증</a:t>
            </a:r>
            <a:r>
              <a:rPr sz="3600" b="1" dirty="0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3600" b="1" dirty="0" err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rPr>
              <a:t>단계</a:t>
            </a:r>
            <a:r>
              <a:rPr sz="3600" b="1" dirty="0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rPr>
              <a:t>: </a:t>
            </a:r>
            <a:r>
              <a:rPr sz="3600" b="1" dirty="0" err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rPr>
              <a:t>작업</a:t>
            </a:r>
            <a:r>
              <a:rPr sz="3600" b="1" dirty="0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3600" b="1" dirty="0" err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rPr>
              <a:t>맥락과</a:t>
            </a:r>
            <a:r>
              <a:rPr sz="3600" b="1" dirty="0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3600" b="1" dirty="0" err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rPr>
              <a:t>적용</a:t>
            </a:r>
            <a:r>
              <a:rPr sz="3600" b="1" dirty="0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3600" b="1" dirty="0" err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rPr>
              <a:t>기준</a:t>
            </a:r>
            <a:endParaRPr sz="3600" b="1" dirty="0">
              <a:solidFill>
                <a:srgbClr val="002554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6" name="text-399">
            <a:extLst>
              <a:ext uri="{FF2B5EF4-FFF2-40B4-BE49-F238E27FC236}">
                <a16:creationId xmlns:a16="http://schemas.microsoft.com/office/drawing/2014/main" id="{C6314DC5-8084-4958-B70D-392127B60B53}"/>
              </a:ext>
            </a:extLst>
          </p:cNvPr>
          <p:cNvSpPr>
            <a:spLocks noGrp="1"/>
          </p:cNvSpPr>
          <p:nvPr/>
        </p:nvSpPr>
        <p:spPr>
          <a:xfrm>
            <a:off x="685800" y="8077200"/>
            <a:ext cx="6667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125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1125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rPr>
              <a:t>Static Duo</a:t>
            </a:r>
          </a:p>
        </p:txBody>
      </p:sp>
      <p:sp>
        <p:nvSpPr>
          <p:cNvPr id="7" name="text-400">
            <a:extLst>
              <a:ext uri="{FF2B5EF4-FFF2-40B4-BE49-F238E27FC236}">
                <a16:creationId xmlns:a16="http://schemas.microsoft.com/office/drawing/2014/main" id="{E1ECD9B2-1E7A-4266-B70A-B59CDB9F1D36}"/>
              </a:ext>
            </a:extLst>
          </p:cNvPr>
          <p:cNvSpPr>
            <a:spLocks noGrp="1"/>
          </p:cNvSpPr>
          <p:nvPr/>
        </p:nvSpPr>
        <p:spPr>
          <a:xfrm>
            <a:off x="13868400" y="8020050"/>
            <a:ext cx="6858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r">
              <a:buNone/>
              <a:defRPr sz="1350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sp>
        <p:nvSpPr>
          <p:cNvPr id="8" name="text-401">
            <a:extLst>
              <a:ext uri="{FF2B5EF4-FFF2-40B4-BE49-F238E27FC236}">
                <a16:creationId xmlns:a16="http://schemas.microsoft.com/office/drawing/2014/main" id="{F5A786B4-5F68-42C0-A302-607EC2E726B6}"/>
              </a:ext>
            </a:extLst>
          </p:cNvPr>
          <p:cNvSpPr>
            <a:spLocks noGrp="1"/>
          </p:cNvSpPr>
          <p:nvPr/>
        </p:nvSpPr>
        <p:spPr>
          <a:xfrm>
            <a:off x="685800" y="1885950"/>
            <a:ext cx="10668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1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2025" b="1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rPr>
              <a:t>같은 작업의 대상·문서 개정·적용 조건을 대조하고 누락·충돌을 확인</a:t>
            </a:r>
          </a:p>
        </p:txBody>
      </p:sp>
      <p:sp>
        <p:nvSpPr>
          <p:cNvPr id="9" name="text-402">
            <a:extLst>
              <a:ext uri="{FF2B5EF4-FFF2-40B4-BE49-F238E27FC236}">
                <a16:creationId xmlns:a16="http://schemas.microsoft.com/office/drawing/2014/main" id="{AB595227-DCBF-4E34-AF5A-EA7344A7F803}"/>
              </a:ext>
            </a:extLst>
          </p:cNvPr>
          <p:cNvSpPr>
            <a:spLocks noGrp="1"/>
          </p:cNvSpPr>
          <p:nvPr/>
        </p:nvSpPr>
        <p:spPr>
          <a:xfrm>
            <a:off x="11620500" y="1933575"/>
            <a:ext cx="29337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500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r">
              <a:buNone/>
              <a:defRPr sz="1500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rPr>
              <a:t>문서 검토 데모 [실행]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E239EC0F-6B32-48AD-95E8-F7B196B76C6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20159612"/>
              </p:ext>
            </p:extLst>
          </p:nvPr>
        </p:nvGraphicFramePr>
        <p:xfrm>
          <a:off x="685800" y="2486025"/>
          <a:ext cx="13868400" cy="3154680"/>
        </p:xfrm>
        <a:graphic>
          <a:graphicData uri="http://schemas.openxmlformats.org/drawingml/2006/table">
            <a:tbl>
              <a:tblPr/>
              <a:tblGrid>
                <a:gridCol w="1609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0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6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66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14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286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검사 항목</a:t>
                      </a:r>
                    </a:p>
                  </a:txBody>
                  <a:tcPr anchor="ctr">
                    <a:lnL w="9525">
                      <a:solidFill>
                        <a:srgbClr val="D4DCE4"/>
                      </a:solidFill>
                      <a:prstDash val="solid"/>
                    </a:lnL>
                    <a:lnR w="9525">
                      <a:solidFill>
                        <a:srgbClr val="D4DCE4"/>
                      </a:solidFill>
                      <a:prstDash val="solid"/>
                    </a:lnR>
                    <a:lnT w="9525">
                      <a:solidFill>
                        <a:srgbClr val="D4DCE4"/>
                      </a:solidFill>
                      <a:prstDash val="solid"/>
                    </a:lnT>
                    <a:lnB w="9525">
                      <a:solidFill>
                        <a:srgbClr val="D4DCE4"/>
                      </a:solidFill>
                      <a:prstDash val="solid"/>
                    </a:lnB>
                    <a:solidFill>
                      <a:srgbClr val="00255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대조 근거 [문서]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CE4"/>
                      </a:solidFill>
                      <a:prstDash val="solid"/>
                    </a:lnR>
                    <a:lnT w="9525">
                      <a:solidFill>
                        <a:srgbClr val="D4DCE4"/>
                      </a:solidFill>
                      <a:prstDash val="solid"/>
                    </a:lnT>
                    <a:lnB w="9525">
                      <a:solidFill>
                        <a:srgbClr val="D4DCE4"/>
                      </a:solidFill>
                      <a:prstDash val="solid"/>
                    </a:lnB>
                    <a:solidFill>
                      <a:srgbClr val="00255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사례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CE4"/>
                      </a:solidFill>
                      <a:prstDash val="solid"/>
                    </a:lnR>
                    <a:lnT w="9525">
                      <a:solidFill>
                        <a:srgbClr val="D4DCE4"/>
                      </a:solidFill>
                      <a:prstDash val="solid"/>
                    </a:lnT>
                    <a:lnB w="9525">
                      <a:solidFill>
                        <a:srgbClr val="D4DCE4"/>
                      </a:solidFill>
                      <a:prstDash val="solid"/>
                    </a:lnB>
                    <a:solidFill>
                      <a:srgbClr val="00255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판정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CE4"/>
                      </a:solidFill>
                      <a:prstDash val="solid"/>
                    </a:lnR>
                    <a:lnT w="9525">
                      <a:solidFill>
                        <a:srgbClr val="D4DCE4"/>
                      </a:solidFill>
                      <a:prstDash val="solid"/>
                    </a:lnT>
                    <a:lnB w="9525">
                      <a:solidFill>
                        <a:srgbClr val="D4DCE4"/>
                      </a:solidFill>
                      <a:prstDash val="solid"/>
                    </a:lnB>
                    <a:solidFill>
                      <a:srgbClr val="00255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조치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CE4"/>
                      </a:solidFill>
                      <a:prstDash val="solid"/>
                    </a:lnR>
                    <a:lnT w="9525">
                      <a:solidFill>
                        <a:srgbClr val="D4DCE4"/>
                      </a:solidFill>
                      <a:prstDash val="solid"/>
                    </a:lnT>
                    <a:lnB w="9525">
                      <a:solidFill>
                        <a:srgbClr val="D4DCE4"/>
                      </a:solidFill>
                      <a:prstDash val="solid"/>
                    </a:lnB>
                    <a:solidFill>
                      <a:srgbClr val="0025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00255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대상·개정 일치</a:t>
                      </a:r>
                    </a:p>
                  </a:txBody>
                  <a:tcPr anchor="ctr">
                    <a:lnL w="9525">
                      <a:solidFill>
                        <a:srgbClr val="D4DCE4"/>
                      </a:solidFill>
                      <a:prstDash val="solid"/>
                    </a:lnL>
                    <a:lnR w="9525">
                      <a:solidFill>
                        <a:srgbClr val="D4DCE4"/>
                      </a:solidFill>
                      <a:prstDash val="solid"/>
                    </a:lnR>
                    <a:lnT w="9525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CE4"/>
                      </a:solidFill>
                      <a:prstDash val="soli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작업지시 · 도면 개정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CE4"/>
                      </a:solidFill>
                      <a:prstDash val="solid"/>
                    </a:lnR>
                    <a:lnT w="9525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정상 사례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CE4"/>
                      </a:solidFill>
                      <a:prstDash val="solid"/>
                    </a:lnR>
                    <a:lnT w="9525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통과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CE4"/>
                      </a:solidFill>
                      <a:prstDash val="solid"/>
                    </a:lnR>
                    <a:lnT w="9525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명세 생성 → 전달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CE4"/>
                      </a:solidFill>
                      <a:prstDash val="solid"/>
                    </a:lnR>
                    <a:lnT w="9525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00255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필수값 누락</a:t>
                      </a:r>
                    </a:p>
                  </a:txBody>
                  <a:tcPr anchor="ctr">
                    <a:lnL w="9525">
                      <a:solidFill>
                        <a:srgbClr val="D4DCE4"/>
                      </a:solidFill>
                      <a:prstDash val="solid"/>
                    </a:lnL>
                    <a:lnR w="9525">
                      <a:solidFill>
                        <a:srgbClr val="D4DCE4"/>
                      </a:solidFill>
                      <a:prstDash val="solid"/>
                    </a:lnR>
                    <a:lnT w="9525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CE4"/>
                      </a:solidFill>
                      <a:prstDash val="soli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WPS 조건표 (전압)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CE4"/>
                      </a:solidFill>
                      <a:prstDash val="solid"/>
                    </a:lnR>
                    <a:lnT w="9525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CE4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전압 누락 [모의]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CE4"/>
                      </a:solidFill>
                      <a:prstDash val="solid"/>
                    </a:lnR>
                    <a:lnT w="9525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CE4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보류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CE4"/>
                      </a:solidFill>
                      <a:prstDash val="solid"/>
                    </a:lnR>
                    <a:lnT w="9525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CE4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작업자 확인 → 재검토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CE4"/>
                      </a:solidFill>
                      <a:prstDash val="solid"/>
                    </a:lnR>
                    <a:lnT w="9525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CE4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00255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공정 충돌</a:t>
                      </a:r>
                    </a:p>
                  </a:txBody>
                  <a:tcPr anchor="ctr">
                    <a:lnL w="9525">
                      <a:solidFill>
                        <a:srgbClr val="D4DCE4"/>
                      </a:solidFill>
                      <a:prstDash val="solid"/>
                    </a:lnL>
                    <a:lnR w="9525">
                      <a:solidFill>
                        <a:srgbClr val="D4DCE4"/>
                      </a:solidFill>
                      <a:prstDash val="solid"/>
                    </a:lnR>
                    <a:lnT w="9525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작업지시 vs 도면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CE4"/>
                      </a:solidFill>
                      <a:prstDash val="solid"/>
                    </a:lnR>
                    <a:lnT w="9525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공정 불일치 [모의]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CE4"/>
                      </a:solidFill>
                      <a:prstDash val="solid"/>
                    </a:lnR>
                    <a:lnT w="9525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보류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CE4"/>
                      </a:solidFill>
                      <a:prstDash val="solid"/>
                    </a:lnR>
                    <a:lnT w="9525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문서 재조회 · 확인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CE4"/>
                      </a:solidFill>
                      <a:prstDash val="solid"/>
                    </a:lnR>
                    <a:lnT w="9525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dirty="0" err="1">
                          <a:solidFill>
                            <a:srgbClr val="00255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판독</a:t>
                      </a:r>
                      <a:r>
                        <a:rPr sz="1800" b="1" dirty="0">
                          <a:solidFill>
                            <a:srgbClr val="00255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 </a:t>
                      </a:r>
                      <a:r>
                        <a:rPr sz="1800" b="1" dirty="0" err="1">
                          <a:solidFill>
                            <a:srgbClr val="00255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일치</a:t>
                      </a:r>
                      <a:endParaRPr sz="1800" b="1" dirty="0">
                        <a:solidFill>
                          <a:srgbClr val="002554"/>
                        </a:solidFill>
                        <a:latin typeface="Apple SD Gothic Neo"/>
                        <a:ea typeface="Apple SD Gothic Neo"/>
                        <a:cs typeface="Apple SD Gothic Neo"/>
                      </a:endParaRPr>
                    </a:p>
                  </a:txBody>
                  <a:tcPr anchor="ctr">
                    <a:lnL w="9525">
                      <a:solidFill>
                        <a:srgbClr val="D4DCE4"/>
                      </a:solidFill>
                      <a:prstDash val="solid"/>
                    </a:lnL>
                    <a:lnR w="9525">
                      <a:solidFill>
                        <a:srgbClr val="D4DCE4"/>
                      </a:solidFill>
                      <a:prstDash val="solid"/>
                    </a:lnR>
                    <a:lnT w="9525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CE4"/>
                      </a:solidFill>
                      <a:prstDash val="soli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 dirty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OCR vs VLM [</a:t>
                      </a:r>
                      <a:r>
                        <a:rPr sz="1800" b="0" dirty="0" err="1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관측</a:t>
                      </a:r>
                      <a:r>
                        <a:rPr sz="1800" b="0" dirty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]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CE4"/>
                      </a:solidFill>
                      <a:prstDash val="solid"/>
                    </a:lnR>
                    <a:lnT w="9525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CE4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dirty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BISb30N-29 vs B1Sb3ON-29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CE4"/>
                      </a:solidFill>
                      <a:prstDash val="solid"/>
                    </a:lnR>
                    <a:lnT w="9525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CE4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dirty="0" err="1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보류</a:t>
                      </a:r>
                      <a:endParaRPr sz="1800" b="0" dirty="0">
                        <a:solidFill>
                          <a:srgbClr val="526477"/>
                        </a:solidFill>
                        <a:latin typeface="Apple SD Gothic Neo"/>
                        <a:ea typeface="Apple SD Gothic Neo"/>
                        <a:cs typeface="Apple SD Gothic Neo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CE4"/>
                      </a:solidFill>
                      <a:prstDash val="solid"/>
                    </a:lnR>
                    <a:lnT w="9525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CE4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dirty="0" err="1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추가</a:t>
                      </a:r>
                      <a:r>
                        <a:rPr sz="1800" b="0" dirty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관측</a:t>
                      </a:r>
                      <a:r>
                        <a:rPr sz="1800" b="0" dirty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 · </a:t>
                      </a:r>
                      <a:r>
                        <a:rPr sz="1800" b="0" dirty="0" err="1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확인</a:t>
                      </a:r>
                      <a:endParaRPr sz="1800" b="0" dirty="0">
                        <a:solidFill>
                          <a:srgbClr val="526477"/>
                        </a:solidFill>
                        <a:latin typeface="Apple SD Gothic Neo"/>
                        <a:ea typeface="Apple SD Gothic Neo"/>
                        <a:cs typeface="Apple SD Gothic Neo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CE4"/>
                      </a:solidFill>
                      <a:prstDash val="solid"/>
                    </a:lnR>
                    <a:lnT w="9525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CE4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rule-403">
            <a:extLst>
              <a:ext uri="{FF2B5EF4-FFF2-40B4-BE49-F238E27FC236}">
                <a16:creationId xmlns:a16="http://schemas.microsoft.com/office/drawing/2014/main" id="{2B027E65-D2C7-43C0-B420-4AEE24DBF6C1}"/>
              </a:ext>
            </a:extLst>
          </p:cNvPr>
          <p:cNvSpPr>
            <a:spLocks noGrp="1"/>
          </p:cNvSpPr>
          <p:nvPr/>
        </p:nvSpPr>
        <p:spPr>
          <a:xfrm>
            <a:off x="685800" y="6524625"/>
            <a:ext cx="6467475" cy="95"/>
          </a:xfrm>
          <a:prstGeom prst="line">
            <a:avLst/>
          </a:prstGeom>
          <a:noFill/>
          <a:ln w="1905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2" name="text-404">
            <a:extLst>
              <a:ext uri="{FF2B5EF4-FFF2-40B4-BE49-F238E27FC236}">
                <a16:creationId xmlns:a16="http://schemas.microsoft.com/office/drawing/2014/main" id="{F101B68A-F795-4D5C-A591-B281CCE2273B}"/>
              </a:ext>
            </a:extLst>
          </p:cNvPr>
          <p:cNvSpPr>
            <a:spLocks noGrp="1"/>
          </p:cNvSpPr>
          <p:nvPr/>
        </p:nvSpPr>
        <p:spPr>
          <a:xfrm>
            <a:off x="685800" y="6677025"/>
            <a:ext cx="64674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2025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rPr>
              <a:t>문서 근거 [실행]</a:t>
            </a:r>
          </a:p>
        </p:txBody>
      </p:sp>
      <p:sp>
        <p:nvSpPr>
          <p:cNvPr id="13" name="text-405">
            <a:extLst>
              <a:ext uri="{FF2B5EF4-FFF2-40B4-BE49-F238E27FC236}">
                <a16:creationId xmlns:a16="http://schemas.microsoft.com/office/drawing/2014/main" id="{A735AC82-7E6F-4AC5-922D-7AA5E675240B}"/>
              </a:ext>
            </a:extLst>
          </p:cNvPr>
          <p:cNvSpPr>
            <a:spLocks noGrp="1"/>
          </p:cNvSpPr>
          <p:nvPr/>
        </p:nvSpPr>
        <p:spPr>
          <a:xfrm>
            <a:off x="685800" y="7181850"/>
            <a:ext cx="6467475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1800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50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rPr>
              <a:t>공개 참고 문서 4개(TWI 60·WTS 1·WPS 2·arccond 11) → 74단위, 원문 해시·위치 보존</a:t>
            </a:r>
          </a:p>
          <a:p>
            <a:pPr algn="l">
              <a:buNone/>
              <a:defRPr sz="1800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50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rPr>
              <a:t>선택 WPS 필드만 값·단위·개정 검수 · 시연용 작업지시·도면은 자체 작성 [모의]</a:t>
            </a:r>
          </a:p>
        </p:txBody>
      </p:sp>
      <p:sp>
        <p:nvSpPr>
          <p:cNvPr id="14" name="rule-406">
            <a:extLst>
              <a:ext uri="{FF2B5EF4-FFF2-40B4-BE49-F238E27FC236}">
                <a16:creationId xmlns:a16="http://schemas.microsoft.com/office/drawing/2014/main" id="{BA2FDD72-6298-4617-AA5A-2208C1AA1EB8}"/>
              </a:ext>
            </a:extLst>
          </p:cNvPr>
          <p:cNvSpPr>
            <a:spLocks noGrp="1"/>
          </p:cNvSpPr>
          <p:nvPr/>
        </p:nvSpPr>
        <p:spPr>
          <a:xfrm>
            <a:off x="7905750" y="6524625"/>
            <a:ext cx="6648450" cy="95"/>
          </a:xfrm>
          <a:prstGeom prst="line">
            <a:avLst/>
          </a:prstGeom>
          <a:noFill/>
          <a:ln w="19050">
            <a:solidFill>
              <a:srgbClr val="00843D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5" name="text-407">
            <a:extLst>
              <a:ext uri="{FF2B5EF4-FFF2-40B4-BE49-F238E27FC236}">
                <a16:creationId xmlns:a16="http://schemas.microsoft.com/office/drawing/2014/main" id="{6B545554-D00C-4933-AE35-0A81530BAB8D}"/>
              </a:ext>
            </a:extLst>
          </p:cNvPr>
          <p:cNvSpPr>
            <a:spLocks noGrp="1"/>
          </p:cNvSpPr>
          <p:nvPr/>
        </p:nvSpPr>
        <p:spPr>
          <a:xfrm>
            <a:off x="7905750" y="6677025"/>
            <a:ext cx="66484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2025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rPr>
              <a:t>전달 조건 [설계]</a:t>
            </a:r>
          </a:p>
        </p:txBody>
      </p:sp>
      <p:sp>
        <p:nvSpPr>
          <p:cNvPr id="16" name="text-408">
            <a:extLst>
              <a:ext uri="{FF2B5EF4-FFF2-40B4-BE49-F238E27FC236}">
                <a16:creationId xmlns:a16="http://schemas.microsoft.com/office/drawing/2014/main" id="{D2DD74B0-E813-4C91-8894-AD7D11BB27A8}"/>
              </a:ext>
            </a:extLst>
          </p:cNvPr>
          <p:cNvSpPr>
            <a:spLocks noGrp="1"/>
          </p:cNvSpPr>
          <p:nvPr/>
        </p:nvSpPr>
        <p:spPr>
          <a:xfrm>
            <a:off x="7905750" y="7181850"/>
            <a:ext cx="664845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1800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50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rPr>
              <a:t>미해결 충돌은 전달 가능 상태로 표시하지 않음 · 보완 뒤 남는 누락·충돌만 확인 요청</a:t>
            </a:r>
          </a:p>
          <a:p>
            <a:pPr algn="l">
              <a:buNone/>
              <a:defRPr sz="1800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50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rPr>
              <a:t>명시적 재검토 = 저장 관측 + 수정으로 문서 규칙 재검토 [실행] · 시각 재해석 [후속]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4000" y="7722000"/>
            <a:ext cx="138708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50" b="0">
                <a:solidFill>
                  <a:srgbClr val="687584"/>
                </a:solidFill>
                <a:latin typeface="Apple SD Gothic Neo"/>
                <a:ea typeface="Apple SD Gothic Neo"/>
              </a:rPr>
              <a:t>근거 E16 [실행] 정상 1건 수신 · 보류 4건(모의 3 · 실제 판독 1) · E05 · 자동화 목표: 문서를 찾고 조건을 대조하던 일을 연결 · 별첨 A3·A6·A9</a:t>
            </a:r>
          </a:p>
        </p:txBody>
      </p:sp>
    </p:spTree>
    <p:extLst>
      <p:ext uri="{BB962C8B-B14F-4D97-AF65-F5344CB8AC3E}">
        <p14:creationId xmlns:p14="http://schemas.microsoft.com/office/powerpoint/2010/main" val="15393468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-283">
            <a:extLst>
              <a:ext uri="{FF2B5EF4-FFF2-40B4-BE49-F238E27FC236}">
                <a16:creationId xmlns:a16="http://schemas.microsoft.com/office/drawing/2014/main" id="{83B2BABE-D24C-42F8-9A11-1A57DCEE58D3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6191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425" b="1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1425" b="1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rPr>
              <a:t>ContextWeld</a:t>
            </a:r>
          </a:p>
        </p:txBody>
      </p:sp>
      <p:sp>
        <p:nvSpPr>
          <p:cNvPr id="5" name="text-287">
            <a:extLst>
              <a:ext uri="{FF2B5EF4-FFF2-40B4-BE49-F238E27FC236}">
                <a16:creationId xmlns:a16="http://schemas.microsoft.com/office/drawing/2014/main" id="{208471D4-98AE-48BF-8CA7-51D80762D0BC}"/>
              </a:ext>
            </a:extLst>
          </p:cNvPr>
          <p:cNvSpPr>
            <a:spLocks noGrp="1"/>
          </p:cNvSpPr>
          <p:nvPr/>
        </p:nvSpPr>
        <p:spPr>
          <a:xfrm>
            <a:off x="666750" y="971550"/>
            <a:ext cx="1388745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600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3600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rPr>
              <a:t>전달 단계: 파라미터 구성과 수신 확인</a:t>
            </a:r>
          </a:p>
        </p:txBody>
      </p:sp>
      <p:sp>
        <p:nvSpPr>
          <p:cNvPr id="6" name="text-288">
            <a:extLst>
              <a:ext uri="{FF2B5EF4-FFF2-40B4-BE49-F238E27FC236}">
                <a16:creationId xmlns:a16="http://schemas.microsoft.com/office/drawing/2014/main" id="{F5068689-D2A3-4236-9515-BB954C68B22E}"/>
              </a:ext>
            </a:extLst>
          </p:cNvPr>
          <p:cNvSpPr>
            <a:spLocks noGrp="1"/>
          </p:cNvSpPr>
          <p:nvPr/>
        </p:nvSpPr>
        <p:spPr>
          <a:xfrm>
            <a:off x="685800" y="8077200"/>
            <a:ext cx="6667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125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1125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rPr>
              <a:t>Static Duo</a:t>
            </a:r>
          </a:p>
        </p:txBody>
      </p:sp>
      <p:sp>
        <p:nvSpPr>
          <p:cNvPr id="7" name="text-289">
            <a:extLst>
              <a:ext uri="{FF2B5EF4-FFF2-40B4-BE49-F238E27FC236}">
                <a16:creationId xmlns:a16="http://schemas.microsoft.com/office/drawing/2014/main" id="{63E044CC-C299-40CE-81DC-FA8A6F3DD4A3}"/>
              </a:ext>
            </a:extLst>
          </p:cNvPr>
          <p:cNvSpPr>
            <a:spLocks noGrp="1"/>
          </p:cNvSpPr>
          <p:nvPr/>
        </p:nvSpPr>
        <p:spPr>
          <a:xfrm>
            <a:off x="13868400" y="8020050"/>
            <a:ext cx="6858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r">
              <a:buNone/>
              <a:defRPr sz="1350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  <p:sp>
        <p:nvSpPr>
          <p:cNvPr id="8" name="text-290">
            <a:extLst>
              <a:ext uri="{FF2B5EF4-FFF2-40B4-BE49-F238E27FC236}">
                <a16:creationId xmlns:a16="http://schemas.microsoft.com/office/drawing/2014/main" id="{70B96D2E-08F3-4653-AC6A-BFD19D8AB283}"/>
              </a:ext>
            </a:extLst>
          </p:cNvPr>
          <p:cNvSpPr>
            <a:spLocks noGrp="1"/>
          </p:cNvSpPr>
          <p:nvPr/>
        </p:nvSpPr>
        <p:spPr>
          <a:xfrm>
            <a:off x="704850" y="1685925"/>
            <a:ext cx="1362075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1875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rPr>
              <a:t>공통 작업 명세를 수신측 형식으로 바꾸고 전송 요청과 수신을 구분</a:t>
            </a:r>
          </a:p>
        </p:txBody>
      </p:sp>
      <p:sp>
        <p:nvSpPr>
          <p:cNvPr id="9" name="rule-291">
            <a:extLst>
              <a:ext uri="{FF2B5EF4-FFF2-40B4-BE49-F238E27FC236}">
                <a16:creationId xmlns:a16="http://schemas.microsoft.com/office/drawing/2014/main" id="{354A1761-0B53-4651-9EA3-626B70AEFEB9}"/>
              </a:ext>
            </a:extLst>
          </p:cNvPr>
          <p:cNvSpPr>
            <a:spLocks noGrp="1"/>
          </p:cNvSpPr>
          <p:nvPr/>
        </p:nvSpPr>
        <p:spPr>
          <a:xfrm>
            <a:off x="952500" y="3095625"/>
            <a:ext cx="13258800" cy="95"/>
          </a:xfrm>
          <a:prstGeom prst="line">
            <a:avLst/>
          </a:prstGeom>
          <a:noFill/>
          <a:ln w="38100">
            <a:solidFill>
              <a:srgbClr val="D4DCE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0" name="circle-292">
            <a:extLst>
              <a:ext uri="{FF2B5EF4-FFF2-40B4-BE49-F238E27FC236}">
                <a16:creationId xmlns:a16="http://schemas.microsoft.com/office/drawing/2014/main" id="{EED05EE0-892F-4CBB-A7A0-F842DC47668B}"/>
              </a:ext>
            </a:extLst>
          </p:cNvPr>
          <p:cNvSpPr>
            <a:spLocks noGrp="1"/>
          </p:cNvSpPr>
          <p:nvPr/>
        </p:nvSpPr>
        <p:spPr>
          <a:xfrm>
            <a:off x="714375" y="2962275"/>
            <a:ext cx="266700" cy="266700"/>
          </a:xfrm>
          <a:prstGeom prst="ellipse">
            <a:avLst/>
          </a:prstGeom>
          <a:solidFill>
            <a:srgbClr val="003087"/>
          </a:solidFill>
          <a:ln w="0">
            <a:noFill/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1" name="text-293">
            <a:extLst>
              <a:ext uri="{FF2B5EF4-FFF2-40B4-BE49-F238E27FC236}">
                <a16:creationId xmlns:a16="http://schemas.microsoft.com/office/drawing/2014/main" id="{5B341B0B-835D-4F08-BA7E-9F191F66FA38}"/>
              </a:ext>
            </a:extLst>
          </p:cNvPr>
          <p:cNvSpPr>
            <a:spLocks noGrp="1"/>
          </p:cNvSpPr>
          <p:nvPr/>
        </p:nvSpPr>
        <p:spPr>
          <a:xfrm>
            <a:off x="685800" y="2238375"/>
            <a:ext cx="28765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1875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rPr>
              <a:t>STEP 01</a:t>
            </a:r>
          </a:p>
        </p:txBody>
      </p:sp>
      <p:sp>
        <p:nvSpPr>
          <p:cNvPr id="12" name="text-294">
            <a:extLst>
              <a:ext uri="{FF2B5EF4-FFF2-40B4-BE49-F238E27FC236}">
                <a16:creationId xmlns:a16="http://schemas.microsoft.com/office/drawing/2014/main" id="{BD7A8DD0-7929-419B-972F-C05391B8DB29}"/>
              </a:ext>
            </a:extLst>
          </p:cNvPr>
          <p:cNvSpPr>
            <a:spLocks noGrp="1"/>
          </p:cNvSpPr>
          <p:nvPr/>
        </p:nvSpPr>
        <p:spPr>
          <a:xfrm>
            <a:off x="685800" y="3467100"/>
            <a:ext cx="289560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475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2475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75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rPr>
              <a:t>구성</a:t>
            </a:r>
          </a:p>
        </p:txBody>
      </p:sp>
      <p:sp>
        <p:nvSpPr>
          <p:cNvPr id="13" name="text-295">
            <a:extLst>
              <a:ext uri="{FF2B5EF4-FFF2-40B4-BE49-F238E27FC236}">
                <a16:creationId xmlns:a16="http://schemas.microsoft.com/office/drawing/2014/main" id="{98700B47-B9A6-4FE3-BCB2-350AFD3F1557}"/>
              </a:ext>
            </a:extLst>
          </p:cNvPr>
          <p:cNvSpPr>
            <a:spLocks noGrp="1"/>
          </p:cNvSpPr>
          <p:nvPr/>
        </p:nvSpPr>
        <p:spPr>
          <a:xfrm>
            <a:off x="685800" y="4076700"/>
            <a:ext cx="2886075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725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1725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rPr>
              <a:t>명세 → 수신측 필드</a:t>
            </a:r>
          </a:p>
        </p:txBody>
      </p:sp>
      <p:sp>
        <p:nvSpPr>
          <p:cNvPr id="14" name="rule-296">
            <a:extLst>
              <a:ext uri="{FF2B5EF4-FFF2-40B4-BE49-F238E27FC236}">
                <a16:creationId xmlns:a16="http://schemas.microsoft.com/office/drawing/2014/main" id="{4493D9AD-9E2F-4518-BD5F-3C891425C860}"/>
              </a:ext>
            </a:extLst>
          </p:cNvPr>
          <p:cNvSpPr>
            <a:spLocks noGrp="1"/>
          </p:cNvSpPr>
          <p:nvPr/>
        </p:nvSpPr>
        <p:spPr>
          <a:xfrm>
            <a:off x="685800" y="4667250"/>
            <a:ext cx="2943225" cy="95"/>
          </a:xfrm>
          <a:prstGeom prst="line">
            <a:avLst/>
          </a:prstGeom>
          <a:noFill/>
          <a:ln w="1905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5" name="text-297">
            <a:extLst>
              <a:ext uri="{FF2B5EF4-FFF2-40B4-BE49-F238E27FC236}">
                <a16:creationId xmlns:a16="http://schemas.microsoft.com/office/drawing/2014/main" id="{CCEBD885-2417-4E8C-90A4-F516772766BE}"/>
              </a:ext>
            </a:extLst>
          </p:cNvPr>
          <p:cNvSpPr>
            <a:spLocks noGrp="1"/>
          </p:cNvSpPr>
          <p:nvPr/>
        </p:nvSpPr>
        <p:spPr>
          <a:xfrm>
            <a:off x="685800" y="4895850"/>
            <a:ext cx="29241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1800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rPr>
              <a:t>판단과 근거</a:t>
            </a:r>
          </a:p>
        </p:txBody>
      </p:sp>
      <p:sp>
        <p:nvSpPr>
          <p:cNvPr id="16" name="text-298">
            <a:extLst>
              <a:ext uri="{FF2B5EF4-FFF2-40B4-BE49-F238E27FC236}">
                <a16:creationId xmlns:a16="http://schemas.microsoft.com/office/drawing/2014/main" id="{D4A198ED-122C-4ADB-B3FF-5AF35834E14B}"/>
              </a:ext>
            </a:extLst>
          </p:cNvPr>
          <p:cNvSpPr>
            <a:spLocks noGrp="1"/>
          </p:cNvSpPr>
          <p:nvPr/>
        </p:nvSpPr>
        <p:spPr>
          <a:xfrm>
            <a:off x="685800" y="5391150"/>
            <a:ext cx="2933700" cy="1038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1875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00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rPr>
              <a:t>대상·조건·단위·근거 유지</a:t>
            </a:r>
          </a:p>
          <a:p>
            <a:pPr algn="l">
              <a:buNone/>
              <a:defRPr sz="1875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00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rPr>
              <a:t>값별 출처 태그 보존</a:t>
            </a:r>
          </a:p>
          <a:p>
            <a:pPr algn="l">
              <a:buNone/>
              <a:defRPr sz="1875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00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rPr>
              <a:t>좌표는 별도 공급 [후속]</a:t>
            </a:r>
          </a:p>
        </p:txBody>
      </p:sp>
      <p:sp>
        <p:nvSpPr>
          <p:cNvPr id="17" name="text-299">
            <a:extLst>
              <a:ext uri="{FF2B5EF4-FFF2-40B4-BE49-F238E27FC236}">
                <a16:creationId xmlns:a16="http://schemas.microsoft.com/office/drawing/2014/main" id="{D8503537-B9A1-473D-8B98-1F360E7B04AB}"/>
              </a:ext>
            </a:extLst>
          </p:cNvPr>
          <p:cNvSpPr>
            <a:spLocks noGrp="1"/>
          </p:cNvSpPr>
          <p:nvPr/>
        </p:nvSpPr>
        <p:spPr>
          <a:xfrm>
            <a:off x="685800" y="6619875"/>
            <a:ext cx="29146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650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1650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rPr>
              <a:t>파라미터 초안</a:t>
            </a:r>
          </a:p>
        </p:txBody>
      </p:sp>
      <p:sp>
        <p:nvSpPr>
          <p:cNvPr id="18" name="circle-300">
            <a:extLst>
              <a:ext uri="{FF2B5EF4-FFF2-40B4-BE49-F238E27FC236}">
                <a16:creationId xmlns:a16="http://schemas.microsoft.com/office/drawing/2014/main" id="{E0F39AFA-509E-4983-8548-8CDC508E1099}"/>
              </a:ext>
            </a:extLst>
          </p:cNvPr>
          <p:cNvSpPr>
            <a:spLocks noGrp="1"/>
          </p:cNvSpPr>
          <p:nvPr/>
        </p:nvSpPr>
        <p:spPr>
          <a:xfrm>
            <a:off x="4343400" y="2962275"/>
            <a:ext cx="266700" cy="266700"/>
          </a:xfrm>
          <a:prstGeom prst="ellipse">
            <a:avLst/>
          </a:prstGeom>
          <a:solidFill>
            <a:srgbClr val="003087"/>
          </a:solidFill>
          <a:ln w="0">
            <a:noFill/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9" name="text-301">
            <a:extLst>
              <a:ext uri="{FF2B5EF4-FFF2-40B4-BE49-F238E27FC236}">
                <a16:creationId xmlns:a16="http://schemas.microsoft.com/office/drawing/2014/main" id="{8766E6FE-A547-4631-907B-AC9152E2DC12}"/>
              </a:ext>
            </a:extLst>
          </p:cNvPr>
          <p:cNvSpPr>
            <a:spLocks noGrp="1"/>
          </p:cNvSpPr>
          <p:nvPr/>
        </p:nvSpPr>
        <p:spPr>
          <a:xfrm>
            <a:off x="4314825" y="2238375"/>
            <a:ext cx="28765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1875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rPr>
              <a:t>STEP 02</a:t>
            </a:r>
          </a:p>
        </p:txBody>
      </p:sp>
      <p:sp>
        <p:nvSpPr>
          <p:cNvPr id="20" name="text-302">
            <a:extLst>
              <a:ext uri="{FF2B5EF4-FFF2-40B4-BE49-F238E27FC236}">
                <a16:creationId xmlns:a16="http://schemas.microsoft.com/office/drawing/2014/main" id="{32B71A12-0361-4D45-98C8-9A511A80916C}"/>
              </a:ext>
            </a:extLst>
          </p:cNvPr>
          <p:cNvSpPr>
            <a:spLocks noGrp="1"/>
          </p:cNvSpPr>
          <p:nvPr/>
        </p:nvSpPr>
        <p:spPr>
          <a:xfrm>
            <a:off x="4314825" y="3467100"/>
            <a:ext cx="289560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475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2475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75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rPr>
              <a:t>검증</a:t>
            </a:r>
          </a:p>
        </p:txBody>
      </p:sp>
      <p:sp>
        <p:nvSpPr>
          <p:cNvPr id="21" name="text-303">
            <a:extLst>
              <a:ext uri="{FF2B5EF4-FFF2-40B4-BE49-F238E27FC236}">
                <a16:creationId xmlns:a16="http://schemas.microsoft.com/office/drawing/2014/main" id="{1FA36E29-3624-43C9-8382-E2E4760F6673}"/>
              </a:ext>
            </a:extLst>
          </p:cNvPr>
          <p:cNvSpPr>
            <a:spLocks noGrp="1"/>
          </p:cNvSpPr>
          <p:nvPr/>
        </p:nvSpPr>
        <p:spPr>
          <a:xfrm>
            <a:off x="4314825" y="4076700"/>
            <a:ext cx="2886075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725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1725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rPr>
              <a:t>필수값·단위·승인 플래그</a:t>
            </a:r>
          </a:p>
        </p:txBody>
      </p:sp>
      <p:sp>
        <p:nvSpPr>
          <p:cNvPr id="22" name="rule-304">
            <a:extLst>
              <a:ext uri="{FF2B5EF4-FFF2-40B4-BE49-F238E27FC236}">
                <a16:creationId xmlns:a16="http://schemas.microsoft.com/office/drawing/2014/main" id="{B49F0F31-6A2C-44E0-B4B3-9249AA157904}"/>
              </a:ext>
            </a:extLst>
          </p:cNvPr>
          <p:cNvSpPr>
            <a:spLocks noGrp="1"/>
          </p:cNvSpPr>
          <p:nvPr/>
        </p:nvSpPr>
        <p:spPr>
          <a:xfrm>
            <a:off x="4314825" y="4667250"/>
            <a:ext cx="2943225" cy="95"/>
          </a:xfrm>
          <a:prstGeom prst="line">
            <a:avLst/>
          </a:prstGeom>
          <a:noFill/>
          <a:ln w="1905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3" name="text-305">
            <a:extLst>
              <a:ext uri="{FF2B5EF4-FFF2-40B4-BE49-F238E27FC236}">
                <a16:creationId xmlns:a16="http://schemas.microsoft.com/office/drawing/2014/main" id="{FE0566BC-0DFC-4117-8714-A32D216FB0BE}"/>
              </a:ext>
            </a:extLst>
          </p:cNvPr>
          <p:cNvSpPr>
            <a:spLocks noGrp="1"/>
          </p:cNvSpPr>
          <p:nvPr/>
        </p:nvSpPr>
        <p:spPr>
          <a:xfrm>
            <a:off x="4314825" y="4895850"/>
            <a:ext cx="29241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1800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rPr>
              <a:t>판단과 근거</a:t>
            </a:r>
          </a:p>
        </p:txBody>
      </p:sp>
      <p:sp>
        <p:nvSpPr>
          <p:cNvPr id="24" name="text-306">
            <a:extLst>
              <a:ext uri="{FF2B5EF4-FFF2-40B4-BE49-F238E27FC236}">
                <a16:creationId xmlns:a16="http://schemas.microsoft.com/office/drawing/2014/main" id="{4B28AF76-B831-4714-A6C9-8A7C374C46F8}"/>
              </a:ext>
            </a:extLst>
          </p:cNvPr>
          <p:cNvSpPr>
            <a:spLocks noGrp="1"/>
          </p:cNvSpPr>
          <p:nvPr/>
        </p:nvSpPr>
        <p:spPr>
          <a:xfrm>
            <a:off x="4314825" y="5391150"/>
            <a:ext cx="2933700" cy="1038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1875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00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rPr>
              <a:t>범위값→설정값 임의 생성 금지</a:t>
            </a:r>
          </a:p>
          <a:p>
            <a:pPr algn="l">
              <a:buNone/>
              <a:defRPr sz="1875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00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rPr>
              <a:t>승인 경계는 플래그로 유지</a:t>
            </a:r>
          </a:p>
          <a:p>
            <a:pPr algn="l">
              <a:buNone/>
              <a:defRPr sz="1875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00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rPr>
              <a:t>부족하면 보완 단계로 복귀</a:t>
            </a:r>
          </a:p>
        </p:txBody>
      </p:sp>
      <p:sp>
        <p:nvSpPr>
          <p:cNvPr id="25" name="text-307">
            <a:extLst>
              <a:ext uri="{FF2B5EF4-FFF2-40B4-BE49-F238E27FC236}">
                <a16:creationId xmlns:a16="http://schemas.microsoft.com/office/drawing/2014/main" id="{A1BF0628-DB5C-47C3-B48D-B9638FA81686}"/>
              </a:ext>
            </a:extLst>
          </p:cNvPr>
          <p:cNvSpPr>
            <a:spLocks noGrp="1"/>
          </p:cNvSpPr>
          <p:nvPr/>
        </p:nvSpPr>
        <p:spPr>
          <a:xfrm>
            <a:off x="4314825" y="6619875"/>
            <a:ext cx="29146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650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1650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00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rPr>
              <a:t>조건 후보 준비 상태</a:t>
            </a:r>
          </a:p>
        </p:txBody>
      </p:sp>
      <p:sp>
        <p:nvSpPr>
          <p:cNvPr id="26" name="circle-308">
            <a:extLst>
              <a:ext uri="{FF2B5EF4-FFF2-40B4-BE49-F238E27FC236}">
                <a16:creationId xmlns:a16="http://schemas.microsoft.com/office/drawing/2014/main" id="{ED6DCBCC-7356-4250-9520-C97AC31F050D}"/>
              </a:ext>
            </a:extLst>
          </p:cNvPr>
          <p:cNvSpPr>
            <a:spLocks noGrp="1"/>
          </p:cNvSpPr>
          <p:nvPr/>
        </p:nvSpPr>
        <p:spPr>
          <a:xfrm>
            <a:off x="7972425" y="2962275"/>
            <a:ext cx="266700" cy="266700"/>
          </a:xfrm>
          <a:prstGeom prst="ellipse">
            <a:avLst/>
          </a:prstGeom>
          <a:solidFill>
            <a:srgbClr val="003087"/>
          </a:solidFill>
          <a:ln w="0">
            <a:noFill/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7" name="text-309">
            <a:extLst>
              <a:ext uri="{FF2B5EF4-FFF2-40B4-BE49-F238E27FC236}">
                <a16:creationId xmlns:a16="http://schemas.microsoft.com/office/drawing/2014/main" id="{4DE4F058-0EDB-4B87-BA90-CFF77BAE722E}"/>
              </a:ext>
            </a:extLst>
          </p:cNvPr>
          <p:cNvSpPr>
            <a:spLocks noGrp="1"/>
          </p:cNvSpPr>
          <p:nvPr/>
        </p:nvSpPr>
        <p:spPr>
          <a:xfrm>
            <a:off x="7943850" y="2238375"/>
            <a:ext cx="28765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1875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rPr>
              <a:t>STEP 03</a:t>
            </a:r>
          </a:p>
        </p:txBody>
      </p:sp>
      <p:sp>
        <p:nvSpPr>
          <p:cNvPr id="28" name="text-310">
            <a:extLst>
              <a:ext uri="{FF2B5EF4-FFF2-40B4-BE49-F238E27FC236}">
                <a16:creationId xmlns:a16="http://schemas.microsoft.com/office/drawing/2014/main" id="{1DBC0E0B-2DB8-453D-ACB1-7F474D518552}"/>
              </a:ext>
            </a:extLst>
          </p:cNvPr>
          <p:cNvSpPr>
            <a:spLocks noGrp="1"/>
          </p:cNvSpPr>
          <p:nvPr/>
        </p:nvSpPr>
        <p:spPr>
          <a:xfrm>
            <a:off x="7943850" y="3467100"/>
            <a:ext cx="289560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475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2475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75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rPr>
              <a:t>전송</a:t>
            </a:r>
          </a:p>
        </p:txBody>
      </p:sp>
      <p:sp>
        <p:nvSpPr>
          <p:cNvPr id="29" name="text-311">
            <a:extLst>
              <a:ext uri="{FF2B5EF4-FFF2-40B4-BE49-F238E27FC236}">
                <a16:creationId xmlns:a16="http://schemas.microsoft.com/office/drawing/2014/main" id="{19B58FA6-F295-4D49-BE88-0EABBD7FA6CC}"/>
              </a:ext>
            </a:extLst>
          </p:cNvPr>
          <p:cNvSpPr>
            <a:spLocks noGrp="1"/>
          </p:cNvSpPr>
          <p:nvPr/>
        </p:nvSpPr>
        <p:spPr>
          <a:xfrm>
            <a:off x="7943850" y="4076700"/>
            <a:ext cx="2886075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725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1725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rPr>
              <a:t>전송 요청 기록</a:t>
            </a:r>
          </a:p>
        </p:txBody>
      </p:sp>
      <p:sp>
        <p:nvSpPr>
          <p:cNvPr id="30" name="rule-312">
            <a:extLst>
              <a:ext uri="{FF2B5EF4-FFF2-40B4-BE49-F238E27FC236}">
                <a16:creationId xmlns:a16="http://schemas.microsoft.com/office/drawing/2014/main" id="{65398A84-3583-4266-A747-513E9DED1F5D}"/>
              </a:ext>
            </a:extLst>
          </p:cNvPr>
          <p:cNvSpPr>
            <a:spLocks noGrp="1"/>
          </p:cNvSpPr>
          <p:nvPr/>
        </p:nvSpPr>
        <p:spPr>
          <a:xfrm>
            <a:off x="7943850" y="4667250"/>
            <a:ext cx="2943225" cy="95"/>
          </a:xfrm>
          <a:prstGeom prst="line">
            <a:avLst/>
          </a:prstGeom>
          <a:noFill/>
          <a:ln w="1905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1" name="text-313">
            <a:extLst>
              <a:ext uri="{FF2B5EF4-FFF2-40B4-BE49-F238E27FC236}">
                <a16:creationId xmlns:a16="http://schemas.microsoft.com/office/drawing/2014/main" id="{D6ADCAE2-180E-4699-8DD3-83FAD7DBCFDA}"/>
              </a:ext>
            </a:extLst>
          </p:cNvPr>
          <p:cNvSpPr>
            <a:spLocks noGrp="1"/>
          </p:cNvSpPr>
          <p:nvPr/>
        </p:nvSpPr>
        <p:spPr>
          <a:xfrm>
            <a:off x="7943850" y="4895850"/>
            <a:ext cx="29241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1800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rPr>
              <a:t>조치와 출력</a:t>
            </a:r>
          </a:p>
        </p:txBody>
      </p:sp>
      <p:sp>
        <p:nvSpPr>
          <p:cNvPr id="32" name="text-314">
            <a:extLst>
              <a:ext uri="{FF2B5EF4-FFF2-40B4-BE49-F238E27FC236}">
                <a16:creationId xmlns:a16="http://schemas.microsoft.com/office/drawing/2014/main" id="{9F033BBD-5FCD-4BDA-ACBC-B628C1447F5F}"/>
              </a:ext>
            </a:extLst>
          </p:cNvPr>
          <p:cNvSpPr>
            <a:spLocks noGrp="1"/>
          </p:cNvSpPr>
          <p:nvPr/>
        </p:nvSpPr>
        <p:spPr>
          <a:xfrm>
            <a:off x="7943850" y="5391150"/>
            <a:ext cx="2933700" cy="1038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1875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00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rPr>
              <a:t>document-normal-server-01</a:t>
            </a:r>
          </a:p>
          <a:p>
            <a:pPr algn="l">
              <a:buNone/>
              <a:defRPr sz="1875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00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rPr>
              <a:t>요청 시각·대상·값 기록</a:t>
            </a:r>
          </a:p>
          <a:p>
            <a:pPr algn="l">
              <a:buNone/>
              <a:defRPr sz="1875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00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rPr>
              <a:t>보류 작업은 전송 없음</a:t>
            </a:r>
          </a:p>
        </p:txBody>
      </p:sp>
      <p:sp>
        <p:nvSpPr>
          <p:cNvPr id="33" name="text-315">
            <a:extLst>
              <a:ext uri="{FF2B5EF4-FFF2-40B4-BE49-F238E27FC236}">
                <a16:creationId xmlns:a16="http://schemas.microsoft.com/office/drawing/2014/main" id="{65C33FAE-2410-4D2D-AF37-AF06F6115204}"/>
              </a:ext>
            </a:extLst>
          </p:cNvPr>
          <p:cNvSpPr>
            <a:spLocks noGrp="1"/>
          </p:cNvSpPr>
          <p:nvPr/>
        </p:nvSpPr>
        <p:spPr>
          <a:xfrm>
            <a:off x="7943850" y="6619875"/>
            <a:ext cx="29146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650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1650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rPr>
              <a:t>전송 요청 [실행]</a:t>
            </a:r>
          </a:p>
        </p:txBody>
      </p:sp>
      <p:sp>
        <p:nvSpPr>
          <p:cNvPr id="34" name="circle-316">
            <a:extLst>
              <a:ext uri="{FF2B5EF4-FFF2-40B4-BE49-F238E27FC236}">
                <a16:creationId xmlns:a16="http://schemas.microsoft.com/office/drawing/2014/main" id="{A4294FB6-AE28-4D5E-ABD8-329DBB1584DD}"/>
              </a:ext>
            </a:extLst>
          </p:cNvPr>
          <p:cNvSpPr>
            <a:spLocks noGrp="1"/>
          </p:cNvSpPr>
          <p:nvPr/>
        </p:nvSpPr>
        <p:spPr>
          <a:xfrm>
            <a:off x="11601450" y="2962275"/>
            <a:ext cx="266700" cy="266700"/>
          </a:xfrm>
          <a:prstGeom prst="ellipse">
            <a:avLst/>
          </a:prstGeom>
          <a:solidFill>
            <a:srgbClr val="00843D"/>
          </a:solidFill>
          <a:ln w="0">
            <a:noFill/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5" name="text-317">
            <a:extLst>
              <a:ext uri="{FF2B5EF4-FFF2-40B4-BE49-F238E27FC236}">
                <a16:creationId xmlns:a16="http://schemas.microsoft.com/office/drawing/2014/main" id="{4B6DB992-026F-4163-9D1A-442DB733E8F9}"/>
              </a:ext>
            </a:extLst>
          </p:cNvPr>
          <p:cNvSpPr>
            <a:spLocks noGrp="1"/>
          </p:cNvSpPr>
          <p:nvPr/>
        </p:nvSpPr>
        <p:spPr>
          <a:xfrm>
            <a:off x="11572875" y="2238375"/>
            <a:ext cx="28765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1875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rPr>
              <a:t>STEP 04</a:t>
            </a:r>
          </a:p>
        </p:txBody>
      </p:sp>
      <p:sp>
        <p:nvSpPr>
          <p:cNvPr id="36" name="text-318">
            <a:extLst>
              <a:ext uri="{FF2B5EF4-FFF2-40B4-BE49-F238E27FC236}">
                <a16:creationId xmlns:a16="http://schemas.microsoft.com/office/drawing/2014/main" id="{F6469EE3-9A64-4144-9117-A0D5D1A3FB8F}"/>
              </a:ext>
            </a:extLst>
          </p:cNvPr>
          <p:cNvSpPr>
            <a:spLocks noGrp="1"/>
          </p:cNvSpPr>
          <p:nvPr/>
        </p:nvSpPr>
        <p:spPr>
          <a:xfrm>
            <a:off x="11572875" y="3467100"/>
            <a:ext cx="289560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475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2475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75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rPr>
              <a:t>수신</a:t>
            </a:r>
          </a:p>
        </p:txBody>
      </p:sp>
      <p:sp>
        <p:nvSpPr>
          <p:cNvPr id="37" name="text-319">
            <a:extLst>
              <a:ext uri="{FF2B5EF4-FFF2-40B4-BE49-F238E27FC236}">
                <a16:creationId xmlns:a16="http://schemas.microsoft.com/office/drawing/2014/main" id="{1F90AA19-972F-42E8-A6ED-9667D54E4C05}"/>
              </a:ext>
            </a:extLst>
          </p:cNvPr>
          <p:cNvSpPr>
            <a:spLocks noGrp="1"/>
          </p:cNvSpPr>
          <p:nvPr/>
        </p:nvSpPr>
        <p:spPr>
          <a:xfrm>
            <a:off x="11572875" y="4076700"/>
            <a:ext cx="2886075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725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1725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rPr>
              <a:t>모의 수신 · 변환 미리보기</a:t>
            </a:r>
          </a:p>
        </p:txBody>
      </p:sp>
      <p:sp>
        <p:nvSpPr>
          <p:cNvPr id="38" name="rule-320">
            <a:extLst>
              <a:ext uri="{FF2B5EF4-FFF2-40B4-BE49-F238E27FC236}">
                <a16:creationId xmlns:a16="http://schemas.microsoft.com/office/drawing/2014/main" id="{F45D9210-6251-4887-824C-E097400568A2}"/>
              </a:ext>
            </a:extLst>
          </p:cNvPr>
          <p:cNvSpPr>
            <a:spLocks noGrp="1"/>
          </p:cNvSpPr>
          <p:nvPr/>
        </p:nvSpPr>
        <p:spPr>
          <a:xfrm>
            <a:off x="11572875" y="4667250"/>
            <a:ext cx="2943225" cy="95"/>
          </a:xfrm>
          <a:prstGeom prst="line">
            <a:avLst/>
          </a:prstGeom>
          <a:noFill/>
          <a:ln w="19050">
            <a:solidFill>
              <a:srgbClr val="00843D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9" name="text-321">
            <a:extLst>
              <a:ext uri="{FF2B5EF4-FFF2-40B4-BE49-F238E27FC236}">
                <a16:creationId xmlns:a16="http://schemas.microsoft.com/office/drawing/2014/main" id="{CEF28742-0CEE-4CAD-84C0-C4E4CF9BFE7C}"/>
              </a:ext>
            </a:extLst>
          </p:cNvPr>
          <p:cNvSpPr>
            <a:spLocks noGrp="1"/>
          </p:cNvSpPr>
          <p:nvPr/>
        </p:nvSpPr>
        <p:spPr>
          <a:xfrm>
            <a:off x="11572875" y="4895850"/>
            <a:ext cx="29241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1800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rPr>
              <a:t>조치와 출력</a:t>
            </a:r>
          </a:p>
        </p:txBody>
      </p:sp>
      <p:sp>
        <p:nvSpPr>
          <p:cNvPr id="40" name="text-322">
            <a:extLst>
              <a:ext uri="{FF2B5EF4-FFF2-40B4-BE49-F238E27FC236}">
                <a16:creationId xmlns:a16="http://schemas.microsoft.com/office/drawing/2014/main" id="{87030C5F-6ED3-4063-B7F9-C08FF2E9D14C}"/>
              </a:ext>
            </a:extLst>
          </p:cNvPr>
          <p:cNvSpPr>
            <a:spLocks noGrp="1"/>
          </p:cNvSpPr>
          <p:nvPr/>
        </p:nvSpPr>
        <p:spPr>
          <a:xfrm>
            <a:off x="11572875" y="5391150"/>
            <a:ext cx="2933700" cy="1038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1875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00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rPr>
              <a:t>모의 수신기 응답 received [모의]</a:t>
            </a:r>
          </a:p>
          <a:p>
            <a:pPr algn="l">
              <a:buNone/>
              <a:defRPr sz="1875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00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rPr>
              <a:t>현대 Hi6·두산 DRL 변환 미리보기 [실행 보고]</a:t>
            </a:r>
          </a:p>
          <a:p>
            <a:pPr algn="l">
              <a:buNone/>
              <a:defRPr sz="1875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00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rPr>
              <a:t>제어기 전송 · 로봇 실행 [후속]</a:t>
            </a:r>
          </a:p>
        </p:txBody>
      </p:sp>
      <p:sp>
        <p:nvSpPr>
          <p:cNvPr id="41" name="text-323">
            <a:extLst>
              <a:ext uri="{FF2B5EF4-FFF2-40B4-BE49-F238E27FC236}">
                <a16:creationId xmlns:a16="http://schemas.microsoft.com/office/drawing/2014/main" id="{D637A841-E2C9-412D-BB53-9325E6E589CD}"/>
              </a:ext>
            </a:extLst>
          </p:cNvPr>
          <p:cNvSpPr>
            <a:spLocks noGrp="1"/>
          </p:cNvSpPr>
          <p:nvPr/>
        </p:nvSpPr>
        <p:spPr>
          <a:xfrm>
            <a:off x="11572875" y="6619875"/>
            <a:ext cx="29146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650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1650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rPr>
              <a:t>수신 확인 기록</a:t>
            </a:r>
          </a:p>
        </p:txBody>
      </p:sp>
      <p:sp>
        <p:nvSpPr>
          <p:cNvPr id="42" name="geometric-layout-324">
            <a:extLst>
              <a:ext uri="{FF2B5EF4-FFF2-40B4-BE49-F238E27FC236}">
                <a16:creationId xmlns:a16="http://schemas.microsoft.com/office/drawing/2014/main" id="{07528E3C-E61D-45E1-818B-03342F3E05B4}"/>
              </a:ext>
            </a:extLst>
          </p:cNvPr>
          <p:cNvSpPr>
            <a:spLocks noGrp="1"/>
          </p:cNvSpPr>
          <p:nvPr/>
        </p:nvSpPr>
        <p:spPr>
          <a:xfrm>
            <a:off x="685800" y="7372350"/>
            <a:ext cx="13868400" cy="95"/>
          </a:xfrm>
          <a:prstGeom prst="line">
            <a:avLst/>
          </a:prstGeom>
          <a:noFill/>
          <a:ln w="14288">
            <a:solidFill>
              <a:srgbClr val="D4DCE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3" name="text-325">
            <a:extLst>
              <a:ext uri="{FF2B5EF4-FFF2-40B4-BE49-F238E27FC236}">
                <a16:creationId xmlns:a16="http://schemas.microsoft.com/office/drawing/2014/main" id="{D4A1975D-C54F-4AEE-A813-90B908423458}"/>
              </a:ext>
            </a:extLst>
          </p:cNvPr>
          <p:cNvSpPr>
            <a:spLocks noGrp="1"/>
          </p:cNvSpPr>
          <p:nvPr/>
        </p:nvSpPr>
        <p:spPr>
          <a:xfrm>
            <a:off x="685800" y="7534275"/>
            <a:ext cx="138684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1875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00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rPr>
              <a:t>등록 시연 조건(예: 180 A · 26 V)은 사진에서 읽은 값이 아님 · 최종 방식은 로봇 작업 프로그램 또는 등록 작업 선택 · 제어 연계는 목표 설계 [후속]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6750" y="7842713"/>
            <a:ext cx="138708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50" b="0" dirty="0" err="1">
                <a:solidFill>
                  <a:srgbClr val="687584"/>
                </a:solidFill>
                <a:latin typeface="Apple SD Gothic Neo"/>
                <a:ea typeface="Apple SD Gothic Neo"/>
              </a:rPr>
              <a:t>근거</a:t>
            </a:r>
            <a:r>
              <a:rPr sz="1050" b="0" dirty="0">
                <a:solidFill>
                  <a:srgbClr val="687584"/>
                </a:solidFill>
                <a:latin typeface="Apple SD Gothic Neo"/>
                <a:ea typeface="Apple SD Gothic Neo"/>
              </a:rPr>
              <a:t> E16 [</a:t>
            </a:r>
            <a:r>
              <a:rPr sz="1050" b="0" dirty="0" err="1">
                <a:solidFill>
                  <a:srgbClr val="687584"/>
                </a:solidFill>
                <a:latin typeface="Apple SD Gothic Neo"/>
                <a:ea typeface="Apple SD Gothic Neo"/>
              </a:rPr>
              <a:t>실행·모의</a:t>
            </a:r>
            <a:r>
              <a:rPr sz="1050" b="0" dirty="0">
                <a:solidFill>
                  <a:srgbClr val="687584"/>
                </a:solidFill>
                <a:latin typeface="Apple SD Gothic Neo"/>
                <a:ea typeface="Apple SD Gothic Neo"/>
              </a:rPr>
              <a:t>] </a:t>
            </a:r>
            <a:r>
              <a:rPr sz="1050" b="0" dirty="0" err="1">
                <a:solidFill>
                  <a:srgbClr val="687584"/>
                </a:solidFill>
                <a:latin typeface="Apple SD Gothic Neo"/>
                <a:ea typeface="Apple SD Gothic Neo"/>
              </a:rPr>
              <a:t>정상</a:t>
            </a:r>
            <a:r>
              <a:rPr sz="1050" b="0" dirty="0">
                <a:solidFill>
                  <a:srgbClr val="687584"/>
                </a:solidFill>
                <a:latin typeface="Apple SD Gothic Neo"/>
                <a:ea typeface="Apple SD Gothic Neo"/>
              </a:rPr>
              <a:t> 1건 </a:t>
            </a:r>
            <a:r>
              <a:rPr sz="1050" b="0" dirty="0" err="1">
                <a:solidFill>
                  <a:srgbClr val="687584"/>
                </a:solidFill>
                <a:latin typeface="Apple SD Gothic Neo"/>
                <a:ea typeface="Apple SD Gothic Neo"/>
              </a:rPr>
              <a:t>모의</a:t>
            </a:r>
            <a:r>
              <a:rPr sz="1050" b="0" dirty="0">
                <a:solidFill>
                  <a:srgbClr val="687584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687584"/>
                </a:solidFill>
                <a:latin typeface="Apple SD Gothic Neo"/>
                <a:ea typeface="Apple SD Gothic Neo"/>
              </a:rPr>
              <a:t>수신</a:t>
            </a:r>
            <a:r>
              <a:rPr sz="1050" b="0" dirty="0">
                <a:solidFill>
                  <a:srgbClr val="687584"/>
                </a:solidFill>
                <a:latin typeface="Apple SD Gothic Neo"/>
                <a:ea typeface="Apple SD Gothic Neo"/>
              </a:rPr>
              <a:t>(HTTP 200은 </a:t>
            </a:r>
            <a:r>
              <a:rPr sz="1050" b="0" dirty="0" err="1">
                <a:solidFill>
                  <a:srgbClr val="687584"/>
                </a:solidFill>
                <a:latin typeface="Apple SD Gothic Neo"/>
                <a:ea typeface="Apple SD Gothic Neo"/>
              </a:rPr>
              <a:t>모의</a:t>
            </a:r>
            <a:r>
              <a:rPr sz="1050" b="0" dirty="0">
                <a:solidFill>
                  <a:srgbClr val="687584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687584"/>
                </a:solidFill>
                <a:latin typeface="Apple SD Gothic Neo"/>
                <a:ea typeface="Apple SD Gothic Neo"/>
              </a:rPr>
              <a:t>수신기</a:t>
            </a:r>
            <a:r>
              <a:rPr sz="1050" b="0" dirty="0">
                <a:solidFill>
                  <a:srgbClr val="687584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687584"/>
                </a:solidFill>
                <a:latin typeface="Apple SD Gothic Neo"/>
                <a:ea typeface="Apple SD Gothic Neo"/>
              </a:rPr>
              <a:t>응답</a:t>
            </a:r>
            <a:r>
              <a:rPr sz="1050" b="0" dirty="0">
                <a:solidFill>
                  <a:srgbClr val="687584"/>
                </a:solidFill>
                <a:latin typeface="Apple SD Gothic Neo"/>
                <a:ea typeface="Apple SD Gothic Neo"/>
              </a:rPr>
              <a:t>) · </a:t>
            </a:r>
            <a:r>
              <a:rPr sz="1050" b="0" dirty="0" err="1">
                <a:solidFill>
                  <a:srgbClr val="687584"/>
                </a:solidFill>
                <a:latin typeface="Apple SD Gothic Neo"/>
                <a:ea typeface="Apple SD Gothic Neo"/>
              </a:rPr>
              <a:t>변환</a:t>
            </a:r>
            <a:r>
              <a:rPr sz="1050" b="0" dirty="0">
                <a:solidFill>
                  <a:srgbClr val="687584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687584"/>
                </a:solidFill>
                <a:latin typeface="Apple SD Gothic Neo"/>
                <a:ea typeface="Apple SD Gothic Neo"/>
              </a:rPr>
              <a:t>미리보기는</a:t>
            </a:r>
            <a:r>
              <a:rPr sz="1050" b="0" dirty="0">
                <a:solidFill>
                  <a:srgbClr val="687584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687584"/>
                </a:solidFill>
                <a:latin typeface="Apple SD Gothic Neo"/>
                <a:ea typeface="Apple SD Gothic Neo"/>
              </a:rPr>
              <a:t>개발</a:t>
            </a:r>
            <a:r>
              <a:rPr sz="1050" b="0" dirty="0">
                <a:solidFill>
                  <a:srgbClr val="687584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687584"/>
                </a:solidFill>
                <a:latin typeface="Apple SD Gothic Neo"/>
                <a:ea typeface="Apple SD Gothic Neo"/>
              </a:rPr>
              <a:t>담당</a:t>
            </a:r>
            <a:r>
              <a:rPr sz="1050" b="0" dirty="0">
                <a:solidFill>
                  <a:srgbClr val="687584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687584"/>
                </a:solidFill>
                <a:latin typeface="Apple SD Gothic Neo"/>
                <a:ea typeface="Apple SD Gothic Neo"/>
              </a:rPr>
              <a:t>구현</a:t>
            </a:r>
            <a:r>
              <a:rPr sz="1050" b="0" dirty="0">
                <a:solidFill>
                  <a:srgbClr val="687584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687584"/>
                </a:solidFill>
                <a:latin typeface="Apple SD Gothic Neo"/>
                <a:ea typeface="Apple SD Gothic Neo"/>
              </a:rPr>
              <a:t>보고</a:t>
            </a:r>
            <a:r>
              <a:rPr sz="1050" b="0" dirty="0">
                <a:solidFill>
                  <a:srgbClr val="687584"/>
                </a:solidFill>
                <a:latin typeface="Apple SD Gothic Neo"/>
                <a:ea typeface="Apple SD Gothic Neo"/>
              </a:rPr>
              <a:t>(</a:t>
            </a:r>
            <a:r>
              <a:rPr sz="1050" b="0" dirty="0" err="1">
                <a:solidFill>
                  <a:srgbClr val="687584"/>
                </a:solidFill>
                <a:latin typeface="Apple SD Gothic Neo"/>
                <a:ea typeface="Apple SD Gothic Neo"/>
              </a:rPr>
              <a:t>검토</a:t>
            </a:r>
            <a:r>
              <a:rPr sz="1050" b="0" dirty="0">
                <a:solidFill>
                  <a:srgbClr val="687584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687584"/>
                </a:solidFill>
                <a:latin typeface="Apple SD Gothic Neo"/>
                <a:ea typeface="Apple SD Gothic Neo"/>
              </a:rPr>
              <a:t>근거</a:t>
            </a:r>
            <a:r>
              <a:rPr sz="1050" b="0" dirty="0">
                <a:solidFill>
                  <a:srgbClr val="687584"/>
                </a:solidFill>
                <a:latin typeface="Apple SD Gothic Neo"/>
                <a:ea typeface="Apple SD Gothic Neo"/>
              </a:rPr>
              <a:t> B07·B08) · </a:t>
            </a:r>
            <a:r>
              <a:rPr sz="1050" b="0" dirty="0" err="1">
                <a:solidFill>
                  <a:srgbClr val="687584"/>
                </a:solidFill>
                <a:latin typeface="Apple SD Gothic Neo"/>
                <a:ea typeface="Apple SD Gothic Neo"/>
              </a:rPr>
              <a:t>자동화</a:t>
            </a:r>
            <a:r>
              <a:rPr sz="1050" b="0" dirty="0">
                <a:solidFill>
                  <a:srgbClr val="687584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687584"/>
                </a:solidFill>
                <a:latin typeface="Apple SD Gothic Neo"/>
                <a:ea typeface="Apple SD Gothic Neo"/>
              </a:rPr>
              <a:t>목표</a:t>
            </a:r>
            <a:r>
              <a:rPr sz="1050" b="0" dirty="0">
                <a:solidFill>
                  <a:srgbClr val="687584"/>
                </a:solidFill>
                <a:latin typeface="Apple SD Gothic Neo"/>
                <a:ea typeface="Apple SD Gothic Neo"/>
              </a:rPr>
              <a:t>: </a:t>
            </a:r>
            <a:r>
              <a:rPr sz="1050" b="0" dirty="0" err="1">
                <a:solidFill>
                  <a:srgbClr val="687584"/>
                </a:solidFill>
                <a:latin typeface="Apple SD Gothic Neo"/>
                <a:ea typeface="Apple SD Gothic Neo"/>
              </a:rPr>
              <a:t>검증</a:t>
            </a:r>
            <a:r>
              <a:rPr sz="1050" b="0" dirty="0">
                <a:solidFill>
                  <a:srgbClr val="687584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687584"/>
                </a:solidFill>
                <a:latin typeface="Apple SD Gothic Neo"/>
                <a:ea typeface="Apple SD Gothic Neo"/>
              </a:rPr>
              <a:t>내용을</a:t>
            </a:r>
            <a:r>
              <a:rPr sz="1050" b="0" dirty="0">
                <a:solidFill>
                  <a:srgbClr val="687584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687584"/>
                </a:solidFill>
                <a:latin typeface="Apple SD Gothic Neo"/>
                <a:ea typeface="Apple SD Gothic Neo"/>
              </a:rPr>
              <a:t>장비용</a:t>
            </a:r>
            <a:r>
              <a:rPr sz="1050" b="0" dirty="0">
                <a:solidFill>
                  <a:srgbClr val="687584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687584"/>
                </a:solidFill>
                <a:latin typeface="Apple SD Gothic Neo"/>
                <a:ea typeface="Apple SD Gothic Neo"/>
              </a:rPr>
              <a:t>항목으로</a:t>
            </a:r>
            <a:r>
              <a:rPr sz="1050" b="0" dirty="0">
                <a:solidFill>
                  <a:srgbClr val="687584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687584"/>
                </a:solidFill>
                <a:latin typeface="Apple SD Gothic Neo"/>
                <a:ea typeface="Apple SD Gothic Neo"/>
              </a:rPr>
              <a:t>옮겨</a:t>
            </a:r>
            <a:r>
              <a:rPr sz="1050" b="0" dirty="0">
                <a:solidFill>
                  <a:srgbClr val="687584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687584"/>
                </a:solidFill>
                <a:latin typeface="Apple SD Gothic Neo"/>
                <a:ea typeface="Apple SD Gothic Neo"/>
              </a:rPr>
              <a:t>적는</a:t>
            </a:r>
            <a:r>
              <a:rPr sz="1050" b="0" dirty="0">
                <a:solidFill>
                  <a:srgbClr val="687584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687584"/>
                </a:solidFill>
                <a:latin typeface="Apple SD Gothic Neo"/>
                <a:ea typeface="Apple SD Gothic Neo"/>
              </a:rPr>
              <a:t>구간까지</a:t>
            </a:r>
            <a:r>
              <a:rPr sz="1050" b="0" dirty="0">
                <a:solidFill>
                  <a:srgbClr val="687584"/>
                </a:solidFill>
                <a:latin typeface="Apple SD Gothic Neo"/>
                <a:ea typeface="Apple SD Gothic Neo"/>
              </a:rPr>
              <a:t> · </a:t>
            </a:r>
            <a:r>
              <a:rPr sz="1050" b="0" dirty="0" err="1">
                <a:solidFill>
                  <a:srgbClr val="687584"/>
                </a:solidFill>
                <a:latin typeface="Apple SD Gothic Neo"/>
                <a:ea typeface="Apple SD Gothic Neo"/>
              </a:rPr>
              <a:t>별첨</a:t>
            </a:r>
            <a:r>
              <a:rPr sz="1050" b="0" dirty="0">
                <a:solidFill>
                  <a:srgbClr val="687584"/>
                </a:solidFill>
                <a:latin typeface="Apple SD Gothic Neo"/>
                <a:ea typeface="Apple SD Gothic Neo"/>
              </a:rPr>
              <a:t> A4</a:t>
            </a:r>
          </a:p>
        </p:txBody>
      </p:sp>
    </p:spTree>
    <p:extLst>
      <p:ext uri="{BB962C8B-B14F-4D97-AF65-F5344CB8AC3E}">
        <p14:creationId xmlns:p14="http://schemas.microsoft.com/office/powerpoint/2010/main" val="5934057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-373">
            <a:extLst>
              <a:ext uri="{FF2B5EF4-FFF2-40B4-BE49-F238E27FC236}">
                <a16:creationId xmlns:a16="http://schemas.microsoft.com/office/drawing/2014/main" id="{EA390C01-35F0-4279-8CA9-7550A098EA4E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6191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425" b="1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1425" b="1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rPr>
              <a:t>ContextWeld</a:t>
            </a:r>
          </a:p>
        </p:txBody>
      </p:sp>
      <p:sp>
        <p:nvSpPr>
          <p:cNvPr id="9" name="text-377">
            <a:extLst>
              <a:ext uri="{FF2B5EF4-FFF2-40B4-BE49-F238E27FC236}">
                <a16:creationId xmlns:a16="http://schemas.microsoft.com/office/drawing/2014/main" id="{351AB1B0-72F2-46CB-BCAC-02DCEC5158EC}"/>
              </a:ext>
            </a:extLst>
          </p:cNvPr>
          <p:cNvSpPr>
            <a:spLocks noGrp="1"/>
          </p:cNvSpPr>
          <p:nvPr/>
        </p:nvSpPr>
        <p:spPr>
          <a:xfrm>
            <a:off x="666750" y="971550"/>
            <a:ext cx="1388745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600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3600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 dirty="0" err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rPr>
              <a:t>관리자</a:t>
            </a:r>
            <a:r>
              <a:rPr sz="3600" b="1" dirty="0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3600" b="1" dirty="0" err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rPr>
              <a:t>대시보드</a:t>
            </a:r>
            <a:r>
              <a:rPr sz="3600" b="1" dirty="0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rPr>
              <a:t>: </a:t>
            </a:r>
            <a:r>
              <a:rPr sz="3600" b="1" dirty="0" err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rPr>
              <a:t>처리</a:t>
            </a:r>
            <a:r>
              <a:rPr sz="3600" b="1" dirty="0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3600" b="1" dirty="0" err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rPr>
              <a:t>과정의</a:t>
            </a:r>
            <a:r>
              <a:rPr sz="3600" b="1" dirty="0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3600" b="1" dirty="0" err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rPr>
              <a:t>추적</a:t>
            </a:r>
            <a:endParaRPr sz="3600" b="1" dirty="0">
              <a:solidFill>
                <a:srgbClr val="002554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0" name="text-378">
            <a:extLst>
              <a:ext uri="{FF2B5EF4-FFF2-40B4-BE49-F238E27FC236}">
                <a16:creationId xmlns:a16="http://schemas.microsoft.com/office/drawing/2014/main" id="{5EA6D8F6-C27B-40F8-962C-253C6AECBBC4}"/>
              </a:ext>
            </a:extLst>
          </p:cNvPr>
          <p:cNvSpPr>
            <a:spLocks noGrp="1"/>
          </p:cNvSpPr>
          <p:nvPr/>
        </p:nvSpPr>
        <p:spPr>
          <a:xfrm>
            <a:off x="685800" y="8077200"/>
            <a:ext cx="6667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125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1125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rPr>
              <a:t>Static Duo</a:t>
            </a:r>
          </a:p>
        </p:txBody>
      </p:sp>
      <p:sp>
        <p:nvSpPr>
          <p:cNvPr id="11" name="text-379">
            <a:extLst>
              <a:ext uri="{FF2B5EF4-FFF2-40B4-BE49-F238E27FC236}">
                <a16:creationId xmlns:a16="http://schemas.microsoft.com/office/drawing/2014/main" id="{CF5178B7-ADD1-413A-8FB2-42B34E7E909A}"/>
              </a:ext>
            </a:extLst>
          </p:cNvPr>
          <p:cNvSpPr>
            <a:spLocks noGrp="1"/>
          </p:cNvSpPr>
          <p:nvPr/>
        </p:nvSpPr>
        <p:spPr>
          <a:xfrm>
            <a:off x="13868400" y="8020050"/>
            <a:ext cx="6858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r">
              <a:buNone/>
              <a:defRPr sz="1350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5F3D6B56-AACE-9D6C-9D70-254324D98E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1928400"/>
            <a:ext cx="10065774" cy="5433162"/>
          </a:xfrm>
          <a:prstGeom prst="rect">
            <a:avLst/>
          </a:prstGeom>
        </p:spPr>
      </p:pic>
      <p:sp>
        <p:nvSpPr>
          <p:cNvPr id="12" name="dashboard-1-number">
            <a:extLst>
              <a:ext uri="{FF2B5EF4-FFF2-40B4-BE49-F238E27FC236}">
                <a16:creationId xmlns:a16="http://schemas.microsoft.com/office/drawing/2014/main" id="{7FCCFBC5-349B-4F2E-B28F-353A7A6F23E3}"/>
              </a:ext>
            </a:extLst>
          </p:cNvPr>
          <p:cNvSpPr>
            <a:spLocks noGrp="1"/>
          </p:cNvSpPr>
          <p:nvPr/>
        </p:nvSpPr>
        <p:spPr>
          <a:xfrm>
            <a:off x="11115675" y="2114550"/>
            <a:ext cx="4953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850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>
              <a:defRPr sz="2850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13" name="dashboard-1-title">
            <a:extLst>
              <a:ext uri="{FF2B5EF4-FFF2-40B4-BE49-F238E27FC236}">
                <a16:creationId xmlns:a16="http://schemas.microsoft.com/office/drawing/2014/main" id="{B873DEF9-A908-4394-8EF0-E96D952CA723}"/>
              </a:ext>
            </a:extLst>
          </p:cNvPr>
          <p:cNvSpPr>
            <a:spLocks noGrp="1"/>
          </p:cNvSpPr>
          <p:nvPr/>
        </p:nvSpPr>
        <p:spPr>
          <a:xfrm>
            <a:off x="11715750" y="2162175"/>
            <a:ext cx="290512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475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>
              <a:defRPr sz="2475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75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rPr>
              <a:t>처리 흐름 재생</a:t>
            </a:r>
          </a:p>
        </p:txBody>
      </p:sp>
      <p:sp>
        <p:nvSpPr>
          <p:cNvPr id="14" name="dashboard-1-body">
            <a:extLst>
              <a:ext uri="{FF2B5EF4-FFF2-40B4-BE49-F238E27FC236}">
                <a16:creationId xmlns:a16="http://schemas.microsoft.com/office/drawing/2014/main" id="{5BC1BE93-A7C4-4299-BD3B-C1E819CFC5FE}"/>
              </a:ext>
            </a:extLst>
          </p:cNvPr>
          <p:cNvSpPr>
            <a:spLocks noGrp="1"/>
          </p:cNvSpPr>
          <p:nvPr/>
        </p:nvSpPr>
        <p:spPr>
          <a:xfrm>
            <a:off x="11115675" y="2752725"/>
            <a:ext cx="3476625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875" b="0">
                <a:solidFill>
                  <a:srgbClr val="3B4856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>
              <a:defRPr sz="1875" b="0">
                <a:solidFill>
                  <a:srgbClr val="3B485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3B4856"/>
                </a:solidFill>
                <a:latin typeface="Apple SD Gothic Neo"/>
                <a:ea typeface="Apple SD Gothic Neo"/>
                <a:cs typeface="Apple SD Gothic Neo"/>
              </a:rPr>
              <a:t>인식부터 전달까지</a:t>
            </a:r>
          </a:p>
          <a:p>
            <a:pPr>
              <a:defRPr sz="1875" b="0">
                <a:solidFill>
                  <a:srgbClr val="3B485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3B4856"/>
                </a:solidFill>
                <a:latin typeface="Apple SD Gothic Neo"/>
                <a:ea typeface="Apple SD Gothic Neo"/>
                <a:cs typeface="Apple SD Gothic Neo"/>
              </a:rPr>
              <a:t>진행 상태와 보류 사유 확인</a:t>
            </a:r>
          </a:p>
        </p:txBody>
      </p:sp>
      <p:sp>
        <p:nvSpPr>
          <p:cNvPr id="15" name="dashboard-2-number">
            <a:extLst>
              <a:ext uri="{FF2B5EF4-FFF2-40B4-BE49-F238E27FC236}">
                <a16:creationId xmlns:a16="http://schemas.microsoft.com/office/drawing/2014/main" id="{DCCD238F-FF36-4054-9358-EC64B2E78F0D}"/>
              </a:ext>
            </a:extLst>
          </p:cNvPr>
          <p:cNvSpPr>
            <a:spLocks noGrp="1"/>
          </p:cNvSpPr>
          <p:nvPr/>
        </p:nvSpPr>
        <p:spPr>
          <a:xfrm>
            <a:off x="11115675" y="3781425"/>
            <a:ext cx="4953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850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>
              <a:defRPr sz="2850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6" name="dashboard-2-title">
            <a:extLst>
              <a:ext uri="{FF2B5EF4-FFF2-40B4-BE49-F238E27FC236}">
                <a16:creationId xmlns:a16="http://schemas.microsoft.com/office/drawing/2014/main" id="{BE37A4E9-F4CB-4A37-B430-5A3DA455FAD8}"/>
              </a:ext>
            </a:extLst>
          </p:cNvPr>
          <p:cNvSpPr>
            <a:spLocks noGrp="1"/>
          </p:cNvSpPr>
          <p:nvPr/>
        </p:nvSpPr>
        <p:spPr>
          <a:xfrm>
            <a:off x="11715750" y="3829050"/>
            <a:ext cx="290512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475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>
              <a:defRPr sz="2475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75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rPr>
              <a:t>판단 근거 확인</a:t>
            </a:r>
          </a:p>
        </p:txBody>
      </p:sp>
      <p:sp>
        <p:nvSpPr>
          <p:cNvPr id="17" name="dashboard-2-body">
            <a:extLst>
              <a:ext uri="{FF2B5EF4-FFF2-40B4-BE49-F238E27FC236}">
                <a16:creationId xmlns:a16="http://schemas.microsoft.com/office/drawing/2014/main" id="{D2CE64A2-A576-490B-96E5-8FCDCAFDEB61}"/>
              </a:ext>
            </a:extLst>
          </p:cNvPr>
          <p:cNvSpPr>
            <a:spLocks noGrp="1"/>
          </p:cNvSpPr>
          <p:nvPr/>
        </p:nvSpPr>
        <p:spPr>
          <a:xfrm>
            <a:off x="11115675" y="4419600"/>
            <a:ext cx="3476625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875" b="0">
                <a:solidFill>
                  <a:srgbClr val="3B4856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>
              <a:defRPr sz="1875" b="0">
                <a:solidFill>
                  <a:srgbClr val="3B485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3B4856"/>
                </a:solidFill>
                <a:latin typeface="Apple SD Gothic Neo"/>
                <a:ea typeface="Apple SD Gothic Neo"/>
                <a:cs typeface="Apple SD Gothic Neo"/>
              </a:rPr>
              <a:t>부재·이음 정보와 문서 연결</a:t>
            </a:r>
          </a:p>
          <a:p>
            <a:pPr>
              <a:defRPr sz="1875" b="0">
                <a:solidFill>
                  <a:srgbClr val="3B485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3B4856"/>
                </a:solidFill>
                <a:latin typeface="Apple SD Gothic Neo"/>
                <a:ea typeface="Apple SD Gothic Neo"/>
                <a:cs typeface="Apple SD Gothic Neo"/>
              </a:rPr>
              <a:t>선택한 조건의 원문 근거 조회</a:t>
            </a:r>
          </a:p>
        </p:txBody>
      </p:sp>
      <p:sp>
        <p:nvSpPr>
          <p:cNvPr id="18" name="dashboard-3-number">
            <a:extLst>
              <a:ext uri="{FF2B5EF4-FFF2-40B4-BE49-F238E27FC236}">
                <a16:creationId xmlns:a16="http://schemas.microsoft.com/office/drawing/2014/main" id="{BD7A13F2-AB5A-4A8D-88DB-B3515B50B519}"/>
              </a:ext>
            </a:extLst>
          </p:cNvPr>
          <p:cNvSpPr>
            <a:spLocks noGrp="1"/>
          </p:cNvSpPr>
          <p:nvPr/>
        </p:nvSpPr>
        <p:spPr>
          <a:xfrm>
            <a:off x="11115675" y="5448300"/>
            <a:ext cx="4953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850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>
              <a:defRPr sz="2850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9" name="dashboard-3-title">
            <a:extLst>
              <a:ext uri="{FF2B5EF4-FFF2-40B4-BE49-F238E27FC236}">
                <a16:creationId xmlns:a16="http://schemas.microsoft.com/office/drawing/2014/main" id="{9E2B5F75-0F41-4A87-80CB-4C8870913206}"/>
              </a:ext>
            </a:extLst>
          </p:cNvPr>
          <p:cNvSpPr>
            <a:spLocks noGrp="1"/>
          </p:cNvSpPr>
          <p:nvPr/>
        </p:nvSpPr>
        <p:spPr>
          <a:xfrm>
            <a:off x="11715750" y="5495925"/>
            <a:ext cx="290512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475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>
              <a:defRPr sz="2475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75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rPr>
              <a:t>전달 결과 추적</a:t>
            </a:r>
          </a:p>
        </p:txBody>
      </p:sp>
      <p:sp>
        <p:nvSpPr>
          <p:cNvPr id="20" name="dashboard-3-body">
            <a:extLst>
              <a:ext uri="{FF2B5EF4-FFF2-40B4-BE49-F238E27FC236}">
                <a16:creationId xmlns:a16="http://schemas.microsoft.com/office/drawing/2014/main" id="{C518954C-CC3D-4583-923A-A419674CD645}"/>
              </a:ext>
            </a:extLst>
          </p:cNvPr>
          <p:cNvSpPr>
            <a:spLocks noGrp="1"/>
          </p:cNvSpPr>
          <p:nvPr/>
        </p:nvSpPr>
        <p:spPr>
          <a:xfrm>
            <a:off x="11115675" y="6086475"/>
            <a:ext cx="3476625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875" b="0">
                <a:solidFill>
                  <a:srgbClr val="3B4856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>
              <a:defRPr sz="1875" b="0">
                <a:solidFill>
                  <a:srgbClr val="3B485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3B4856"/>
                </a:solidFill>
                <a:latin typeface="Apple SD Gothic Neo"/>
                <a:ea typeface="Apple SD Gothic Neo"/>
                <a:cs typeface="Apple SD Gothic Neo"/>
              </a:rPr>
              <a:t>제조사별 변환 명령 확인</a:t>
            </a:r>
          </a:p>
          <a:p>
            <a:pPr>
              <a:defRPr sz="1875" b="0">
                <a:solidFill>
                  <a:srgbClr val="3B485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3B4856"/>
                </a:solidFill>
                <a:latin typeface="Apple SD Gothic Neo"/>
                <a:ea typeface="Apple SD Gothic Neo"/>
                <a:cs typeface="Apple SD Gothic Neo"/>
              </a:rPr>
              <a:t>전송 대상과 수신 응답 추적</a:t>
            </a:r>
          </a:p>
        </p:txBody>
      </p:sp>
      <p:sp>
        <p:nvSpPr>
          <p:cNvPr id="21" name="dashboard-takeaway">
            <a:extLst>
              <a:ext uri="{FF2B5EF4-FFF2-40B4-BE49-F238E27FC236}">
                <a16:creationId xmlns:a16="http://schemas.microsoft.com/office/drawing/2014/main" id="{6E5F2DE2-7E43-4D80-9F13-CB30390FE985}"/>
              </a:ext>
            </a:extLst>
          </p:cNvPr>
          <p:cNvSpPr>
            <a:spLocks noGrp="1"/>
          </p:cNvSpPr>
          <p:nvPr/>
        </p:nvSpPr>
        <p:spPr>
          <a:xfrm>
            <a:off x="666750" y="7534275"/>
            <a:ext cx="13239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025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>
              <a:defRPr sz="2025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rPr>
              <a:t>마킹의 판단 근거와 전달 이력을 한 화면에서 확인</a:t>
            </a:r>
          </a:p>
        </p:txBody>
      </p:sp>
    </p:spTree>
    <p:extLst>
      <p:ext uri="{BB962C8B-B14F-4D97-AF65-F5344CB8AC3E}">
        <p14:creationId xmlns:p14="http://schemas.microsoft.com/office/powerpoint/2010/main" val="9088034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-97">
            <a:extLst>
              <a:ext uri="{FF2B5EF4-FFF2-40B4-BE49-F238E27FC236}">
                <a16:creationId xmlns:a16="http://schemas.microsoft.com/office/drawing/2014/main" id="{EA12B03B-AA9C-4024-A4AB-77D3F3E50523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6191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425" b="1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1425" b="1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rPr>
              <a:t>ContextWeld</a:t>
            </a:r>
          </a:p>
        </p:txBody>
      </p:sp>
      <p:sp>
        <p:nvSpPr>
          <p:cNvPr id="5" name="text-101">
            <a:extLst>
              <a:ext uri="{FF2B5EF4-FFF2-40B4-BE49-F238E27FC236}">
                <a16:creationId xmlns:a16="http://schemas.microsoft.com/office/drawing/2014/main" id="{27B7C983-7812-4F0B-98E0-9D3D8F8A423E}"/>
              </a:ext>
            </a:extLst>
          </p:cNvPr>
          <p:cNvSpPr>
            <a:spLocks noGrp="1"/>
          </p:cNvSpPr>
          <p:nvPr/>
        </p:nvSpPr>
        <p:spPr>
          <a:xfrm>
            <a:off x="666750" y="971550"/>
            <a:ext cx="1388745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600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3600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rPr>
              <a:t>현재 확인한 동작과 남은 자동화 검증</a:t>
            </a:r>
          </a:p>
        </p:txBody>
      </p:sp>
      <p:sp>
        <p:nvSpPr>
          <p:cNvPr id="6" name="text-102">
            <a:extLst>
              <a:ext uri="{FF2B5EF4-FFF2-40B4-BE49-F238E27FC236}">
                <a16:creationId xmlns:a16="http://schemas.microsoft.com/office/drawing/2014/main" id="{8E34B0C7-09AB-4039-9A3F-4DCDF415046D}"/>
              </a:ext>
            </a:extLst>
          </p:cNvPr>
          <p:cNvSpPr>
            <a:spLocks noGrp="1"/>
          </p:cNvSpPr>
          <p:nvPr/>
        </p:nvSpPr>
        <p:spPr>
          <a:xfrm>
            <a:off x="685800" y="8077200"/>
            <a:ext cx="6667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125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1125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rPr>
              <a:t>Static Duo</a:t>
            </a:r>
          </a:p>
        </p:txBody>
      </p:sp>
      <p:sp>
        <p:nvSpPr>
          <p:cNvPr id="7" name="text-103">
            <a:extLst>
              <a:ext uri="{FF2B5EF4-FFF2-40B4-BE49-F238E27FC236}">
                <a16:creationId xmlns:a16="http://schemas.microsoft.com/office/drawing/2014/main" id="{721183BF-F5F6-4882-B87F-7E48B1BBAA4C}"/>
              </a:ext>
            </a:extLst>
          </p:cNvPr>
          <p:cNvSpPr>
            <a:spLocks noGrp="1"/>
          </p:cNvSpPr>
          <p:nvPr/>
        </p:nvSpPr>
        <p:spPr>
          <a:xfrm>
            <a:off x="13868400" y="8020050"/>
            <a:ext cx="6858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r">
              <a:buNone/>
              <a:defRPr sz="1350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rPr>
              <a:t>09</a:t>
            </a:r>
          </a:p>
        </p:txBody>
      </p:sp>
      <p:pic>
        <p:nvPicPr>
          <p:cNvPr id="8" name="그래픽 7">
            <a:extLst>
              <a:ext uri="{FF2B5EF4-FFF2-40B4-BE49-F238E27FC236}">
                <a16:creationId xmlns:a16="http://schemas.microsoft.com/office/drawing/2014/main" id="{293C8214-AE4E-437C-992F-4F3DAB0E4C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685800" y="2009775"/>
            <a:ext cx="476250" cy="476250"/>
          </a:xfrm>
          <a:prstGeom prst="rect">
            <a:avLst/>
          </a:prstGeom>
        </p:spPr>
      </p:pic>
      <p:sp>
        <p:nvSpPr>
          <p:cNvPr id="9" name="rectangle-104">
            <a:extLst>
              <a:ext uri="{FF2B5EF4-FFF2-40B4-BE49-F238E27FC236}">
                <a16:creationId xmlns:a16="http://schemas.microsoft.com/office/drawing/2014/main" id="{7A9834C0-BF9D-4C89-94B3-B675589647CD}"/>
              </a:ext>
            </a:extLst>
          </p:cNvPr>
          <p:cNvSpPr>
            <a:spLocks noGrp="1"/>
          </p:cNvSpPr>
          <p:nvPr/>
        </p:nvSpPr>
        <p:spPr>
          <a:xfrm>
            <a:off x="685800" y="3143250"/>
            <a:ext cx="3238500" cy="95"/>
          </a:xfrm>
          <a:prstGeom prst="line">
            <a:avLst/>
          </a:prstGeom>
          <a:noFill/>
          <a:ln w="1905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0" name="text-105">
            <a:extLst>
              <a:ext uri="{FF2B5EF4-FFF2-40B4-BE49-F238E27FC236}">
                <a16:creationId xmlns:a16="http://schemas.microsoft.com/office/drawing/2014/main" id="{12AC4A35-2AE0-4632-A260-E6CC98545380}"/>
              </a:ext>
            </a:extLst>
          </p:cNvPr>
          <p:cNvSpPr>
            <a:spLocks noGrp="1"/>
          </p:cNvSpPr>
          <p:nvPr/>
        </p:nvSpPr>
        <p:spPr>
          <a:xfrm>
            <a:off x="685800" y="2600325"/>
            <a:ext cx="32385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100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2100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rPr>
              <a:t>관측</a:t>
            </a:r>
          </a:p>
        </p:txBody>
      </p:sp>
      <p:sp>
        <p:nvSpPr>
          <p:cNvPr id="11" name="rectangle-106">
            <a:extLst>
              <a:ext uri="{FF2B5EF4-FFF2-40B4-BE49-F238E27FC236}">
                <a16:creationId xmlns:a16="http://schemas.microsoft.com/office/drawing/2014/main" id="{DE3A4656-9165-4475-89F4-4D29D11D6C0E}"/>
              </a:ext>
            </a:extLst>
          </p:cNvPr>
          <p:cNvSpPr>
            <a:spLocks noGrp="1"/>
          </p:cNvSpPr>
          <p:nvPr/>
        </p:nvSpPr>
        <p:spPr>
          <a:xfrm>
            <a:off x="685800" y="3419475"/>
            <a:ext cx="3238500" cy="2486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2" name="text-107">
            <a:extLst>
              <a:ext uri="{FF2B5EF4-FFF2-40B4-BE49-F238E27FC236}">
                <a16:creationId xmlns:a16="http://schemas.microsoft.com/office/drawing/2014/main" id="{71561F38-BB72-4C59-B163-C70FAEEEC945}"/>
              </a:ext>
            </a:extLst>
          </p:cNvPr>
          <p:cNvSpPr>
            <a:spLocks noGrp="1"/>
          </p:cNvSpPr>
          <p:nvPr/>
        </p:nvSpPr>
        <p:spPr>
          <a:xfrm>
            <a:off x="3371850" y="2019300"/>
            <a:ext cx="55245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2025" b="1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r">
              <a:buNone/>
              <a:defRPr sz="2025" b="1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13" name="text-108">
            <a:extLst>
              <a:ext uri="{FF2B5EF4-FFF2-40B4-BE49-F238E27FC236}">
                <a16:creationId xmlns:a16="http://schemas.microsoft.com/office/drawing/2014/main" id="{39B01DF0-FE4D-4D4E-A1C3-81DB9F5447B4}"/>
              </a:ext>
            </a:extLst>
          </p:cNvPr>
          <p:cNvSpPr>
            <a:spLocks noGrp="1"/>
          </p:cNvSpPr>
          <p:nvPr/>
        </p:nvSpPr>
        <p:spPr>
          <a:xfrm>
            <a:off x="685800" y="3343275"/>
            <a:ext cx="32385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00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1800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rPr>
              <a:t>반사 A/B 시뮬레이션 [실행]</a:t>
            </a:r>
          </a:p>
        </p:txBody>
      </p:sp>
      <p:pic>
        <p:nvPicPr>
          <p:cNvPr id="14" name="그래픽 13">
            <a:extLst>
              <a:ext uri="{FF2B5EF4-FFF2-40B4-BE49-F238E27FC236}">
                <a16:creationId xmlns:a16="http://schemas.microsoft.com/office/drawing/2014/main" id="{30513248-468B-4630-BDB6-EBB816A6AD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4229100" y="2009775"/>
            <a:ext cx="476250" cy="476250"/>
          </a:xfrm>
          <a:prstGeom prst="rect">
            <a:avLst/>
          </a:prstGeom>
        </p:spPr>
      </p:pic>
      <p:sp>
        <p:nvSpPr>
          <p:cNvPr id="15" name="rectangle-109">
            <a:extLst>
              <a:ext uri="{FF2B5EF4-FFF2-40B4-BE49-F238E27FC236}">
                <a16:creationId xmlns:a16="http://schemas.microsoft.com/office/drawing/2014/main" id="{006ECB63-328B-4D68-B14B-4BE16950898F}"/>
              </a:ext>
            </a:extLst>
          </p:cNvPr>
          <p:cNvSpPr>
            <a:spLocks noGrp="1"/>
          </p:cNvSpPr>
          <p:nvPr/>
        </p:nvSpPr>
        <p:spPr>
          <a:xfrm>
            <a:off x="4229100" y="3143250"/>
            <a:ext cx="3238500" cy="95"/>
          </a:xfrm>
          <a:prstGeom prst="line">
            <a:avLst/>
          </a:prstGeom>
          <a:noFill/>
          <a:ln w="1905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6" name="text-110">
            <a:extLst>
              <a:ext uri="{FF2B5EF4-FFF2-40B4-BE49-F238E27FC236}">
                <a16:creationId xmlns:a16="http://schemas.microsoft.com/office/drawing/2014/main" id="{432277D8-5F7E-4E13-AC1A-285824FCE23B}"/>
              </a:ext>
            </a:extLst>
          </p:cNvPr>
          <p:cNvSpPr>
            <a:spLocks noGrp="1"/>
          </p:cNvSpPr>
          <p:nvPr/>
        </p:nvSpPr>
        <p:spPr>
          <a:xfrm>
            <a:off x="4229100" y="2600325"/>
            <a:ext cx="32385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100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2100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rPr>
              <a:t>판단</a:t>
            </a:r>
          </a:p>
        </p:txBody>
      </p:sp>
      <p:sp>
        <p:nvSpPr>
          <p:cNvPr id="17" name="rectangle-111">
            <a:extLst>
              <a:ext uri="{FF2B5EF4-FFF2-40B4-BE49-F238E27FC236}">
                <a16:creationId xmlns:a16="http://schemas.microsoft.com/office/drawing/2014/main" id="{A79A8DAD-FEA0-4323-894F-C9711E7F239F}"/>
              </a:ext>
            </a:extLst>
          </p:cNvPr>
          <p:cNvSpPr>
            <a:spLocks noGrp="1"/>
          </p:cNvSpPr>
          <p:nvPr/>
        </p:nvSpPr>
        <p:spPr>
          <a:xfrm>
            <a:off x="4229100" y="3419475"/>
            <a:ext cx="3238500" cy="2486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8" name="text-112">
            <a:extLst>
              <a:ext uri="{FF2B5EF4-FFF2-40B4-BE49-F238E27FC236}">
                <a16:creationId xmlns:a16="http://schemas.microsoft.com/office/drawing/2014/main" id="{47E59212-3A82-4EFA-8DC4-B8535249DFFB}"/>
              </a:ext>
            </a:extLst>
          </p:cNvPr>
          <p:cNvSpPr>
            <a:spLocks noGrp="1"/>
          </p:cNvSpPr>
          <p:nvPr/>
        </p:nvSpPr>
        <p:spPr>
          <a:xfrm>
            <a:off x="6915150" y="2019300"/>
            <a:ext cx="55245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2025" b="1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r">
              <a:buNone/>
              <a:defRPr sz="2025" b="1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9" name="text-113">
            <a:extLst>
              <a:ext uri="{FF2B5EF4-FFF2-40B4-BE49-F238E27FC236}">
                <a16:creationId xmlns:a16="http://schemas.microsoft.com/office/drawing/2014/main" id="{34101B8F-865D-42FA-9D28-896B5F05846F}"/>
              </a:ext>
            </a:extLst>
          </p:cNvPr>
          <p:cNvSpPr>
            <a:spLocks noGrp="1"/>
          </p:cNvSpPr>
          <p:nvPr/>
        </p:nvSpPr>
        <p:spPr>
          <a:xfrm>
            <a:off x="4229100" y="3343275"/>
            <a:ext cx="32385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00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1800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rPr>
              <a:t>공개 사진 8장</a:t>
            </a:r>
          </a:p>
          <a:p>
            <a:pPr algn="l">
              <a:buNone/>
              <a:defRPr sz="1800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rPr>
              <a:t>판정 방식 비교 [실행]</a:t>
            </a:r>
          </a:p>
        </p:txBody>
      </p:sp>
      <p:pic>
        <p:nvPicPr>
          <p:cNvPr id="20" name="그래픽 19">
            <a:extLst>
              <a:ext uri="{FF2B5EF4-FFF2-40B4-BE49-F238E27FC236}">
                <a16:creationId xmlns:a16="http://schemas.microsoft.com/office/drawing/2014/main" id="{05657AB2-D76C-419F-AC25-EA2502ABFB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7772400" y="2009775"/>
            <a:ext cx="476250" cy="476250"/>
          </a:xfrm>
          <a:prstGeom prst="rect">
            <a:avLst/>
          </a:prstGeom>
        </p:spPr>
      </p:pic>
      <p:sp>
        <p:nvSpPr>
          <p:cNvPr id="21" name="rectangle-114">
            <a:extLst>
              <a:ext uri="{FF2B5EF4-FFF2-40B4-BE49-F238E27FC236}">
                <a16:creationId xmlns:a16="http://schemas.microsoft.com/office/drawing/2014/main" id="{E2C802C1-EA31-496C-AE92-9CC38E7C4F4A}"/>
              </a:ext>
            </a:extLst>
          </p:cNvPr>
          <p:cNvSpPr>
            <a:spLocks noGrp="1"/>
          </p:cNvSpPr>
          <p:nvPr/>
        </p:nvSpPr>
        <p:spPr>
          <a:xfrm>
            <a:off x="7772400" y="3143250"/>
            <a:ext cx="3238500" cy="95"/>
          </a:xfrm>
          <a:prstGeom prst="line">
            <a:avLst/>
          </a:prstGeom>
          <a:noFill/>
          <a:ln w="1905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2" name="text-115">
            <a:extLst>
              <a:ext uri="{FF2B5EF4-FFF2-40B4-BE49-F238E27FC236}">
                <a16:creationId xmlns:a16="http://schemas.microsoft.com/office/drawing/2014/main" id="{479832A6-59B2-47A2-A927-4DE6BB247177}"/>
              </a:ext>
            </a:extLst>
          </p:cNvPr>
          <p:cNvSpPr>
            <a:spLocks noGrp="1"/>
          </p:cNvSpPr>
          <p:nvPr/>
        </p:nvSpPr>
        <p:spPr>
          <a:xfrm>
            <a:off x="7772400" y="2600325"/>
            <a:ext cx="32385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100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2100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rPr>
              <a:t>맥락 검증</a:t>
            </a:r>
          </a:p>
        </p:txBody>
      </p:sp>
      <p:sp>
        <p:nvSpPr>
          <p:cNvPr id="23" name="rectangle-116">
            <a:extLst>
              <a:ext uri="{FF2B5EF4-FFF2-40B4-BE49-F238E27FC236}">
                <a16:creationId xmlns:a16="http://schemas.microsoft.com/office/drawing/2014/main" id="{B7493516-AD48-439D-B562-AB993E020072}"/>
              </a:ext>
            </a:extLst>
          </p:cNvPr>
          <p:cNvSpPr>
            <a:spLocks noGrp="1"/>
          </p:cNvSpPr>
          <p:nvPr/>
        </p:nvSpPr>
        <p:spPr>
          <a:xfrm>
            <a:off x="7772400" y="3419475"/>
            <a:ext cx="3238500" cy="2486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4" name="text-117">
            <a:extLst>
              <a:ext uri="{FF2B5EF4-FFF2-40B4-BE49-F238E27FC236}">
                <a16:creationId xmlns:a16="http://schemas.microsoft.com/office/drawing/2014/main" id="{C06CE1BD-3AFE-40D4-830E-B201C50EF1AE}"/>
              </a:ext>
            </a:extLst>
          </p:cNvPr>
          <p:cNvSpPr>
            <a:spLocks noGrp="1"/>
          </p:cNvSpPr>
          <p:nvPr/>
        </p:nvSpPr>
        <p:spPr>
          <a:xfrm>
            <a:off x="10458450" y="2019300"/>
            <a:ext cx="55245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2025" b="1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r">
              <a:buNone/>
              <a:defRPr sz="2025" b="1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25" name="text-118">
            <a:extLst>
              <a:ext uri="{FF2B5EF4-FFF2-40B4-BE49-F238E27FC236}">
                <a16:creationId xmlns:a16="http://schemas.microsoft.com/office/drawing/2014/main" id="{CF718933-88CC-4DF7-954C-478DD41BEAC1}"/>
              </a:ext>
            </a:extLst>
          </p:cNvPr>
          <p:cNvSpPr>
            <a:spLocks noGrp="1"/>
          </p:cNvSpPr>
          <p:nvPr/>
        </p:nvSpPr>
        <p:spPr>
          <a:xfrm>
            <a:off x="7772400" y="3343275"/>
            <a:ext cx="32385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00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1800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rPr>
              <a:t>저장 관측 → 문서 데모 검토 [실행]</a:t>
            </a:r>
          </a:p>
        </p:txBody>
      </p:sp>
      <p:pic>
        <p:nvPicPr>
          <p:cNvPr id="26" name="그래픽 25">
            <a:extLst>
              <a:ext uri="{FF2B5EF4-FFF2-40B4-BE49-F238E27FC236}">
                <a16:creationId xmlns:a16="http://schemas.microsoft.com/office/drawing/2014/main" id="{4CFD1C8E-8F5A-4075-8EEE-AA7354E0A7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11315700" y="2009775"/>
            <a:ext cx="476250" cy="476250"/>
          </a:xfrm>
          <a:prstGeom prst="rect">
            <a:avLst/>
          </a:prstGeom>
        </p:spPr>
      </p:pic>
      <p:sp>
        <p:nvSpPr>
          <p:cNvPr id="27" name="rectangle-119">
            <a:extLst>
              <a:ext uri="{FF2B5EF4-FFF2-40B4-BE49-F238E27FC236}">
                <a16:creationId xmlns:a16="http://schemas.microsoft.com/office/drawing/2014/main" id="{49BDC291-A3BD-4920-B6B6-39868A222A89}"/>
              </a:ext>
            </a:extLst>
          </p:cNvPr>
          <p:cNvSpPr>
            <a:spLocks noGrp="1"/>
          </p:cNvSpPr>
          <p:nvPr/>
        </p:nvSpPr>
        <p:spPr>
          <a:xfrm>
            <a:off x="11315700" y="3143250"/>
            <a:ext cx="3238500" cy="95"/>
          </a:xfrm>
          <a:prstGeom prst="line">
            <a:avLst/>
          </a:prstGeom>
          <a:noFill/>
          <a:ln w="19050">
            <a:solidFill>
              <a:srgbClr val="00843D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8" name="text-120">
            <a:extLst>
              <a:ext uri="{FF2B5EF4-FFF2-40B4-BE49-F238E27FC236}">
                <a16:creationId xmlns:a16="http://schemas.microsoft.com/office/drawing/2014/main" id="{011487D8-1343-4600-A9DD-98D66DC49FE4}"/>
              </a:ext>
            </a:extLst>
          </p:cNvPr>
          <p:cNvSpPr>
            <a:spLocks noGrp="1"/>
          </p:cNvSpPr>
          <p:nvPr/>
        </p:nvSpPr>
        <p:spPr>
          <a:xfrm>
            <a:off x="11315700" y="2600325"/>
            <a:ext cx="32385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100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2100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rPr>
              <a:t>전달</a:t>
            </a:r>
          </a:p>
        </p:txBody>
      </p:sp>
      <p:sp>
        <p:nvSpPr>
          <p:cNvPr id="29" name="rectangle-121">
            <a:extLst>
              <a:ext uri="{FF2B5EF4-FFF2-40B4-BE49-F238E27FC236}">
                <a16:creationId xmlns:a16="http://schemas.microsoft.com/office/drawing/2014/main" id="{B8729DC8-A704-4E7F-A095-B7E713454C9C}"/>
              </a:ext>
            </a:extLst>
          </p:cNvPr>
          <p:cNvSpPr>
            <a:spLocks noGrp="1"/>
          </p:cNvSpPr>
          <p:nvPr/>
        </p:nvSpPr>
        <p:spPr>
          <a:xfrm>
            <a:off x="11315700" y="3419475"/>
            <a:ext cx="3238500" cy="2486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0" name="text-122">
            <a:extLst>
              <a:ext uri="{FF2B5EF4-FFF2-40B4-BE49-F238E27FC236}">
                <a16:creationId xmlns:a16="http://schemas.microsoft.com/office/drawing/2014/main" id="{A0A7F006-2C44-4B5B-BB3E-7FB58B7C9BB0}"/>
              </a:ext>
            </a:extLst>
          </p:cNvPr>
          <p:cNvSpPr>
            <a:spLocks noGrp="1"/>
          </p:cNvSpPr>
          <p:nvPr/>
        </p:nvSpPr>
        <p:spPr>
          <a:xfrm>
            <a:off x="14001750" y="2019300"/>
            <a:ext cx="55245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2025" b="1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r">
              <a:buNone/>
              <a:defRPr sz="2025" b="1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31" name="text-123">
            <a:extLst>
              <a:ext uri="{FF2B5EF4-FFF2-40B4-BE49-F238E27FC236}">
                <a16:creationId xmlns:a16="http://schemas.microsoft.com/office/drawing/2014/main" id="{3E0A3239-5E51-4260-B712-1CC0AD0C6360}"/>
              </a:ext>
            </a:extLst>
          </p:cNvPr>
          <p:cNvSpPr>
            <a:spLocks noGrp="1"/>
          </p:cNvSpPr>
          <p:nvPr/>
        </p:nvSpPr>
        <p:spPr>
          <a:xfrm>
            <a:off x="11315700" y="3343275"/>
            <a:ext cx="32385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00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1800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rPr>
              <a:t>모의 수신</a:t>
            </a:r>
          </a:p>
          <a:p>
            <a:pPr algn="l">
              <a:buNone/>
              <a:defRPr sz="1800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rPr>
              <a:t>1건 [모의]</a:t>
            </a:r>
          </a:p>
        </p:txBody>
      </p:sp>
      <p:sp>
        <p:nvSpPr>
          <p:cNvPr id="32" name="diagram-node-124">
            <a:extLst>
              <a:ext uri="{FF2B5EF4-FFF2-40B4-BE49-F238E27FC236}">
                <a16:creationId xmlns:a16="http://schemas.microsoft.com/office/drawing/2014/main" id="{4EF1C594-428A-416C-80FF-96969379B3A9}"/>
              </a:ext>
            </a:extLst>
          </p:cNvPr>
          <p:cNvSpPr>
            <a:spLocks noGrp="1"/>
          </p:cNvSpPr>
          <p:nvPr/>
        </p:nvSpPr>
        <p:spPr>
          <a:xfrm>
            <a:off x="876300" y="4210050"/>
            <a:ext cx="1209675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4DCE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3" name="text-125">
            <a:extLst>
              <a:ext uri="{FF2B5EF4-FFF2-40B4-BE49-F238E27FC236}">
                <a16:creationId xmlns:a16="http://schemas.microsoft.com/office/drawing/2014/main" id="{62FFB99B-2C66-4FD2-B3FA-2A9F63E05432}"/>
              </a:ext>
            </a:extLst>
          </p:cNvPr>
          <p:cNvSpPr>
            <a:spLocks noGrp="1"/>
          </p:cNvSpPr>
          <p:nvPr/>
        </p:nvSpPr>
        <p:spPr>
          <a:xfrm>
            <a:off x="971550" y="4248150"/>
            <a:ext cx="1019175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575" b="0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ctr">
              <a:buNone/>
              <a:defRPr sz="1575" b="0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rPr>
              <a:t>A 가림</a:t>
            </a:r>
          </a:p>
        </p:txBody>
      </p:sp>
      <p:sp>
        <p:nvSpPr>
          <p:cNvPr id="34" name="diagram-node-126">
            <a:extLst>
              <a:ext uri="{FF2B5EF4-FFF2-40B4-BE49-F238E27FC236}">
                <a16:creationId xmlns:a16="http://schemas.microsoft.com/office/drawing/2014/main" id="{904C5280-5195-41B5-98A4-A8AB2977A3E5}"/>
              </a:ext>
            </a:extLst>
          </p:cNvPr>
          <p:cNvSpPr>
            <a:spLocks noGrp="1"/>
          </p:cNvSpPr>
          <p:nvPr/>
        </p:nvSpPr>
        <p:spPr>
          <a:xfrm>
            <a:off x="2495550" y="4210050"/>
            <a:ext cx="12382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4DCE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5" name="text-127">
            <a:extLst>
              <a:ext uri="{FF2B5EF4-FFF2-40B4-BE49-F238E27FC236}">
                <a16:creationId xmlns:a16="http://schemas.microsoft.com/office/drawing/2014/main" id="{25F124EC-1826-48CE-AC98-CA501F3506CC}"/>
              </a:ext>
            </a:extLst>
          </p:cNvPr>
          <p:cNvSpPr>
            <a:spLocks noGrp="1"/>
          </p:cNvSpPr>
          <p:nvPr/>
        </p:nvSpPr>
        <p:spPr>
          <a:xfrm>
            <a:off x="2590800" y="4248150"/>
            <a:ext cx="10477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575" b="0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ctr">
              <a:buNone/>
              <a:defRPr sz="1575" b="0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rPr>
              <a:t>B 육안</a:t>
            </a:r>
          </a:p>
        </p:txBody>
      </p:sp>
      <p:sp>
        <p:nvSpPr>
          <p:cNvPr id="36" name="rule-128">
            <a:extLst>
              <a:ext uri="{FF2B5EF4-FFF2-40B4-BE49-F238E27FC236}">
                <a16:creationId xmlns:a16="http://schemas.microsoft.com/office/drawing/2014/main" id="{D2B8D985-8A1F-4741-A728-5724EBBBBCE0}"/>
              </a:ext>
            </a:extLst>
          </p:cNvPr>
          <p:cNvSpPr>
            <a:spLocks noGrp="1"/>
          </p:cNvSpPr>
          <p:nvPr/>
        </p:nvSpPr>
        <p:spPr>
          <a:xfrm>
            <a:off x="2152650" y="4457700"/>
            <a:ext cx="257175" cy="95"/>
          </a:xfrm>
          <a:prstGeom prst="line">
            <a:avLst/>
          </a:prstGeom>
          <a:noFill/>
          <a:ln w="19050">
            <a:solidFill>
              <a:srgbClr val="68758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7" name="diagram-arrow-129">
            <a:extLst>
              <a:ext uri="{FF2B5EF4-FFF2-40B4-BE49-F238E27FC236}">
                <a16:creationId xmlns:a16="http://schemas.microsoft.com/office/drawing/2014/main" id="{D3D189A8-0EC8-4F75-921F-D8FD8BBEDB7D}"/>
              </a:ext>
            </a:extLst>
          </p:cNvPr>
          <p:cNvSpPr>
            <a:spLocks noGrp="1"/>
          </p:cNvSpPr>
          <p:nvPr/>
        </p:nvSpPr>
        <p:spPr>
          <a:xfrm>
            <a:off x="2333625" y="4410075"/>
            <a:ext cx="76200" cy="95250"/>
          </a:xfrm>
          <a:custGeom>
            <a:avLst/>
            <a:gdLst/>
            <a:ahLst/>
            <a:cxnLst/>
            <a:rect l="0" t="0" r="0" b="0"/>
            <a:pathLst>
              <a:path w="76200" h="95250">
                <a:moveTo>
                  <a:pt x="0" y="0"/>
                </a:moveTo>
                <a:lnTo>
                  <a:pt x="76200" y="47625"/>
                </a:lnTo>
                <a:lnTo>
                  <a:pt x="0" y="95250"/>
                </a:lnTo>
                <a:close/>
              </a:path>
            </a:pathLst>
          </a:custGeom>
          <a:solidFill>
            <a:srgbClr val="687584"/>
          </a:solidFill>
          <a:ln w="0">
            <a:noFill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8" name="rule-130">
            <a:extLst>
              <a:ext uri="{FF2B5EF4-FFF2-40B4-BE49-F238E27FC236}">
                <a16:creationId xmlns:a16="http://schemas.microsoft.com/office/drawing/2014/main" id="{6A6F0D65-59AD-4B0E-A583-E2F2A3444293}"/>
              </a:ext>
            </a:extLst>
          </p:cNvPr>
          <p:cNvSpPr>
            <a:spLocks noGrp="1"/>
          </p:cNvSpPr>
          <p:nvPr/>
        </p:nvSpPr>
        <p:spPr>
          <a:xfrm>
            <a:off x="1495425" y="4705350"/>
            <a:ext cx="95" cy="276225"/>
          </a:xfrm>
          <a:prstGeom prst="line">
            <a:avLst/>
          </a:prstGeom>
          <a:noFill/>
          <a:ln w="14288">
            <a:solidFill>
              <a:srgbClr val="68758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9" name="rule-131">
            <a:extLst>
              <a:ext uri="{FF2B5EF4-FFF2-40B4-BE49-F238E27FC236}">
                <a16:creationId xmlns:a16="http://schemas.microsoft.com/office/drawing/2014/main" id="{DF0E6AD8-F622-4E2B-B7A2-33C34F53A291}"/>
              </a:ext>
            </a:extLst>
          </p:cNvPr>
          <p:cNvSpPr>
            <a:spLocks noGrp="1"/>
          </p:cNvSpPr>
          <p:nvPr/>
        </p:nvSpPr>
        <p:spPr>
          <a:xfrm>
            <a:off x="3095625" y="4705350"/>
            <a:ext cx="95" cy="276225"/>
          </a:xfrm>
          <a:prstGeom prst="line">
            <a:avLst/>
          </a:prstGeom>
          <a:noFill/>
          <a:ln w="14288">
            <a:solidFill>
              <a:srgbClr val="68758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0" name="rule-132">
            <a:extLst>
              <a:ext uri="{FF2B5EF4-FFF2-40B4-BE49-F238E27FC236}">
                <a16:creationId xmlns:a16="http://schemas.microsoft.com/office/drawing/2014/main" id="{EEBACB52-74E8-40FB-BA75-F10CCFE12059}"/>
              </a:ext>
            </a:extLst>
          </p:cNvPr>
          <p:cNvSpPr>
            <a:spLocks noGrp="1"/>
          </p:cNvSpPr>
          <p:nvPr/>
        </p:nvSpPr>
        <p:spPr>
          <a:xfrm>
            <a:off x="1495425" y="4981575"/>
            <a:ext cx="1600200" cy="95"/>
          </a:xfrm>
          <a:prstGeom prst="line">
            <a:avLst/>
          </a:prstGeom>
          <a:noFill/>
          <a:ln w="14288">
            <a:solidFill>
              <a:srgbClr val="68758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1" name="rule-133">
            <a:extLst>
              <a:ext uri="{FF2B5EF4-FFF2-40B4-BE49-F238E27FC236}">
                <a16:creationId xmlns:a16="http://schemas.microsoft.com/office/drawing/2014/main" id="{D469B393-8C91-41EE-8A1E-2CFCA2BA33C7}"/>
              </a:ext>
            </a:extLst>
          </p:cNvPr>
          <p:cNvSpPr>
            <a:spLocks noGrp="1"/>
          </p:cNvSpPr>
          <p:nvPr/>
        </p:nvSpPr>
        <p:spPr>
          <a:xfrm>
            <a:off x="2286000" y="4981575"/>
            <a:ext cx="95" cy="200025"/>
          </a:xfrm>
          <a:prstGeom prst="line">
            <a:avLst/>
          </a:prstGeom>
          <a:noFill/>
          <a:ln w="14288">
            <a:solidFill>
              <a:srgbClr val="68758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2" name="diagram-node-134">
            <a:extLst>
              <a:ext uri="{FF2B5EF4-FFF2-40B4-BE49-F238E27FC236}">
                <a16:creationId xmlns:a16="http://schemas.microsoft.com/office/drawing/2014/main" id="{3B54F1C2-E85E-49BC-A730-7D498F6FB994}"/>
              </a:ext>
            </a:extLst>
          </p:cNvPr>
          <p:cNvSpPr>
            <a:spLocks noGrp="1"/>
          </p:cNvSpPr>
          <p:nvPr/>
        </p:nvSpPr>
        <p:spPr>
          <a:xfrm>
            <a:off x="1200150" y="5200650"/>
            <a:ext cx="21907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4DCE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3" name="text-135">
            <a:extLst>
              <a:ext uri="{FF2B5EF4-FFF2-40B4-BE49-F238E27FC236}">
                <a16:creationId xmlns:a16="http://schemas.microsoft.com/office/drawing/2014/main" id="{80DCB166-ACF7-4C32-A17C-E3EB812611FB}"/>
              </a:ext>
            </a:extLst>
          </p:cNvPr>
          <p:cNvSpPr>
            <a:spLocks noGrp="1"/>
          </p:cNvSpPr>
          <p:nvPr/>
        </p:nvSpPr>
        <p:spPr>
          <a:xfrm>
            <a:off x="1295400" y="5238750"/>
            <a:ext cx="2000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575" b="0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ctr">
              <a:buNone/>
              <a:defRPr sz="1575" b="0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rPr>
              <a:t>사전 지정 이동</a:t>
            </a:r>
          </a:p>
        </p:txBody>
      </p:sp>
      <p:sp>
        <p:nvSpPr>
          <p:cNvPr id="44" name="diagram-node-136">
            <a:extLst>
              <a:ext uri="{FF2B5EF4-FFF2-40B4-BE49-F238E27FC236}">
                <a16:creationId xmlns:a16="http://schemas.microsoft.com/office/drawing/2014/main" id="{C0531138-4A9D-433D-8155-05862BF5407B}"/>
              </a:ext>
            </a:extLst>
          </p:cNvPr>
          <p:cNvSpPr>
            <a:spLocks noGrp="1"/>
          </p:cNvSpPr>
          <p:nvPr/>
        </p:nvSpPr>
        <p:spPr>
          <a:xfrm>
            <a:off x="4429125" y="4267200"/>
            <a:ext cx="1219200" cy="1057275"/>
          </a:xfrm>
          <a:prstGeom prst="rect">
            <a:avLst/>
          </a:prstGeom>
          <a:solidFill>
            <a:srgbClr val="FFFFFF"/>
          </a:solidFill>
          <a:ln w="9525">
            <a:solidFill>
              <a:srgbClr val="D4DCE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5" name="text-137">
            <a:extLst>
              <a:ext uri="{FF2B5EF4-FFF2-40B4-BE49-F238E27FC236}">
                <a16:creationId xmlns:a16="http://schemas.microsoft.com/office/drawing/2014/main" id="{4AE302F5-8F51-4378-86B5-F5C0462959D0}"/>
              </a:ext>
            </a:extLst>
          </p:cNvPr>
          <p:cNvSpPr>
            <a:spLocks noGrp="1"/>
          </p:cNvSpPr>
          <p:nvPr/>
        </p:nvSpPr>
        <p:spPr>
          <a:xfrm>
            <a:off x="4524375" y="4305300"/>
            <a:ext cx="1028700" cy="981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650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ctr">
              <a:buNone/>
              <a:defRPr sz="1650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rPr>
              <a:t>OCR 단독</a:t>
            </a:r>
          </a:p>
        </p:txBody>
      </p:sp>
      <p:sp>
        <p:nvSpPr>
          <p:cNvPr id="46" name="text-138">
            <a:extLst>
              <a:ext uri="{FF2B5EF4-FFF2-40B4-BE49-F238E27FC236}">
                <a16:creationId xmlns:a16="http://schemas.microsoft.com/office/drawing/2014/main" id="{25A73CA6-C493-4774-B564-EE5D7FF44C4B}"/>
              </a:ext>
            </a:extLst>
          </p:cNvPr>
          <p:cNvSpPr>
            <a:spLocks noGrp="1"/>
          </p:cNvSpPr>
          <p:nvPr/>
        </p:nvSpPr>
        <p:spPr>
          <a:xfrm>
            <a:off x="5743575" y="4486275"/>
            <a:ext cx="276225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175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ctr">
              <a:buNone/>
              <a:defRPr sz="2175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rPr>
              <a:t>vs</a:t>
            </a:r>
          </a:p>
        </p:txBody>
      </p:sp>
      <p:sp>
        <p:nvSpPr>
          <p:cNvPr id="47" name="diagram-node-139">
            <a:extLst>
              <a:ext uri="{FF2B5EF4-FFF2-40B4-BE49-F238E27FC236}">
                <a16:creationId xmlns:a16="http://schemas.microsoft.com/office/drawing/2014/main" id="{FCAF2873-F925-4353-BA4A-9FA13E2EA2F4}"/>
              </a:ext>
            </a:extLst>
          </p:cNvPr>
          <p:cNvSpPr>
            <a:spLocks noGrp="1"/>
          </p:cNvSpPr>
          <p:nvPr/>
        </p:nvSpPr>
        <p:spPr>
          <a:xfrm>
            <a:off x="6096000" y="4267200"/>
            <a:ext cx="1162050" cy="1057275"/>
          </a:xfrm>
          <a:prstGeom prst="rect">
            <a:avLst/>
          </a:prstGeom>
          <a:solidFill>
            <a:srgbClr val="FFFFFF"/>
          </a:solidFill>
          <a:ln w="9525">
            <a:solidFill>
              <a:srgbClr val="D4DCE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8" name="text-140">
            <a:extLst>
              <a:ext uri="{FF2B5EF4-FFF2-40B4-BE49-F238E27FC236}">
                <a16:creationId xmlns:a16="http://schemas.microsoft.com/office/drawing/2014/main" id="{6EE89BA7-78D6-42DB-A688-7915A2C5AC62}"/>
              </a:ext>
            </a:extLst>
          </p:cNvPr>
          <p:cNvSpPr>
            <a:spLocks noGrp="1"/>
          </p:cNvSpPr>
          <p:nvPr/>
        </p:nvSpPr>
        <p:spPr>
          <a:xfrm>
            <a:off x="6191250" y="4305300"/>
            <a:ext cx="971550" cy="981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650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ctr">
              <a:buNone/>
              <a:defRPr sz="1650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rPr>
              <a:t>OCR·VLM 합의</a:t>
            </a:r>
          </a:p>
        </p:txBody>
      </p:sp>
      <p:sp>
        <p:nvSpPr>
          <p:cNvPr id="50" name="text-142">
            <a:extLst>
              <a:ext uri="{FF2B5EF4-FFF2-40B4-BE49-F238E27FC236}">
                <a16:creationId xmlns:a16="http://schemas.microsoft.com/office/drawing/2014/main" id="{C1DF1392-8130-4322-878F-741F1BD2CEF9}"/>
              </a:ext>
            </a:extLst>
          </p:cNvPr>
          <p:cNvSpPr>
            <a:spLocks noGrp="1"/>
          </p:cNvSpPr>
          <p:nvPr/>
        </p:nvSpPr>
        <p:spPr>
          <a:xfrm>
            <a:off x="7943850" y="4162425"/>
            <a:ext cx="4286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350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1350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51" name="diagram-node-143">
            <a:extLst>
              <a:ext uri="{FF2B5EF4-FFF2-40B4-BE49-F238E27FC236}">
                <a16:creationId xmlns:a16="http://schemas.microsoft.com/office/drawing/2014/main" id="{2BD60617-58E3-443B-8806-5B0266100FBD}"/>
              </a:ext>
            </a:extLst>
          </p:cNvPr>
          <p:cNvSpPr>
            <a:spLocks noGrp="1"/>
          </p:cNvSpPr>
          <p:nvPr/>
        </p:nvSpPr>
        <p:spPr>
          <a:xfrm>
            <a:off x="8458200" y="4171950"/>
            <a:ext cx="2352675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4DCE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52" name="text-144">
            <a:extLst>
              <a:ext uri="{FF2B5EF4-FFF2-40B4-BE49-F238E27FC236}">
                <a16:creationId xmlns:a16="http://schemas.microsoft.com/office/drawing/2014/main" id="{500D8C6E-0BA0-4D36-9536-1DCEC2C063A6}"/>
              </a:ext>
            </a:extLst>
          </p:cNvPr>
          <p:cNvSpPr>
            <a:spLocks noGrp="1"/>
          </p:cNvSpPr>
          <p:nvPr/>
        </p:nvSpPr>
        <p:spPr>
          <a:xfrm>
            <a:off x="8553450" y="4210050"/>
            <a:ext cx="21621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500" b="0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ctr">
              <a:buNone/>
              <a:defRPr sz="1500" b="0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rPr>
              <a:t>문서 4개 → 74단위</a:t>
            </a:r>
          </a:p>
        </p:txBody>
      </p:sp>
      <p:sp>
        <p:nvSpPr>
          <p:cNvPr id="53" name="text-145">
            <a:extLst>
              <a:ext uri="{FF2B5EF4-FFF2-40B4-BE49-F238E27FC236}">
                <a16:creationId xmlns:a16="http://schemas.microsoft.com/office/drawing/2014/main" id="{12C96B5F-CD15-41A1-BBF1-97B055B42A35}"/>
              </a:ext>
            </a:extLst>
          </p:cNvPr>
          <p:cNvSpPr>
            <a:spLocks noGrp="1"/>
          </p:cNvSpPr>
          <p:nvPr/>
        </p:nvSpPr>
        <p:spPr>
          <a:xfrm>
            <a:off x="7943850" y="4686300"/>
            <a:ext cx="4286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350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1350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54" name="diagram-node-146">
            <a:extLst>
              <a:ext uri="{FF2B5EF4-FFF2-40B4-BE49-F238E27FC236}">
                <a16:creationId xmlns:a16="http://schemas.microsoft.com/office/drawing/2014/main" id="{1908F86B-9671-4F0A-A260-4426502DD84D}"/>
              </a:ext>
            </a:extLst>
          </p:cNvPr>
          <p:cNvSpPr>
            <a:spLocks noGrp="1"/>
          </p:cNvSpPr>
          <p:nvPr/>
        </p:nvSpPr>
        <p:spPr>
          <a:xfrm>
            <a:off x="8458200" y="4695825"/>
            <a:ext cx="2352675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4DCE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55" name="text-147">
            <a:extLst>
              <a:ext uri="{FF2B5EF4-FFF2-40B4-BE49-F238E27FC236}">
                <a16:creationId xmlns:a16="http://schemas.microsoft.com/office/drawing/2014/main" id="{3F37B002-4BD4-452D-8C38-E3DE2FEA52E8}"/>
              </a:ext>
            </a:extLst>
          </p:cNvPr>
          <p:cNvSpPr>
            <a:spLocks noGrp="1"/>
          </p:cNvSpPr>
          <p:nvPr/>
        </p:nvSpPr>
        <p:spPr>
          <a:xfrm>
            <a:off x="8553450" y="4733925"/>
            <a:ext cx="21621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500" b="0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ctr">
              <a:buNone/>
              <a:defRPr sz="1500" b="0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rPr>
              <a:t>정상 1건 통과</a:t>
            </a:r>
          </a:p>
        </p:txBody>
      </p:sp>
      <p:sp>
        <p:nvSpPr>
          <p:cNvPr id="56" name="text-148">
            <a:extLst>
              <a:ext uri="{FF2B5EF4-FFF2-40B4-BE49-F238E27FC236}">
                <a16:creationId xmlns:a16="http://schemas.microsoft.com/office/drawing/2014/main" id="{44F8DFA9-3195-4EA6-A9DF-538B4A22E437}"/>
              </a:ext>
            </a:extLst>
          </p:cNvPr>
          <p:cNvSpPr>
            <a:spLocks noGrp="1"/>
          </p:cNvSpPr>
          <p:nvPr/>
        </p:nvSpPr>
        <p:spPr>
          <a:xfrm>
            <a:off x="7943850" y="5210175"/>
            <a:ext cx="4286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350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1350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57" name="diagram-node-149">
            <a:extLst>
              <a:ext uri="{FF2B5EF4-FFF2-40B4-BE49-F238E27FC236}">
                <a16:creationId xmlns:a16="http://schemas.microsoft.com/office/drawing/2014/main" id="{3BF453F7-4237-443D-8BF9-BFC84C3CA79F}"/>
              </a:ext>
            </a:extLst>
          </p:cNvPr>
          <p:cNvSpPr>
            <a:spLocks noGrp="1"/>
          </p:cNvSpPr>
          <p:nvPr/>
        </p:nvSpPr>
        <p:spPr>
          <a:xfrm>
            <a:off x="8458200" y="5219700"/>
            <a:ext cx="2352675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4DCE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58" name="text-150">
            <a:extLst>
              <a:ext uri="{FF2B5EF4-FFF2-40B4-BE49-F238E27FC236}">
                <a16:creationId xmlns:a16="http://schemas.microsoft.com/office/drawing/2014/main" id="{36935594-C1EC-48B9-8D26-DAB22E4082FF}"/>
              </a:ext>
            </a:extLst>
          </p:cNvPr>
          <p:cNvSpPr>
            <a:spLocks noGrp="1"/>
          </p:cNvSpPr>
          <p:nvPr/>
        </p:nvSpPr>
        <p:spPr>
          <a:xfrm>
            <a:off x="8553450" y="5257800"/>
            <a:ext cx="21621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500" b="0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ctr">
              <a:buNone/>
              <a:defRPr sz="1500" b="0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50" b="0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rPr>
              <a:t>보류 4건(모의3·실제1)</a:t>
            </a:r>
          </a:p>
        </p:txBody>
      </p:sp>
      <p:sp>
        <p:nvSpPr>
          <p:cNvPr id="59" name="diagram-node-151">
            <a:extLst>
              <a:ext uri="{FF2B5EF4-FFF2-40B4-BE49-F238E27FC236}">
                <a16:creationId xmlns:a16="http://schemas.microsoft.com/office/drawing/2014/main" id="{A80E9CB2-149F-4769-964A-CECD88D478A8}"/>
              </a:ext>
            </a:extLst>
          </p:cNvPr>
          <p:cNvSpPr>
            <a:spLocks noGrp="1"/>
          </p:cNvSpPr>
          <p:nvPr/>
        </p:nvSpPr>
        <p:spPr>
          <a:xfrm>
            <a:off x="11344275" y="4257675"/>
            <a:ext cx="914400" cy="847725"/>
          </a:xfrm>
          <a:prstGeom prst="rect">
            <a:avLst/>
          </a:prstGeom>
          <a:solidFill>
            <a:srgbClr val="FFFFFF"/>
          </a:solidFill>
          <a:ln w="9525">
            <a:solidFill>
              <a:srgbClr val="D4DCE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60" name="text-152">
            <a:extLst>
              <a:ext uri="{FF2B5EF4-FFF2-40B4-BE49-F238E27FC236}">
                <a16:creationId xmlns:a16="http://schemas.microsoft.com/office/drawing/2014/main" id="{E1EC2E39-8AB8-48EE-9EF5-C40630F37C70}"/>
              </a:ext>
            </a:extLst>
          </p:cNvPr>
          <p:cNvSpPr>
            <a:spLocks noGrp="1"/>
          </p:cNvSpPr>
          <p:nvPr/>
        </p:nvSpPr>
        <p:spPr>
          <a:xfrm>
            <a:off x="11363325" y="4295775"/>
            <a:ext cx="876300" cy="771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500" b="0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ctr">
              <a:buNone/>
              <a:defRPr sz="1500" b="0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rPr>
              <a:t>전송 요청 기록</a:t>
            </a:r>
          </a:p>
        </p:txBody>
      </p:sp>
      <p:sp>
        <p:nvSpPr>
          <p:cNvPr id="61" name="diagram-node-153">
            <a:extLst>
              <a:ext uri="{FF2B5EF4-FFF2-40B4-BE49-F238E27FC236}">
                <a16:creationId xmlns:a16="http://schemas.microsoft.com/office/drawing/2014/main" id="{DC34CE59-EA64-4227-BE1C-A70A440329D5}"/>
              </a:ext>
            </a:extLst>
          </p:cNvPr>
          <p:cNvSpPr>
            <a:spLocks noGrp="1"/>
          </p:cNvSpPr>
          <p:nvPr/>
        </p:nvSpPr>
        <p:spPr>
          <a:xfrm>
            <a:off x="12372975" y="4257675"/>
            <a:ext cx="914400" cy="847725"/>
          </a:xfrm>
          <a:prstGeom prst="rect">
            <a:avLst/>
          </a:prstGeom>
          <a:solidFill>
            <a:srgbClr val="FFFFFF"/>
          </a:solidFill>
          <a:ln w="9525">
            <a:solidFill>
              <a:srgbClr val="D4DCE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62" name="text-154">
            <a:extLst>
              <a:ext uri="{FF2B5EF4-FFF2-40B4-BE49-F238E27FC236}">
                <a16:creationId xmlns:a16="http://schemas.microsoft.com/office/drawing/2014/main" id="{6821D3FA-88A0-458E-B0CC-9A12634678B7}"/>
              </a:ext>
            </a:extLst>
          </p:cNvPr>
          <p:cNvSpPr>
            <a:spLocks noGrp="1"/>
          </p:cNvSpPr>
          <p:nvPr/>
        </p:nvSpPr>
        <p:spPr>
          <a:xfrm>
            <a:off x="12392025" y="4295775"/>
            <a:ext cx="876300" cy="771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500" b="0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ctr">
              <a:buNone/>
              <a:defRPr sz="1500" b="0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rPr>
              <a:t>모의 수신 200</a:t>
            </a:r>
          </a:p>
        </p:txBody>
      </p:sp>
      <p:sp>
        <p:nvSpPr>
          <p:cNvPr id="63" name="diagram-node-155">
            <a:extLst>
              <a:ext uri="{FF2B5EF4-FFF2-40B4-BE49-F238E27FC236}">
                <a16:creationId xmlns:a16="http://schemas.microsoft.com/office/drawing/2014/main" id="{0BDE7D91-9FFB-41CA-B737-D7FF785D14F2}"/>
              </a:ext>
            </a:extLst>
          </p:cNvPr>
          <p:cNvSpPr>
            <a:spLocks noGrp="1"/>
          </p:cNvSpPr>
          <p:nvPr/>
        </p:nvSpPr>
        <p:spPr>
          <a:xfrm>
            <a:off x="13401675" y="4257675"/>
            <a:ext cx="914400" cy="847725"/>
          </a:xfrm>
          <a:prstGeom prst="rect">
            <a:avLst/>
          </a:prstGeom>
          <a:solidFill>
            <a:srgbClr val="FFFFFF"/>
          </a:solidFill>
          <a:ln w="9525">
            <a:solidFill>
              <a:srgbClr val="D4DCE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64" name="text-156">
            <a:extLst>
              <a:ext uri="{FF2B5EF4-FFF2-40B4-BE49-F238E27FC236}">
                <a16:creationId xmlns:a16="http://schemas.microsoft.com/office/drawing/2014/main" id="{827A7F25-FF02-469A-A486-8998D5A0C3C6}"/>
              </a:ext>
            </a:extLst>
          </p:cNvPr>
          <p:cNvSpPr>
            <a:spLocks noGrp="1"/>
          </p:cNvSpPr>
          <p:nvPr/>
        </p:nvSpPr>
        <p:spPr>
          <a:xfrm>
            <a:off x="13420725" y="4295775"/>
            <a:ext cx="876300" cy="771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500" b="0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ctr">
              <a:buNone/>
              <a:defRPr sz="1500" b="0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rPr>
              <a:t>실제 로봇 [후속]</a:t>
            </a:r>
          </a:p>
        </p:txBody>
      </p:sp>
      <p:sp>
        <p:nvSpPr>
          <p:cNvPr id="65" name="text-157">
            <a:extLst>
              <a:ext uri="{FF2B5EF4-FFF2-40B4-BE49-F238E27FC236}">
                <a16:creationId xmlns:a16="http://schemas.microsoft.com/office/drawing/2014/main" id="{6F769F65-65D2-4A9E-BC48-491B100F3D2E}"/>
              </a:ext>
            </a:extLst>
          </p:cNvPr>
          <p:cNvSpPr>
            <a:spLocks noGrp="1"/>
          </p:cNvSpPr>
          <p:nvPr/>
        </p:nvSpPr>
        <p:spPr>
          <a:xfrm>
            <a:off x="11487150" y="5391150"/>
            <a:ext cx="28860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575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ctr">
              <a:buNone/>
              <a:defRPr sz="1575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00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rPr>
              <a:t>변환 미리보기 · 제어기 [후속]</a:t>
            </a:r>
          </a:p>
        </p:txBody>
      </p:sp>
      <p:sp>
        <p:nvSpPr>
          <p:cNvPr id="66" name="rule-158">
            <a:extLst>
              <a:ext uri="{FF2B5EF4-FFF2-40B4-BE49-F238E27FC236}">
                <a16:creationId xmlns:a16="http://schemas.microsoft.com/office/drawing/2014/main" id="{04909E38-390D-4E38-8A4F-8DC6C9EE5C63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3868400" cy="95"/>
          </a:xfrm>
          <a:prstGeom prst="line">
            <a:avLst/>
          </a:prstGeom>
          <a:noFill/>
          <a:ln w="14288">
            <a:solidFill>
              <a:srgbClr val="D4DCE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71" name="text-163">
            <a:extLst>
              <a:ext uri="{FF2B5EF4-FFF2-40B4-BE49-F238E27FC236}">
                <a16:creationId xmlns:a16="http://schemas.microsoft.com/office/drawing/2014/main" id="{05D488EA-52AB-4904-84E0-A3E694DAA8CB}"/>
              </a:ext>
            </a:extLst>
          </p:cNvPr>
          <p:cNvSpPr>
            <a:spLocks noGrp="1"/>
          </p:cNvSpPr>
          <p:nvPr/>
        </p:nvSpPr>
        <p:spPr>
          <a:xfrm>
            <a:off x="685800" y="6610350"/>
            <a:ext cx="19431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100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2100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rPr>
              <a:t>범위·남은 검증</a:t>
            </a:r>
          </a:p>
        </p:txBody>
      </p:sp>
      <p:sp>
        <p:nvSpPr>
          <p:cNvPr id="72" name="text-164">
            <a:extLst>
              <a:ext uri="{FF2B5EF4-FFF2-40B4-BE49-F238E27FC236}">
                <a16:creationId xmlns:a16="http://schemas.microsoft.com/office/drawing/2014/main" id="{26A9A6CF-2CAD-4B05-BF5F-2EDBC1950966}"/>
              </a:ext>
            </a:extLst>
          </p:cNvPr>
          <p:cNvSpPr>
            <a:spLocks noGrp="1"/>
          </p:cNvSpPr>
          <p:nvPr/>
        </p:nvSpPr>
        <p:spPr>
          <a:xfrm>
            <a:off x="2876550" y="6591300"/>
            <a:ext cx="754380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325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2325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00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rPr>
              <a:t>오확정 5→0과 '8장 모두 보류'를 같은 비중으로 · 전체 완료율·현장 정확도 아님</a:t>
            </a:r>
          </a:p>
        </p:txBody>
      </p:sp>
      <p:sp>
        <p:nvSpPr>
          <p:cNvPr id="73" name="text-165">
            <a:extLst>
              <a:ext uri="{FF2B5EF4-FFF2-40B4-BE49-F238E27FC236}">
                <a16:creationId xmlns:a16="http://schemas.microsoft.com/office/drawing/2014/main" id="{0B894275-08C8-4C4A-9082-892390A90B1D}"/>
              </a:ext>
            </a:extLst>
          </p:cNvPr>
          <p:cNvSpPr>
            <a:spLocks noGrp="1"/>
          </p:cNvSpPr>
          <p:nvPr/>
        </p:nvSpPr>
        <p:spPr>
          <a:xfrm>
            <a:off x="2876550" y="7134225"/>
            <a:ext cx="7543800" cy="5810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1875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00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rPr>
              <a:t>보완 과제 [후속]: 보류→자동 처리(재인식·재해석·재조회), 판단 연동 재촬영, 전체 연결</a:t>
            </a:r>
          </a:p>
          <a:p>
            <a:pPr algn="l">
              <a:buNone/>
              <a:defRPr sz="1875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00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rPr>
              <a:t>미실행: E1-R·E2·E3·E4 · 의미 해석·조건 연결 정답 비교</a:t>
            </a:r>
          </a:p>
        </p:txBody>
      </p:sp>
      <p:sp>
        <p:nvSpPr>
          <p:cNvPr id="74" name="rule-166">
            <a:extLst>
              <a:ext uri="{FF2B5EF4-FFF2-40B4-BE49-F238E27FC236}">
                <a16:creationId xmlns:a16="http://schemas.microsoft.com/office/drawing/2014/main" id="{D09ECAF3-5D09-47B5-9995-B7E755FF66C6}"/>
              </a:ext>
            </a:extLst>
          </p:cNvPr>
          <p:cNvSpPr>
            <a:spLocks noGrp="1"/>
          </p:cNvSpPr>
          <p:nvPr/>
        </p:nvSpPr>
        <p:spPr>
          <a:xfrm>
            <a:off x="10829925" y="6410325"/>
            <a:ext cx="95" cy="1095375"/>
          </a:xfrm>
          <a:prstGeom prst="line">
            <a:avLst/>
          </a:prstGeom>
          <a:noFill/>
          <a:ln w="14288">
            <a:solidFill>
              <a:srgbClr val="D4DCE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75" name="text-167">
            <a:extLst>
              <a:ext uri="{FF2B5EF4-FFF2-40B4-BE49-F238E27FC236}">
                <a16:creationId xmlns:a16="http://schemas.microsoft.com/office/drawing/2014/main" id="{6DA325AC-4AC4-4EDA-86CC-8C2461C78EE8}"/>
              </a:ext>
            </a:extLst>
          </p:cNvPr>
          <p:cNvSpPr>
            <a:spLocks noGrp="1"/>
          </p:cNvSpPr>
          <p:nvPr/>
        </p:nvSpPr>
        <p:spPr>
          <a:xfrm>
            <a:off x="11191875" y="6629400"/>
            <a:ext cx="33623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725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1725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rPr>
              <a:t>출처</a:t>
            </a:r>
          </a:p>
        </p:txBody>
      </p:sp>
      <p:sp>
        <p:nvSpPr>
          <p:cNvPr id="76" name="text-168">
            <a:extLst>
              <a:ext uri="{FF2B5EF4-FFF2-40B4-BE49-F238E27FC236}">
                <a16:creationId xmlns:a16="http://schemas.microsoft.com/office/drawing/2014/main" id="{62CA1703-5AA5-4076-8DD2-8EC2CF522F33}"/>
              </a:ext>
            </a:extLst>
          </p:cNvPr>
          <p:cNvSpPr>
            <a:spLocks noGrp="1"/>
          </p:cNvSpPr>
          <p:nvPr/>
        </p:nvSpPr>
        <p:spPr>
          <a:xfrm>
            <a:off x="11191875" y="7143750"/>
            <a:ext cx="336232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175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2175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00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rPr>
              <a:t>E16·E17·E21 · A9~A11·A16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84000" y="7722000"/>
            <a:ext cx="138708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50" b="0">
                <a:solidFill>
                  <a:srgbClr val="687584"/>
                </a:solidFill>
                <a:latin typeface="Apple SD Gothic Neo"/>
                <a:ea typeface="Apple SD Gothic Neo"/>
              </a:rPr>
              <a:t>근거 E17·E21·E16 [실행]·[모의] · 공개 사진의 저장 관측을 문서 데모가 검토해 모의 수신까지 확인(연속 실행 아님) · 별첨 A9 실행 요약 · A10 PV2 · A11 다음 검증 · A16 미션 요구 대응</a:t>
            </a:r>
          </a:p>
        </p:txBody>
      </p:sp>
    </p:spTree>
    <p:extLst>
      <p:ext uri="{BB962C8B-B14F-4D97-AF65-F5344CB8AC3E}">
        <p14:creationId xmlns:p14="http://schemas.microsoft.com/office/powerpoint/2010/main" val="6708965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-240">
            <a:extLst>
              <a:ext uri="{FF2B5EF4-FFF2-40B4-BE49-F238E27FC236}">
                <a16:creationId xmlns:a16="http://schemas.microsoft.com/office/drawing/2014/main" id="{972BF569-4956-4C8F-8EF6-0002F8C130DC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6191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425" b="1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1425" b="1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rPr>
              <a:t>ContextWeld</a:t>
            </a:r>
          </a:p>
        </p:txBody>
      </p:sp>
      <p:sp>
        <p:nvSpPr>
          <p:cNvPr id="5" name="text-244">
            <a:extLst>
              <a:ext uri="{FF2B5EF4-FFF2-40B4-BE49-F238E27FC236}">
                <a16:creationId xmlns:a16="http://schemas.microsoft.com/office/drawing/2014/main" id="{E8C8F0C2-1549-44B1-9193-C0652937398C}"/>
              </a:ext>
            </a:extLst>
          </p:cNvPr>
          <p:cNvSpPr>
            <a:spLocks noGrp="1"/>
          </p:cNvSpPr>
          <p:nvPr/>
        </p:nvSpPr>
        <p:spPr>
          <a:xfrm>
            <a:off x="666750" y="971550"/>
            <a:ext cx="1388745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600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3600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 dirty="0" err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rPr>
              <a:t>기존</a:t>
            </a:r>
            <a:r>
              <a:rPr sz="3600" b="1" dirty="0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3600" b="1" dirty="0" err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rPr>
              <a:t>촬영</a:t>
            </a:r>
            <a:r>
              <a:rPr sz="3600" b="1" dirty="0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3600" b="1" dirty="0" err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rPr>
              <a:t>기반을</a:t>
            </a:r>
            <a:r>
              <a:rPr sz="3600" b="1" dirty="0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3600" b="1" dirty="0" err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rPr>
              <a:t>활용한</a:t>
            </a:r>
            <a:r>
              <a:rPr sz="3600" b="1" dirty="0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3600" b="1" dirty="0" err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rPr>
              <a:t>도입·운영</a:t>
            </a:r>
            <a:r>
              <a:rPr sz="3600" b="1" dirty="0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3600" b="1" dirty="0" err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rPr>
              <a:t>경제성</a:t>
            </a:r>
            <a:endParaRPr sz="3600" b="1" dirty="0">
              <a:solidFill>
                <a:srgbClr val="002554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6" name="text-245">
            <a:extLst>
              <a:ext uri="{FF2B5EF4-FFF2-40B4-BE49-F238E27FC236}">
                <a16:creationId xmlns:a16="http://schemas.microsoft.com/office/drawing/2014/main" id="{C4560252-433E-4944-A9F4-655529DE1220}"/>
              </a:ext>
            </a:extLst>
          </p:cNvPr>
          <p:cNvSpPr>
            <a:spLocks noGrp="1"/>
          </p:cNvSpPr>
          <p:nvPr/>
        </p:nvSpPr>
        <p:spPr>
          <a:xfrm>
            <a:off x="685800" y="8077200"/>
            <a:ext cx="6667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125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1125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rPr>
              <a:t>Static Duo</a:t>
            </a:r>
          </a:p>
        </p:txBody>
      </p:sp>
      <p:sp>
        <p:nvSpPr>
          <p:cNvPr id="7" name="text-246">
            <a:extLst>
              <a:ext uri="{FF2B5EF4-FFF2-40B4-BE49-F238E27FC236}">
                <a16:creationId xmlns:a16="http://schemas.microsoft.com/office/drawing/2014/main" id="{CCE52068-E4CD-40E7-B998-1E736B85DD2F}"/>
              </a:ext>
            </a:extLst>
          </p:cNvPr>
          <p:cNvSpPr>
            <a:spLocks noGrp="1"/>
          </p:cNvSpPr>
          <p:nvPr/>
        </p:nvSpPr>
        <p:spPr>
          <a:xfrm>
            <a:off x="13868400" y="8020050"/>
            <a:ext cx="6858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r">
              <a:buNone/>
              <a:defRPr sz="1350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  <p:sp>
        <p:nvSpPr>
          <p:cNvPr id="8" name="text-247">
            <a:extLst>
              <a:ext uri="{FF2B5EF4-FFF2-40B4-BE49-F238E27FC236}">
                <a16:creationId xmlns:a16="http://schemas.microsoft.com/office/drawing/2014/main" id="{28AF9C69-08EB-4414-A8CF-2246CAB6D060}"/>
              </a:ext>
            </a:extLst>
          </p:cNvPr>
          <p:cNvSpPr>
            <a:spLocks noGrp="1"/>
          </p:cNvSpPr>
          <p:nvPr/>
        </p:nvSpPr>
        <p:spPr>
          <a:xfrm>
            <a:off x="704850" y="1743075"/>
            <a:ext cx="1333500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1875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00" b="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rPr>
              <a:t>도입 설계 비교 · 문자 판독만 제공하고 후속 조회·입력을 수작업으로 하는 도입안 vs ContextWeld 설계(목표) · 공통 기반: 기존 로봇 + RGB 카메라 1대(전제)</a:t>
            </a:r>
          </a:p>
        </p:txBody>
      </p:sp>
      <p:sp>
        <p:nvSpPr>
          <p:cNvPr id="42" name="text-281">
            <a:extLst>
              <a:ext uri="{FF2B5EF4-FFF2-40B4-BE49-F238E27FC236}">
                <a16:creationId xmlns:a16="http://schemas.microsoft.com/office/drawing/2014/main" id="{11371CDA-C587-4ABA-ADEE-2BCBBD5209E5}"/>
              </a:ext>
            </a:extLst>
          </p:cNvPr>
          <p:cNvSpPr>
            <a:spLocks noGrp="1"/>
          </p:cNvSpPr>
          <p:nvPr/>
        </p:nvSpPr>
        <p:spPr>
          <a:xfrm>
            <a:off x="685800" y="7258050"/>
            <a:ext cx="20955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1875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rPr>
              <a:t>도입 판단</a:t>
            </a:r>
          </a:p>
        </p:txBody>
      </p:sp>
      <p:sp>
        <p:nvSpPr>
          <p:cNvPr id="43" name="text-282">
            <a:extLst>
              <a:ext uri="{FF2B5EF4-FFF2-40B4-BE49-F238E27FC236}">
                <a16:creationId xmlns:a16="http://schemas.microsoft.com/office/drawing/2014/main" id="{9C840D90-976D-4334-8ABC-C35EAB07B7F8}"/>
              </a:ext>
            </a:extLst>
          </p:cNvPr>
          <p:cNvSpPr>
            <a:spLocks noGrp="1"/>
          </p:cNvSpPr>
          <p:nvPr/>
        </p:nvSpPr>
        <p:spPr>
          <a:xfrm>
            <a:off x="3352800" y="7219950"/>
            <a:ext cx="11201400" cy="4857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250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2250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rPr>
              <a:t>계획된 촬영 기반 활용(전제) · 조회·확인·입력까지 자동화(목표) · 필요한 AI 호출과 추적 가능한 처리 · 개입시간·운영비는 현장 산정</a:t>
            </a:r>
          </a:p>
        </p:txBody>
      </p:sp>
      <p:graphicFrame>
        <p:nvGraphicFramePr>
          <p:cNvPr id="45" name="표 44">
            <a:extLst>
              <a:ext uri="{FF2B5EF4-FFF2-40B4-BE49-F238E27FC236}">
                <a16:creationId xmlns:a16="http://schemas.microsoft.com/office/drawing/2014/main" id="{F4BE8CC2-F0A1-4163-B1C8-0C02A6B1F27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97786388"/>
              </p:ext>
            </p:extLst>
          </p:nvPr>
        </p:nvGraphicFramePr>
        <p:xfrm>
          <a:off x="685800" y="2619375"/>
          <a:ext cx="13868400" cy="4229100"/>
        </p:xfrm>
        <a:graphic>
          <a:graphicData uri="http://schemas.openxmlformats.org/drawingml/2006/table">
            <a:tbl>
              <a:tblPr/>
              <a:tblGrid>
                <a:gridCol w="24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05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24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2250" b="1">
                          <a:solidFill>
                            <a:srgbClr val="00255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비교 기준</a:t>
                      </a:r>
                    </a:p>
                  </a:txBody>
                  <a:tcPr anchor="ctr">
                    <a:lnL w="9525">
                      <a:solidFill>
                        <a:srgbClr val="D4DCE4"/>
                      </a:solidFill>
                      <a:prstDash val="solid"/>
                    </a:lnL>
                    <a:lnR w="9525">
                      <a:solidFill>
                        <a:srgbClr val="D4DCE4"/>
                      </a:solidFill>
                      <a:prstDash val="solid"/>
                    </a:lnR>
                    <a:lnT w="9525">
                      <a:solidFill>
                        <a:srgbClr val="D4DCE4"/>
                      </a:solidFill>
                      <a:prstDash val="solid"/>
                    </a:lnT>
                    <a:lnB w="9525">
                      <a:solidFill>
                        <a:srgbClr val="D4DCE4"/>
                      </a:solidFill>
                      <a:prstDash val="soli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50" b="1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문자 판독 중심 도입안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CE4"/>
                      </a:solidFill>
                      <a:prstDash val="solid"/>
                    </a:lnR>
                    <a:lnT w="9525">
                      <a:solidFill>
                        <a:srgbClr val="D4DCE4"/>
                      </a:solidFill>
                      <a:prstDash val="solid"/>
                    </a:lnT>
                    <a:lnB w="9525">
                      <a:solidFill>
                        <a:srgbClr val="D4DCE4"/>
                      </a:solidFill>
                      <a:prstDash val="soli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50" b="1" dirty="0" err="1">
                          <a:solidFill>
                            <a:srgbClr val="00843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ContextWeld</a:t>
                      </a:r>
                      <a:r>
                        <a:rPr sz="2250" b="1" dirty="0">
                          <a:solidFill>
                            <a:srgbClr val="00843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 </a:t>
                      </a:r>
                      <a:r>
                        <a:rPr sz="2250" b="1" dirty="0" err="1">
                          <a:solidFill>
                            <a:srgbClr val="00843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설계</a:t>
                      </a:r>
                      <a:r>
                        <a:rPr sz="2250" b="1" dirty="0">
                          <a:solidFill>
                            <a:srgbClr val="00843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 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CE4"/>
                      </a:solidFill>
                      <a:prstDash val="solid"/>
                    </a:lnR>
                    <a:lnT w="9525">
                      <a:solidFill>
                        <a:srgbClr val="D4DCE4"/>
                      </a:solidFill>
                      <a:prstDash val="solid"/>
                    </a:lnT>
                    <a:lnB w="9525">
                      <a:solidFill>
                        <a:srgbClr val="D4DCE4"/>
                      </a:solidFill>
                      <a:prstDash val="solid"/>
                    </a:lnB>
                    <a:solidFill>
                      <a:srgbClr val="EC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6775">
                <a:tc>
                  <a:txBody>
                    <a:bodyPr/>
                    <a:lstStyle/>
                    <a:p>
                      <a:pPr algn="l"/>
                      <a:r>
                        <a:rPr sz="1950" b="1">
                          <a:solidFill>
                            <a:srgbClr val="00255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자동화 범위</a:t>
                      </a:r>
                    </a:p>
                  </a:txBody>
                  <a:tcPr anchor="ctr">
                    <a:lnL w="9525">
                      <a:solidFill>
                        <a:srgbClr val="D4DCE4"/>
                      </a:solidFill>
                      <a:prstDash val="solid"/>
                    </a:lnL>
                    <a:lnR w="9525">
                      <a:solidFill>
                        <a:srgbClr val="D4DCE4"/>
                      </a:solidFill>
                      <a:prstDash val="solid"/>
                    </a:lnR>
                    <a:lnT w="9525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문자 판독 결과 저장 (좌표·점수 가능)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CE4"/>
                      </a:solidFill>
                      <a:prstDash val="solid"/>
                    </a:lnR>
                    <a:lnT w="9525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1">
                          <a:solidFill>
                            <a:srgbClr val="00843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대상·문서 연결, 조건 검사, 파라미터 준비·전달까지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CE4"/>
                      </a:solidFill>
                      <a:prstDash val="solid"/>
                    </a:lnR>
                    <a:lnT w="9525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CE4"/>
                      </a:solidFill>
                      <a:prstDash val="solid"/>
                    </a:lnB>
                    <a:solidFill>
                      <a:srgbClr val="F3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6775">
                <a:tc>
                  <a:txBody>
                    <a:bodyPr/>
                    <a:lstStyle/>
                    <a:p>
                      <a:pPr algn="l"/>
                      <a:r>
                        <a:rPr sz="1950" b="1">
                          <a:solidFill>
                            <a:srgbClr val="00255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사람 개입</a:t>
                      </a:r>
                    </a:p>
                  </a:txBody>
                  <a:tcPr anchor="ctr">
                    <a:lnL w="9525">
                      <a:solidFill>
                        <a:srgbClr val="D4DCE4"/>
                      </a:solidFill>
                      <a:prstDash val="solid"/>
                    </a:lnL>
                    <a:lnR w="9525">
                      <a:solidFill>
                        <a:srgbClr val="D4DCE4"/>
                      </a:solidFill>
                      <a:prstDash val="solid"/>
                    </a:lnR>
                    <a:lnT w="9525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CE4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판독 이후 조회·확인·입력을 수작업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CE4"/>
                      </a:solidFill>
                      <a:prstDash val="solid"/>
                    </a:lnR>
                    <a:lnT w="9525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CE4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1" dirty="0" err="1">
                          <a:solidFill>
                            <a:srgbClr val="00843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자동</a:t>
                      </a:r>
                      <a:r>
                        <a:rPr sz="1950" b="1" dirty="0">
                          <a:solidFill>
                            <a:srgbClr val="00843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 </a:t>
                      </a:r>
                      <a:r>
                        <a:rPr sz="1950" b="1" dirty="0" err="1">
                          <a:solidFill>
                            <a:srgbClr val="00843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보완</a:t>
                      </a:r>
                      <a:r>
                        <a:rPr sz="1950" b="1" dirty="0">
                          <a:solidFill>
                            <a:srgbClr val="00843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 </a:t>
                      </a:r>
                      <a:r>
                        <a:rPr sz="1950" b="1" dirty="0" err="1">
                          <a:solidFill>
                            <a:srgbClr val="00843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뒤</a:t>
                      </a:r>
                      <a:r>
                        <a:rPr sz="1950" b="1" dirty="0">
                          <a:solidFill>
                            <a:srgbClr val="00843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 </a:t>
                      </a:r>
                      <a:r>
                        <a:rPr sz="1950" b="1" dirty="0" err="1">
                          <a:solidFill>
                            <a:srgbClr val="00843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남는</a:t>
                      </a:r>
                      <a:r>
                        <a:rPr sz="1950" b="1" dirty="0">
                          <a:solidFill>
                            <a:srgbClr val="00843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 </a:t>
                      </a:r>
                      <a:r>
                        <a:rPr sz="1950" b="1" dirty="0" err="1">
                          <a:solidFill>
                            <a:srgbClr val="00843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예외에</a:t>
                      </a:r>
                      <a:r>
                        <a:rPr sz="1950" b="1" dirty="0">
                          <a:solidFill>
                            <a:srgbClr val="00843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 </a:t>
                      </a:r>
                      <a:r>
                        <a:rPr sz="1950" b="1" dirty="0" err="1">
                          <a:solidFill>
                            <a:srgbClr val="00843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확인</a:t>
                      </a:r>
                      <a:r>
                        <a:rPr sz="1950" b="1" dirty="0">
                          <a:solidFill>
                            <a:srgbClr val="00843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 </a:t>
                      </a:r>
                      <a:r>
                        <a:rPr sz="1950" b="1" dirty="0" err="1">
                          <a:solidFill>
                            <a:srgbClr val="00843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집중</a:t>
                      </a:r>
                      <a:r>
                        <a:rPr sz="1950" b="1" dirty="0">
                          <a:solidFill>
                            <a:srgbClr val="00843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 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CE4"/>
                      </a:solidFill>
                      <a:prstDash val="solid"/>
                    </a:lnR>
                    <a:lnT w="9525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CE4"/>
                      </a:solidFill>
                      <a:prstDash val="solid"/>
                    </a:lnB>
                    <a:solidFill>
                      <a:srgbClr val="F3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6775">
                <a:tc>
                  <a:txBody>
                    <a:bodyPr/>
                    <a:lstStyle/>
                    <a:p>
                      <a:pPr algn="l"/>
                      <a:r>
                        <a:rPr sz="1950" b="1">
                          <a:solidFill>
                            <a:srgbClr val="00255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AI 호출</a:t>
                      </a:r>
                    </a:p>
                  </a:txBody>
                  <a:tcPr anchor="ctr">
                    <a:lnL w="9525">
                      <a:solidFill>
                        <a:srgbClr val="D4DCE4"/>
                      </a:solidFill>
                      <a:prstDash val="solid"/>
                    </a:lnL>
                    <a:lnR w="9525">
                      <a:solidFill>
                        <a:srgbClr val="D4DCE4"/>
                      </a:solidFill>
                      <a:prstDash val="solid"/>
                    </a:lnR>
                    <a:lnT w="9525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인식 호출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CE4"/>
                      </a:solidFill>
                      <a:prstDash val="solid"/>
                    </a:lnR>
                    <a:lnT w="9525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1">
                          <a:solidFill>
                            <a:srgbClr val="00843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인식·해석에 집중, 조회·검사·전달은 로직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CE4"/>
                      </a:solidFill>
                      <a:prstDash val="solid"/>
                    </a:lnR>
                    <a:lnT w="9525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CE4"/>
                      </a:solidFill>
                      <a:prstDash val="solid"/>
                    </a:lnB>
                    <a:solidFill>
                      <a:srgbClr val="F3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6775">
                <a:tc>
                  <a:txBody>
                    <a:bodyPr/>
                    <a:lstStyle/>
                    <a:p>
                      <a:pPr algn="l"/>
                      <a:r>
                        <a:rPr sz="1950" b="1">
                          <a:solidFill>
                            <a:srgbClr val="00255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문제 추적</a:t>
                      </a:r>
                    </a:p>
                  </a:txBody>
                  <a:tcPr anchor="ctr">
                    <a:lnL w="9525">
                      <a:solidFill>
                        <a:srgbClr val="D4DCE4"/>
                      </a:solidFill>
                      <a:prstDash val="solid"/>
                    </a:lnL>
                    <a:lnR w="9525">
                      <a:solidFill>
                        <a:srgbClr val="D4DCE4"/>
                      </a:solidFill>
                      <a:prstDash val="solid"/>
                    </a:lnR>
                    <a:lnT w="9525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CE4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판독 로그 중심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CE4"/>
                      </a:solidFill>
                      <a:prstDash val="solid"/>
                    </a:lnR>
                    <a:lnT w="9525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CE4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1" dirty="0" err="1">
                          <a:solidFill>
                            <a:srgbClr val="00843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단계별</a:t>
                      </a:r>
                      <a:r>
                        <a:rPr sz="1950" b="1" dirty="0">
                          <a:solidFill>
                            <a:srgbClr val="00843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 </a:t>
                      </a:r>
                      <a:r>
                        <a:rPr sz="1950" b="1" dirty="0" err="1">
                          <a:solidFill>
                            <a:srgbClr val="00843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입력·출력·근거·조치를</a:t>
                      </a:r>
                      <a:r>
                        <a:rPr sz="1950" b="1" dirty="0">
                          <a:solidFill>
                            <a:srgbClr val="00843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 </a:t>
                      </a:r>
                      <a:r>
                        <a:rPr sz="1950" b="1" dirty="0" err="1">
                          <a:solidFill>
                            <a:srgbClr val="00843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같은</a:t>
                      </a:r>
                      <a:r>
                        <a:rPr sz="1950" b="1" dirty="0">
                          <a:solidFill>
                            <a:srgbClr val="00843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 </a:t>
                      </a:r>
                      <a:r>
                        <a:rPr sz="1950" b="1" dirty="0" err="1">
                          <a:solidFill>
                            <a:srgbClr val="00843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작업</a:t>
                      </a:r>
                      <a:r>
                        <a:rPr sz="1950" b="1" dirty="0">
                          <a:solidFill>
                            <a:srgbClr val="00843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 </a:t>
                      </a:r>
                      <a:r>
                        <a:rPr sz="1950" b="1" dirty="0" err="1">
                          <a:solidFill>
                            <a:srgbClr val="00843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이력으로</a:t>
                      </a:r>
                      <a:endParaRPr sz="1950" b="1" dirty="0">
                        <a:solidFill>
                          <a:srgbClr val="00843D"/>
                        </a:solidFill>
                        <a:latin typeface="Apple SD Gothic Neo"/>
                        <a:ea typeface="Apple SD Gothic Neo"/>
                        <a:cs typeface="Apple SD Gothic Neo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CE4"/>
                      </a:solidFill>
                      <a:prstDash val="solid"/>
                    </a:lnR>
                    <a:lnT w="9525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CE4"/>
                      </a:solidFill>
                      <a:prstDash val="solid"/>
                    </a:lnB>
                    <a:solidFill>
                      <a:srgbClr val="F3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6" name="TextBox 45"/>
          <p:cNvSpPr txBox="1"/>
          <p:nvPr/>
        </p:nvSpPr>
        <p:spPr>
          <a:xfrm>
            <a:off x="684000" y="7722000"/>
            <a:ext cx="138708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50" b="0">
                <a:solidFill>
                  <a:srgbClr val="687584"/>
                </a:solidFill>
                <a:latin typeface="Apple SD Gothic Neo"/>
                <a:ea typeface="Apple SD Gothic Neo"/>
              </a:rPr>
              <a:t>기존 로봇·촬영 기반 활용을 전제한 설계(D22) · 개입 감소·절감은 측정 성과가 아님 · 모든 OCR 제품을 일반화하지 않음 · 연동·컴퓨팅 비용은 현장 산정 · 별첨 A7·A12</a:t>
            </a:r>
          </a:p>
        </p:txBody>
      </p:sp>
    </p:spTree>
    <p:extLst>
      <p:ext uri="{BB962C8B-B14F-4D97-AF65-F5344CB8AC3E}">
        <p14:creationId xmlns:p14="http://schemas.microsoft.com/office/powerpoint/2010/main" val="16555286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-1">
            <a:extLst>
              <a:ext uri="{FF2B5EF4-FFF2-40B4-BE49-F238E27FC236}">
                <a16:creationId xmlns:a16="http://schemas.microsoft.com/office/drawing/2014/main" id="{47190C02-767F-49CC-93C5-63AA0EC3DA4B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619125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650" b="1">
                <a:solidFill>
                  <a:srgbClr val="003087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defRPr sz="1650" b="1">
                <a:solidFill>
                  <a:srgbClr val="00308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03087"/>
                </a:solidFill>
                <a:latin typeface="Apple SD Gothic Neo"/>
                <a:ea typeface="Apple SD Gothic Neo"/>
                <a:cs typeface="Apple SD Gothic Neo"/>
              </a:rPr>
              <a:t>ContextWeld</a:t>
            </a:r>
          </a:p>
        </p:txBody>
      </p:sp>
      <p:sp>
        <p:nvSpPr>
          <p:cNvPr id="2" name="text-2">
            <a:extLst>
              <a:ext uri="{FF2B5EF4-FFF2-40B4-BE49-F238E27FC236}">
                <a16:creationId xmlns:a16="http://schemas.microsoft.com/office/drawing/2014/main" id="{F5A3DC6C-DFDA-4349-A25A-9329BCF9F86C}"/>
              </a:ext>
            </a:extLst>
          </p:cNvPr>
          <p:cNvSpPr>
            <a:spLocks noGrp="1"/>
          </p:cNvSpPr>
          <p:nvPr/>
        </p:nvSpPr>
        <p:spPr>
          <a:xfrm>
            <a:off x="11049000" y="304800"/>
            <a:ext cx="35052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350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r">
              <a:defRPr sz="1350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rPr>
              <a:t>PAC2026</a:t>
            </a:r>
          </a:p>
        </p:txBody>
      </p:sp>
      <p:sp>
        <p:nvSpPr>
          <p:cNvPr id="3" name="shape-3">
            <a:extLst>
              <a:ext uri="{FF2B5EF4-FFF2-40B4-BE49-F238E27FC236}">
                <a16:creationId xmlns:a16="http://schemas.microsoft.com/office/drawing/2014/main" id="{556B79C1-E352-410F-A384-CEE402998157}"/>
              </a:ext>
            </a:extLst>
          </p:cNvPr>
          <p:cNvSpPr>
            <a:spLocks noGrp="1"/>
          </p:cNvSpPr>
          <p:nvPr/>
        </p:nvSpPr>
        <p:spPr>
          <a:xfrm>
            <a:off x="0" y="1066800"/>
            <a:ext cx="390525" cy="28575"/>
          </a:xfrm>
          <a:prstGeom prst="rect">
            <a:avLst/>
          </a:prstGeom>
          <a:solidFill>
            <a:srgbClr val="003087"/>
          </a:solidFill>
          <a:ln w="0">
            <a:noFill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" name="circle-4">
            <a:extLst>
              <a:ext uri="{FF2B5EF4-FFF2-40B4-BE49-F238E27FC236}">
                <a16:creationId xmlns:a16="http://schemas.microsoft.com/office/drawing/2014/main" id="{D63FBC4C-762D-4CE7-9E41-9746CFBA7120}"/>
              </a:ext>
            </a:extLst>
          </p:cNvPr>
          <p:cNvSpPr>
            <a:spLocks noGrp="1"/>
          </p:cNvSpPr>
          <p:nvPr/>
        </p:nvSpPr>
        <p:spPr>
          <a:xfrm>
            <a:off x="371475" y="1028700"/>
            <a:ext cx="95250" cy="95250"/>
          </a:xfrm>
          <a:prstGeom prst="ellipse">
            <a:avLst/>
          </a:prstGeom>
          <a:solidFill>
            <a:srgbClr val="003087"/>
          </a:solidFill>
          <a:ln w="0">
            <a:noFill/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5" name="text-5">
            <a:extLst>
              <a:ext uri="{FF2B5EF4-FFF2-40B4-BE49-F238E27FC236}">
                <a16:creationId xmlns:a16="http://schemas.microsoft.com/office/drawing/2014/main" id="{AE3E0DAE-4C8F-49CC-AEC3-3807D1E4FD9B}"/>
              </a:ext>
            </a:extLst>
          </p:cNvPr>
          <p:cNvSpPr>
            <a:spLocks noGrp="1"/>
          </p:cNvSpPr>
          <p:nvPr/>
        </p:nvSpPr>
        <p:spPr>
          <a:xfrm>
            <a:off x="685800" y="762000"/>
            <a:ext cx="13868400" cy="628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300" b="1">
                <a:solidFill>
                  <a:srgbClr val="003087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defRPr sz="3300" b="1">
                <a:solidFill>
                  <a:srgbClr val="00308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003087"/>
                </a:solidFill>
                <a:latin typeface="Apple SD Gothic Neo"/>
                <a:ea typeface="Apple SD Gothic Neo"/>
                <a:cs typeface="Apple SD Gothic Neo"/>
              </a:rPr>
              <a:t>기대효과 및 향후 계획</a:t>
            </a:r>
          </a:p>
        </p:txBody>
      </p:sp>
      <p:sp>
        <p:nvSpPr>
          <p:cNvPr id="6" name="text-6">
            <a:extLst>
              <a:ext uri="{FF2B5EF4-FFF2-40B4-BE49-F238E27FC236}">
                <a16:creationId xmlns:a16="http://schemas.microsoft.com/office/drawing/2014/main" id="{0713E963-B03D-41E1-A854-17E02F6DE4AC}"/>
              </a:ext>
            </a:extLst>
          </p:cNvPr>
          <p:cNvSpPr>
            <a:spLocks noGrp="1"/>
          </p:cNvSpPr>
          <p:nvPr/>
        </p:nvSpPr>
        <p:spPr>
          <a:xfrm>
            <a:off x="704850" y="1485900"/>
            <a:ext cx="1384935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75" b="0">
                <a:solidFill>
                  <a:srgbClr val="202F42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defRPr sz="2175" b="0">
                <a:solidFill>
                  <a:srgbClr val="202F4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202F42"/>
                </a:solidFill>
                <a:latin typeface="Apple SD Gothic Neo"/>
                <a:ea typeface="Apple SD Gothic Neo"/>
                <a:cs typeface="Apple SD Gothic Neo"/>
              </a:rPr>
              <a:t>용접로봇이 현장 표기를 읽고, 작업 정보를 준비하는 자동화</a:t>
            </a:r>
          </a:p>
        </p:txBody>
      </p:sp>
      <p:sp>
        <p:nvSpPr>
          <p:cNvPr id="7" name="shape-7">
            <a:extLst>
              <a:ext uri="{FF2B5EF4-FFF2-40B4-BE49-F238E27FC236}">
                <a16:creationId xmlns:a16="http://schemas.microsoft.com/office/drawing/2014/main" id="{0D5C29C8-784C-43CB-8589-BAF4C80C3A38}"/>
              </a:ext>
            </a:extLst>
          </p:cNvPr>
          <p:cNvSpPr>
            <a:spLocks noGrp="1"/>
          </p:cNvSpPr>
          <p:nvPr/>
        </p:nvSpPr>
        <p:spPr>
          <a:xfrm>
            <a:off x="685800" y="2133600"/>
            <a:ext cx="6429375" cy="457200"/>
          </a:xfrm>
          <a:prstGeom prst="rect">
            <a:avLst/>
          </a:prstGeom>
          <a:solidFill>
            <a:srgbClr val="003087"/>
          </a:solidFill>
          <a:ln w="0">
            <a:noFill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8" name="text-8">
            <a:extLst>
              <a:ext uri="{FF2B5EF4-FFF2-40B4-BE49-F238E27FC236}">
                <a16:creationId xmlns:a16="http://schemas.microsoft.com/office/drawing/2014/main" id="{ABD30E73-1D36-4DC7-9258-983035FC84E7}"/>
              </a:ext>
            </a:extLst>
          </p:cNvPr>
          <p:cNvSpPr>
            <a:spLocks noGrp="1"/>
          </p:cNvSpPr>
          <p:nvPr/>
        </p:nvSpPr>
        <p:spPr>
          <a:xfrm>
            <a:off x="895350" y="2162175"/>
            <a:ext cx="6000750" cy="3905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기대효과</a:t>
            </a:r>
          </a:p>
        </p:txBody>
      </p:sp>
      <p:sp>
        <p:nvSpPr>
          <p:cNvPr id="9" name="shape-9">
            <a:extLst>
              <a:ext uri="{FF2B5EF4-FFF2-40B4-BE49-F238E27FC236}">
                <a16:creationId xmlns:a16="http://schemas.microsoft.com/office/drawing/2014/main" id="{D423EF8F-FA92-409B-BBE2-AA454C28C28C}"/>
              </a:ext>
            </a:extLst>
          </p:cNvPr>
          <p:cNvSpPr>
            <a:spLocks noGrp="1"/>
          </p:cNvSpPr>
          <p:nvPr/>
        </p:nvSpPr>
        <p:spPr>
          <a:xfrm>
            <a:off x="8029575" y="2133600"/>
            <a:ext cx="6524625" cy="457200"/>
          </a:xfrm>
          <a:prstGeom prst="rect">
            <a:avLst/>
          </a:prstGeom>
          <a:solidFill>
            <a:srgbClr val="00843D"/>
          </a:solidFill>
          <a:ln w="0">
            <a:noFill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0" name="text-10">
            <a:extLst>
              <a:ext uri="{FF2B5EF4-FFF2-40B4-BE49-F238E27FC236}">
                <a16:creationId xmlns:a16="http://schemas.microsoft.com/office/drawing/2014/main" id="{2782AEE5-8A37-45B2-BB29-C9BE07E7E3DE}"/>
              </a:ext>
            </a:extLst>
          </p:cNvPr>
          <p:cNvSpPr>
            <a:spLocks noGrp="1"/>
          </p:cNvSpPr>
          <p:nvPr/>
        </p:nvSpPr>
        <p:spPr>
          <a:xfrm>
            <a:off x="8239125" y="2162175"/>
            <a:ext cx="6105525" cy="3905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향후 계획</a:t>
            </a:r>
          </a:p>
        </p:txBody>
      </p:sp>
      <p:sp>
        <p:nvSpPr>
          <p:cNvPr id="11" name="vertical-11">
            <a:extLst>
              <a:ext uri="{FF2B5EF4-FFF2-40B4-BE49-F238E27FC236}">
                <a16:creationId xmlns:a16="http://schemas.microsoft.com/office/drawing/2014/main" id="{D23BF2EA-E153-4661-B2ED-890FB5135ADC}"/>
              </a:ext>
            </a:extLst>
          </p:cNvPr>
          <p:cNvSpPr>
            <a:spLocks noGrp="1"/>
          </p:cNvSpPr>
          <p:nvPr/>
        </p:nvSpPr>
        <p:spPr>
          <a:xfrm>
            <a:off x="7553325" y="2857500"/>
            <a:ext cx="95" cy="4095750"/>
          </a:xfrm>
          <a:prstGeom prst="line">
            <a:avLst/>
          </a:prstGeom>
          <a:noFill/>
          <a:ln w="9525">
            <a:solidFill>
              <a:srgbClr val="D4DCE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2" name="circle-12">
            <a:extLst>
              <a:ext uri="{FF2B5EF4-FFF2-40B4-BE49-F238E27FC236}">
                <a16:creationId xmlns:a16="http://schemas.microsoft.com/office/drawing/2014/main" id="{CF520D0E-9F94-43B4-8AF3-3129D9AFAC6B}"/>
              </a:ext>
            </a:extLst>
          </p:cNvPr>
          <p:cNvSpPr>
            <a:spLocks noGrp="1"/>
          </p:cNvSpPr>
          <p:nvPr/>
        </p:nvSpPr>
        <p:spPr>
          <a:xfrm>
            <a:off x="685800" y="2952750"/>
            <a:ext cx="647700" cy="647700"/>
          </a:xfrm>
          <a:prstGeom prst="ellipse">
            <a:avLst/>
          </a:prstGeom>
          <a:solidFill>
            <a:srgbClr val="EDF2FA"/>
          </a:solidFill>
          <a:ln w="0">
            <a:noFill/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3" name="NATIVE_ICON_clock-3">
            <a:extLst>
              <a:ext uri="{FF2B5EF4-FFF2-40B4-BE49-F238E27FC236}">
                <a16:creationId xmlns:a16="http://schemas.microsoft.com/office/drawing/2014/main" id="{E7CA0201-7DEB-452F-B83F-631905B74583}"/>
              </a:ext>
            </a:extLst>
          </p:cNvPr>
          <p:cNvSpPr>
            <a:spLocks noGrp="1"/>
          </p:cNvSpPr>
          <p:nvPr/>
        </p:nvSpPr>
        <p:spPr>
          <a:xfrm>
            <a:off x="819150" y="3086100"/>
            <a:ext cx="381000" cy="38100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209550" y="114300"/>
                </a:moveTo>
                <a:cubicBezTo>
                  <a:pt x="209550" y="166905"/>
                  <a:pt x="166905" y="209550"/>
                  <a:pt x="114300" y="209550"/>
                </a:cubicBezTo>
                <a:cubicBezTo>
                  <a:pt x="61695" y="209550"/>
                  <a:pt x="19050" y="166905"/>
                  <a:pt x="19050" y="114300"/>
                </a:cubicBezTo>
                <a:cubicBezTo>
                  <a:pt x="19050" y="61695"/>
                  <a:pt x="61695" y="19050"/>
                  <a:pt x="114300" y="19050"/>
                </a:cubicBezTo>
                <a:cubicBezTo>
                  <a:pt x="166905" y="19050"/>
                  <a:pt x="209550" y="61695"/>
                  <a:pt x="209550" y="114300"/>
                </a:cubicBezTo>
                <a:close/>
              </a:path>
              <a:path w="228600" h="228600">
                <a:moveTo>
                  <a:pt x="114300" y="57150"/>
                </a:moveTo>
                <a:lnTo>
                  <a:pt x="114300" y="114300"/>
                </a:lnTo>
                <a:lnTo>
                  <a:pt x="152400" y="114300"/>
                </a:lnTo>
              </a:path>
            </a:pathLst>
          </a:custGeom>
          <a:noFill/>
          <a:ln w="21431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4" name="text-13">
            <a:extLst>
              <a:ext uri="{FF2B5EF4-FFF2-40B4-BE49-F238E27FC236}">
                <a16:creationId xmlns:a16="http://schemas.microsoft.com/office/drawing/2014/main" id="{7D115446-EB15-4F19-9EDC-C5279B508C23}"/>
              </a:ext>
            </a:extLst>
          </p:cNvPr>
          <p:cNvSpPr>
            <a:spLocks noGrp="1"/>
          </p:cNvSpPr>
          <p:nvPr/>
        </p:nvSpPr>
        <p:spPr>
          <a:xfrm>
            <a:off x="1543050" y="2886075"/>
            <a:ext cx="5572125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75" b="1">
                <a:solidFill>
                  <a:srgbClr val="003087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defRPr sz="2175" b="1">
                <a:solidFill>
                  <a:srgbClr val="00308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003087"/>
                </a:solidFill>
                <a:latin typeface="Apple SD Gothic Neo"/>
                <a:ea typeface="Apple SD Gothic Neo"/>
                <a:cs typeface="Apple SD Gothic Neo"/>
              </a:rPr>
              <a:t>작업 준비시간 단축</a:t>
            </a:r>
          </a:p>
        </p:txBody>
      </p:sp>
      <p:sp>
        <p:nvSpPr>
          <p:cNvPr id="15" name="text-14">
            <a:extLst>
              <a:ext uri="{FF2B5EF4-FFF2-40B4-BE49-F238E27FC236}">
                <a16:creationId xmlns:a16="http://schemas.microsoft.com/office/drawing/2014/main" id="{311C876F-4779-4E45-B6AF-39E0D7E7AF42}"/>
              </a:ext>
            </a:extLst>
          </p:cNvPr>
          <p:cNvSpPr>
            <a:spLocks noGrp="1"/>
          </p:cNvSpPr>
          <p:nvPr/>
        </p:nvSpPr>
        <p:spPr>
          <a:xfrm>
            <a:off x="1562100" y="3352800"/>
            <a:ext cx="5553075" cy="838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defRPr sz="1800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rPr>
              <a:t>표기 인식부터 문서 조회·조건 확인·</a:t>
            </a:r>
          </a:p>
          <a:p>
            <a:pPr algn="l">
              <a:defRPr sz="1800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rPr>
              <a:t>파라미터 준비까지 연결해</a:t>
            </a:r>
          </a:p>
          <a:p>
            <a:pPr algn="l">
              <a:defRPr sz="1800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rPr>
              <a:t>반복적인 사람 개입을 줄입니다.</a:t>
            </a:r>
          </a:p>
        </p:txBody>
      </p:sp>
      <p:sp>
        <p:nvSpPr>
          <p:cNvPr id="16" name="circle-15">
            <a:extLst>
              <a:ext uri="{FF2B5EF4-FFF2-40B4-BE49-F238E27FC236}">
                <a16:creationId xmlns:a16="http://schemas.microsoft.com/office/drawing/2014/main" id="{9213BDCD-2AAE-4B16-99F1-D07A723E30FC}"/>
              </a:ext>
            </a:extLst>
          </p:cNvPr>
          <p:cNvSpPr>
            <a:spLocks noGrp="1"/>
          </p:cNvSpPr>
          <p:nvPr/>
        </p:nvSpPr>
        <p:spPr>
          <a:xfrm>
            <a:off x="685800" y="4324350"/>
            <a:ext cx="647700" cy="647700"/>
          </a:xfrm>
          <a:prstGeom prst="ellipse">
            <a:avLst/>
          </a:prstGeom>
          <a:solidFill>
            <a:srgbClr val="EDF2FA"/>
          </a:solidFill>
          <a:ln w="0">
            <a:noFill/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7" name="NATIVE_ICON_shield-check">
            <a:extLst>
              <a:ext uri="{FF2B5EF4-FFF2-40B4-BE49-F238E27FC236}">
                <a16:creationId xmlns:a16="http://schemas.microsoft.com/office/drawing/2014/main" id="{612DCBF1-718D-4490-BAA6-C1E6FD69B841}"/>
              </a:ext>
            </a:extLst>
          </p:cNvPr>
          <p:cNvSpPr>
            <a:spLocks noGrp="1"/>
          </p:cNvSpPr>
          <p:nvPr/>
        </p:nvSpPr>
        <p:spPr>
          <a:xfrm>
            <a:off x="819150" y="4457700"/>
            <a:ext cx="381000" cy="38100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190500" y="123825"/>
                </a:moveTo>
                <a:cubicBezTo>
                  <a:pt x="190500" y="171450"/>
                  <a:pt x="157163" y="195263"/>
                  <a:pt x="117539" y="209074"/>
                </a:cubicBezTo>
                <a:cubicBezTo>
                  <a:pt x="115464" y="209777"/>
                  <a:pt x="113210" y="209743"/>
                  <a:pt x="111157" y="208978"/>
                </a:cubicBezTo>
                <a:cubicBezTo>
                  <a:pt x="71438" y="195263"/>
                  <a:pt x="38100" y="171450"/>
                  <a:pt x="38100" y="123825"/>
                </a:cubicBezTo>
                <a:lnTo>
                  <a:pt x="38100" y="57150"/>
                </a:lnTo>
                <a:cubicBezTo>
                  <a:pt x="38100" y="51889"/>
                  <a:pt x="42364" y="47625"/>
                  <a:pt x="47625" y="47625"/>
                </a:cubicBezTo>
                <a:cubicBezTo>
                  <a:pt x="66675" y="47625"/>
                  <a:pt x="90488" y="36195"/>
                  <a:pt x="107061" y="21717"/>
                </a:cubicBezTo>
                <a:cubicBezTo>
                  <a:pt x="111230" y="18155"/>
                  <a:pt x="117370" y="18155"/>
                  <a:pt x="121539" y="21717"/>
                </a:cubicBezTo>
                <a:cubicBezTo>
                  <a:pt x="138208" y="36290"/>
                  <a:pt x="161925" y="47625"/>
                  <a:pt x="180975" y="47625"/>
                </a:cubicBezTo>
                <a:cubicBezTo>
                  <a:pt x="186236" y="47625"/>
                  <a:pt x="190500" y="51889"/>
                  <a:pt x="190500" y="57150"/>
                </a:cubicBezTo>
                <a:close/>
              </a:path>
              <a:path w="228600" h="228600">
                <a:moveTo>
                  <a:pt x="85725" y="114300"/>
                </a:moveTo>
                <a:lnTo>
                  <a:pt x="104775" y="133350"/>
                </a:lnTo>
                <a:lnTo>
                  <a:pt x="142875" y="95250"/>
                </a:lnTo>
              </a:path>
            </a:pathLst>
          </a:custGeom>
          <a:noFill/>
          <a:ln w="21431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8" name="text-16">
            <a:extLst>
              <a:ext uri="{FF2B5EF4-FFF2-40B4-BE49-F238E27FC236}">
                <a16:creationId xmlns:a16="http://schemas.microsoft.com/office/drawing/2014/main" id="{9EC0F346-5B83-4546-BDEF-923D4891D3E5}"/>
              </a:ext>
            </a:extLst>
          </p:cNvPr>
          <p:cNvSpPr>
            <a:spLocks noGrp="1"/>
          </p:cNvSpPr>
          <p:nvPr/>
        </p:nvSpPr>
        <p:spPr>
          <a:xfrm>
            <a:off x="1543050" y="4257675"/>
            <a:ext cx="5572125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75" b="1">
                <a:solidFill>
                  <a:srgbClr val="003087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defRPr sz="2175" b="1">
                <a:solidFill>
                  <a:srgbClr val="00308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003087"/>
                </a:solidFill>
                <a:latin typeface="Apple SD Gothic Neo"/>
                <a:ea typeface="Apple SD Gothic Neo"/>
                <a:cs typeface="Apple SD Gothic Neo"/>
              </a:rPr>
              <a:t>잘못된 작업정보 전달 위험 감소</a:t>
            </a:r>
          </a:p>
        </p:txBody>
      </p:sp>
      <p:sp>
        <p:nvSpPr>
          <p:cNvPr id="19" name="text-17">
            <a:extLst>
              <a:ext uri="{FF2B5EF4-FFF2-40B4-BE49-F238E27FC236}">
                <a16:creationId xmlns:a16="http://schemas.microsoft.com/office/drawing/2014/main" id="{2F781CDD-4350-441B-AF19-41B4C42B1223}"/>
              </a:ext>
            </a:extLst>
          </p:cNvPr>
          <p:cNvSpPr>
            <a:spLocks noGrp="1"/>
          </p:cNvSpPr>
          <p:nvPr/>
        </p:nvSpPr>
        <p:spPr>
          <a:xfrm>
            <a:off x="1562100" y="4724400"/>
            <a:ext cx="5553075" cy="838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defRPr sz="1800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rPr>
              <a:t>판독 결과와 작업 기준을 대조하고,</a:t>
            </a:r>
          </a:p>
          <a:p>
            <a:pPr algn="l">
              <a:defRPr sz="1800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rPr>
              <a:t>누락·충돌을 다음 단계로 넘기기 전에</a:t>
            </a:r>
          </a:p>
          <a:p>
            <a:pPr algn="l">
              <a:defRPr sz="1800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rPr>
              <a:t>확인합니다.</a:t>
            </a:r>
          </a:p>
        </p:txBody>
      </p:sp>
      <p:sp>
        <p:nvSpPr>
          <p:cNvPr id="20" name="circle-18">
            <a:extLst>
              <a:ext uri="{FF2B5EF4-FFF2-40B4-BE49-F238E27FC236}">
                <a16:creationId xmlns:a16="http://schemas.microsoft.com/office/drawing/2014/main" id="{E5928DEE-603A-4067-B56A-A92C648C0B6A}"/>
              </a:ext>
            </a:extLst>
          </p:cNvPr>
          <p:cNvSpPr>
            <a:spLocks noGrp="1"/>
          </p:cNvSpPr>
          <p:nvPr/>
        </p:nvSpPr>
        <p:spPr>
          <a:xfrm>
            <a:off x="685800" y="5695950"/>
            <a:ext cx="647700" cy="647700"/>
          </a:xfrm>
          <a:prstGeom prst="ellipse">
            <a:avLst/>
          </a:prstGeom>
          <a:solidFill>
            <a:srgbClr val="EDF2FA"/>
          </a:solidFill>
          <a:ln w="0">
            <a:noFill/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1" name="NATIVE_ICON_settings-2">
            <a:extLst>
              <a:ext uri="{FF2B5EF4-FFF2-40B4-BE49-F238E27FC236}">
                <a16:creationId xmlns:a16="http://schemas.microsoft.com/office/drawing/2014/main" id="{EB35AA60-6387-4D89-ABFD-34FFB6329E8A}"/>
              </a:ext>
            </a:extLst>
          </p:cNvPr>
          <p:cNvSpPr>
            <a:spLocks noGrp="1"/>
          </p:cNvSpPr>
          <p:nvPr/>
        </p:nvSpPr>
        <p:spPr>
          <a:xfrm>
            <a:off x="819150" y="5829300"/>
            <a:ext cx="381000" cy="38100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133350" y="161925"/>
                </a:moveTo>
                <a:lnTo>
                  <a:pt x="47625" y="161925"/>
                </a:lnTo>
              </a:path>
              <a:path w="228600" h="228600">
                <a:moveTo>
                  <a:pt x="180975" y="66675"/>
                </a:moveTo>
                <a:lnTo>
                  <a:pt x="95250" y="66675"/>
                </a:lnTo>
              </a:path>
              <a:path w="228600" h="228600">
                <a:moveTo>
                  <a:pt x="190500" y="161925"/>
                </a:moveTo>
                <a:cubicBezTo>
                  <a:pt x="190500" y="177707"/>
                  <a:pt x="177707" y="190500"/>
                  <a:pt x="161925" y="190500"/>
                </a:cubicBezTo>
                <a:cubicBezTo>
                  <a:pt x="146143" y="190500"/>
                  <a:pt x="133350" y="177707"/>
                  <a:pt x="133350" y="161925"/>
                </a:cubicBezTo>
                <a:cubicBezTo>
                  <a:pt x="133350" y="146143"/>
                  <a:pt x="146143" y="133350"/>
                  <a:pt x="161925" y="133350"/>
                </a:cubicBezTo>
                <a:cubicBezTo>
                  <a:pt x="177707" y="133350"/>
                  <a:pt x="190500" y="146143"/>
                  <a:pt x="190500" y="161925"/>
                </a:cubicBezTo>
                <a:close/>
              </a:path>
              <a:path w="228600" h="228600">
                <a:moveTo>
                  <a:pt x="95250" y="66675"/>
                </a:moveTo>
                <a:cubicBezTo>
                  <a:pt x="95250" y="82457"/>
                  <a:pt x="82457" y="95250"/>
                  <a:pt x="66675" y="95250"/>
                </a:cubicBezTo>
                <a:cubicBezTo>
                  <a:pt x="50893" y="95250"/>
                  <a:pt x="38100" y="82457"/>
                  <a:pt x="38100" y="66675"/>
                </a:cubicBezTo>
                <a:cubicBezTo>
                  <a:pt x="38100" y="50893"/>
                  <a:pt x="50893" y="38100"/>
                  <a:pt x="66675" y="38100"/>
                </a:cubicBezTo>
                <a:cubicBezTo>
                  <a:pt x="82457" y="38100"/>
                  <a:pt x="95250" y="50893"/>
                  <a:pt x="95250" y="66675"/>
                </a:cubicBezTo>
                <a:close/>
              </a:path>
            </a:pathLst>
          </a:custGeom>
          <a:noFill/>
          <a:ln w="21431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2" name="text-19">
            <a:extLst>
              <a:ext uri="{FF2B5EF4-FFF2-40B4-BE49-F238E27FC236}">
                <a16:creationId xmlns:a16="http://schemas.microsoft.com/office/drawing/2014/main" id="{AD6341AA-FF82-48B1-9835-0CA72AA213F1}"/>
              </a:ext>
            </a:extLst>
          </p:cNvPr>
          <p:cNvSpPr>
            <a:spLocks noGrp="1"/>
          </p:cNvSpPr>
          <p:nvPr/>
        </p:nvSpPr>
        <p:spPr>
          <a:xfrm>
            <a:off x="1543050" y="5629275"/>
            <a:ext cx="5572125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75" b="1">
                <a:solidFill>
                  <a:srgbClr val="003087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defRPr sz="2175" b="1">
                <a:solidFill>
                  <a:srgbClr val="00308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003087"/>
                </a:solidFill>
                <a:latin typeface="Apple SD Gothic Neo"/>
                <a:ea typeface="Apple SD Gothic Neo"/>
                <a:cs typeface="Apple SD Gothic Neo"/>
              </a:rPr>
              <a:t>도입·운영 부담 완화</a:t>
            </a:r>
          </a:p>
        </p:txBody>
      </p:sp>
      <p:sp>
        <p:nvSpPr>
          <p:cNvPr id="23" name="text-20">
            <a:extLst>
              <a:ext uri="{FF2B5EF4-FFF2-40B4-BE49-F238E27FC236}">
                <a16:creationId xmlns:a16="http://schemas.microsoft.com/office/drawing/2014/main" id="{34AA61DF-4018-4EE2-97BE-D4F98D3C9829}"/>
              </a:ext>
            </a:extLst>
          </p:cNvPr>
          <p:cNvSpPr>
            <a:spLocks noGrp="1"/>
          </p:cNvSpPr>
          <p:nvPr/>
        </p:nvSpPr>
        <p:spPr>
          <a:xfrm>
            <a:off x="1562100" y="6096000"/>
            <a:ext cx="5553075" cy="838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defRPr sz="1800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rPr>
              <a:t>기존 로봇과 RGB 촬영 기반을 활용하고,</a:t>
            </a:r>
          </a:p>
          <a:p>
            <a:pPr algn="l">
              <a:defRPr sz="1800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rPr>
              <a:t>필요한 AI 추론과 처리 이력으로</a:t>
            </a:r>
          </a:p>
          <a:p>
            <a:pPr algn="l">
              <a:defRPr sz="1800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rPr>
              <a:t>운영·유지보수 부담을 관리합니다.</a:t>
            </a:r>
          </a:p>
        </p:txBody>
      </p:sp>
      <p:sp>
        <p:nvSpPr>
          <p:cNvPr id="24" name="rule-21">
            <a:extLst>
              <a:ext uri="{FF2B5EF4-FFF2-40B4-BE49-F238E27FC236}">
                <a16:creationId xmlns:a16="http://schemas.microsoft.com/office/drawing/2014/main" id="{00ADDE01-5A65-49D9-9BBB-B3E5EE4DFF62}"/>
              </a:ext>
            </a:extLst>
          </p:cNvPr>
          <p:cNvSpPr>
            <a:spLocks noGrp="1"/>
          </p:cNvSpPr>
          <p:nvPr/>
        </p:nvSpPr>
        <p:spPr>
          <a:xfrm>
            <a:off x="1552575" y="4210050"/>
            <a:ext cx="5562600" cy="95"/>
          </a:xfrm>
          <a:prstGeom prst="line">
            <a:avLst/>
          </a:prstGeom>
          <a:noFill/>
          <a:ln w="9525">
            <a:solidFill>
              <a:srgbClr val="D4DCE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5" name="rule-22">
            <a:extLst>
              <a:ext uri="{FF2B5EF4-FFF2-40B4-BE49-F238E27FC236}">
                <a16:creationId xmlns:a16="http://schemas.microsoft.com/office/drawing/2014/main" id="{748B965C-EC0F-4261-BF6A-4C6F0992D1C3}"/>
              </a:ext>
            </a:extLst>
          </p:cNvPr>
          <p:cNvSpPr>
            <a:spLocks noGrp="1"/>
          </p:cNvSpPr>
          <p:nvPr/>
        </p:nvSpPr>
        <p:spPr>
          <a:xfrm>
            <a:off x="1552575" y="5581650"/>
            <a:ext cx="5562600" cy="95"/>
          </a:xfrm>
          <a:prstGeom prst="line">
            <a:avLst/>
          </a:prstGeom>
          <a:noFill/>
          <a:ln w="9525">
            <a:solidFill>
              <a:srgbClr val="D4DCE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6" name="vertical-23">
            <a:extLst>
              <a:ext uri="{FF2B5EF4-FFF2-40B4-BE49-F238E27FC236}">
                <a16:creationId xmlns:a16="http://schemas.microsoft.com/office/drawing/2014/main" id="{DE3268F8-BCBA-4437-BA17-C1F152E1DC3D}"/>
              </a:ext>
            </a:extLst>
          </p:cNvPr>
          <p:cNvSpPr>
            <a:spLocks noGrp="1"/>
          </p:cNvSpPr>
          <p:nvPr/>
        </p:nvSpPr>
        <p:spPr>
          <a:xfrm>
            <a:off x="8267700" y="3095625"/>
            <a:ext cx="95" cy="2952750"/>
          </a:xfrm>
          <a:prstGeom prst="line">
            <a:avLst/>
          </a:prstGeom>
          <a:noFill/>
          <a:ln w="19050">
            <a:solidFill>
              <a:srgbClr val="C9DFD1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7" name="circle-24">
            <a:extLst>
              <a:ext uri="{FF2B5EF4-FFF2-40B4-BE49-F238E27FC236}">
                <a16:creationId xmlns:a16="http://schemas.microsoft.com/office/drawing/2014/main" id="{2BB63E8F-F6AF-480B-B411-853FDDFA6E73}"/>
              </a:ext>
            </a:extLst>
          </p:cNvPr>
          <p:cNvSpPr>
            <a:spLocks noGrp="1"/>
          </p:cNvSpPr>
          <p:nvPr/>
        </p:nvSpPr>
        <p:spPr>
          <a:xfrm>
            <a:off x="8029575" y="2924175"/>
            <a:ext cx="476250" cy="47625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00843D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8" name="text-25">
            <a:extLst>
              <a:ext uri="{FF2B5EF4-FFF2-40B4-BE49-F238E27FC236}">
                <a16:creationId xmlns:a16="http://schemas.microsoft.com/office/drawing/2014/main" id="{20BD9579-AEDF-4A32-9E91-999938F86038}"/>
              </a:ext>
            </a:extLst>
          </p:cNvPr>
          <p:cNvSpPr>
            <a:spLocks noGrp="1"/>
          </p:cNvSpPr>
          <p:nvPr/>
        </p:nvSpPr>
        <p:spPr>
          <a:xfrm>
            <a:off x="8067675" y="2981325"/>
            <a:ext cx="4000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ctr">
              <a:defRPr sz="1650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29" name="text-26">
            <a:extLst>
              <a:ext uri="{FF2B5EF4-FFF2-40B4-BE49-F238E27FC236}">
                <a16:creationId xmlns:a16="http://schemas.microsoft.com/office/drawing/2014/main" id="{F556A96F-1078-4B7D-880F-CF49C88C70AB}"/>
              </a:ext>
            </a:extLst>
          </p:cNvPr>
          <p:cNvSpPr>
            <a:spLocks noGrp="1"/>
          </p:cNvSpPr>
          <p:nvPr/>
        </p:nvSpPr>
        <p:spPr>
          <a:xfrm>
            <a:off x="8763000" y="2886075"/>
            <a:ext cx="579120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75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defRPr sz="2175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rPr>
              <a:t>전체 처리 흐름 통합</a:t>
            </a:r>
          </a:p>
        </p:txBody>
      </p:sp>
      <p:sp>
        <p:nvSpPr>
          <p:cNvPr id="30" name="text-27">
            <a:extLst>
              <a:ext uri="{FF2B5EF4-FFF2-40B4-BE49-F238E27FC236}">
                <a16:creationId xmlns:a16="http://schemas.microsoft.com/office/drawing/2014/main" id="{20313268-64D8-497C-AB2E-40A051815996}"/>
              </a:ext>
            </a:extLst>
          </p:cNvPr>
          <p:cNvSpPr>
            <a:spLocks noGrp="1"/>
          </p:cNvSpPr>
          <p:nvPr/>
        </p:nvSpPr>
        <p:spPr>
          <a:xfrm>
            <a:off x="8782050" y="3362325"/>
            <a:ext cx="5772150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defRPr sz="1800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rPr>
              <a:t>로봇 촬영부터 인식·문서 검증·</a:t>
            </a:r>
          </a:p>
          <a:p>
            <a:pPr algn="l">
              <a:defRPr sz="1800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rPr>
              <a:t>파라미터 전달까지 하나의 작업 흐름으로 연결</a:t>
            </a:r>
          </a:p>
        </p:txBody>
      </p:sp>
      <p:sp>
        <p:nvSpPr>
          <p:cNvPr id="31" name="circle-28">
            <a:extLst>
              <a:ext uri="{FF2B5EF4-FFF2-40B4-BE49-F238E27FC236}">
                <a16:creationId xmlns:a16="http://schemas.microsoft.com/office/drawing/2014/main" id="{BA4F6883-AA03-414F-B44E-8212CD18145D}"/>
              </a:ext>
            </a:extLst>
          </p:cNvPr>
          <p:cNvSpPr>
            <a:spLocks noGrp="1"/>
          </p:cNvSpPr>
          <p:nvPr/>
        </p:nvSpPr>
        <p:spPr>
          <a:xfrm>
            <a:off x="8029575" y="4162425"/>
            <a:ext cx="476250" cy="47625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00843D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2" name="text-29">
            <a:extLst>
              <a:ext uri="{FF2B5EF4-FFF2-40B4-BE49-F238E27FC236}">
                <a16:creationId xmlns:a16="http://schemas.microsoft.com/office/drawing/2014/main" id="{5CA3BFB0-C085-4BB4-9F76-846885DF1EE5}"/>
              </a:ext>
            </a:extLst>
          </p:cNvPr>
          <p:cNvSpPr>
            <a:spLocks noGrp="1"/>
          </p:cNvSpPr>
          <p:nvPr/>
        </p:nvSpPr>
        <p:spPr>
          <a:xfrm>
            <a:off x="8067675" y="4219575"/>
            <a:ext cx="4000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ctr">
              <a:defRPr sz="1650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33" name="text-30">
            <a:extLst>
              <a:ext uri="{FF2B5EF4-FFF2-40B4-BE49-F238E27FC236}">
                <a16:creationId xmlns:a16="http://schemas.microsoft.com/office/drawing/2014/main" id="{49ABC5E1-E003-463A-AFEC-7DC5D711C518}"/>
              </a:ext>
            </a:extLst>
          </p:cNvPr>
          <p:cNvSpPr>
            <a:spLocks noGrp="1"/>
          </p:cNvSpPr>
          <p:nvPr/>
        </p:nvSpPr>
        <p:spPr>
          <a:xfrm>
            <a:off x="8763000" y="4124325"/>
            <a:ext cx="579120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75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defRPr sz="2175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rPr>
              <a:t>원인별 자동 보완 구현</a:t>
            </a:r>
          </a:p>
        </p:txBody>
      </p:sp>
      <p:sp>
        <p:nvSpPr>
          <p:cNvPr id="34" name="shape-31">
            <a:extLst>
              <a:ext uri="{FF2B5EF4-FFF2-40B4-BE49-F238E27FC236}">
                <a16:creationId xmlns:a16="http://schemas.microsoft.com/office/drawing/2014/main" id="{C398AEA4-064A-481F-9A26-73C58524067A}"/>
              </a:ext>
            </a:extLst>
          </p:cNvPr>
          <p:cNvSpPr>
            <a:spLocks noGrp="1"/>
          </p:cNvSpPr>
          <p:nvPr/>
        </p:nvSpPr>
        <p:spPr>
          <a:xfrm>
            <a:off x="8763000" y="4667250"/>
            <a:ext cx="1857375" cy="847725"/>
          </a:xfrm>
          <a:prstGeom prst="rect">
            <a:avLst/>
          </a:prstGeom>
          <a:solidFill>
            <a:srgbClr val="ECF5EF"/>
          </a:solidFill>
          <a:ln w="0">
            <a:noFill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5" name="text-32">
            <a:extLst>
              <a:ext uri="{FF2B5EF4-FFF2-40B4-BE49-F238E27FC236}">
                <a16:creationId xmlns:a16="http://schemas.microsoft.com/office/drawing/2014/main" id="{F0698177-02C1-4662-8553-687B044AFD67}"/>
              </a:ext>
            </a:extLst>
          </p:cNvPr>
          <p:cNvSpPr>
            <a:spLocks noGrp="1"/>
          </p:cNvSpPr>
          <p:nvPr/>
        </p:nvSpPr>
        <p:spPr>
          <a:xfrm>
            <a:off x="8848725" y="4705350"/>
            <a:ext cx="168592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00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ctr">
              <a:defRPr sz="1500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rPr>
              <a:t>관측 부족</a:t>
            </a:r>
          </a:p>
        </p:txBody>
      </p:sp>
      <p:sp>
        <p:nvSpPr>
          <p:cNvPr id="36" name="vertical-33">
            <a:extLst>
              <a:ext uri="{FF2B5EF4-FFF2-40B4-BE49-F238E27FC236}">
                <a16:creationId xmlns:a16="http://schemas.microsoft.com/office/drawing/2014/main" id="{512589C7-D9C3-4A10-861E-A282CEAF13A6}"/>
              </a:ext>
            </a:extLst>
          </p:cNvPr>
          <p:cNvSpPr>
            <a:spLocks noGrp="1"/>
          </p:cNvSpPr>
          <p:nvPr/>
        </p:nvSpPr>
        <p:spPr>
          <a:xfrm>
            <a:off x="9691688" y="5000625"/>
            <a:ext cx="95" cy="114300"/>
          </a:xfrm>
          <a:prstGeom prst="line">
            <a:avLst/>
          </a:prstGeom>
          <a:noFill/>
          <a:ln w="13335">
            <a:solidFill>
              <a:srgbClr val="00843D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7" name="down-arrow-34">
            <a:extLst>
              <a:ext uri="{FF2B5EF4-FFF2-40B4-BE49-F238E27FC236}">
                <a16:creationId xmlns:a16="http://schemas.microsoft.com/office/drawing/2014/main" id="{29F10C98-7868-4DD0-A4A1-86349E021518}"/>
              </a:ext>
            </a:extLst>
          </p:cNvPr>
          <p:cNvSpPr>
            <a:spLocks noGrp="1"/>
          </p:cNvSpPr>
          <p:nvPr/>
        </p:nvSpPr>
        <p:spPr>
          <a:xfrm>
            <a:off x="9653588" y="5086350"/>
            <a:ext cx="76200" cy="47625"/>
          </a:xfrm>
          <a:custGeom>
            <a:avLst/>
            <a:gdLst/>
            <a:ahLst/>
            <a:cxnLst/>
            <a:rect l="0" t="0" r="0" b="0"/>
            <a:pathLst>
              <a:path w="76200" h="47625">
                <a:moveTo>
                  <a:pt x="0" y="0"/>
                </a:moveTo>
                <a:lnTo>
                  <a:pt x="76200" y="0"/>
                </a:lnTo>
                <a:lnTo>
                  <a:pt x="38100" y="47625"/>
                </a:lnTo>
                <a:close/>
              </a:path>
            </a:pathLst>
          </a:custGeom>
          <a:solidFill>
            <a:srgbClr val="00843D"/>
          </a:solidFill>
          <a:ln w="0">
            <a:noFill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8" name="text-35">
            <a:extLst>
              <a:ext uri="{FF2B5EF4-FFF2-40B4-BE49-F238E27FC236}">
                <a16:creationId xmlns:a16="http://schemas.microsoft.com/office/drawing/2014/main" id="{5CCF76C9-42D1-4D97-940F-C7AA14619BB5}"/>
              </a:ext>
            </a:extLst>
          </p:cNvPr>
          <p:cNvSpPr>
            <a:spLocks noGrp="1"/>
          </p:cNvSpPr>
          <p:nvPr/>
        </p:nvSpPr>
        <p:spPr>
          <a:xfrm>
            <a:off x="8848725" y="5181600"/>
            <a:ext cx="16859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00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ctr">
              <a:defRPr sz="1800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rPr>
              <a:t>재촬영</a:t>
            </a:r>
          </a:p>
        </p:txBody>
      </p:sp>
      <p:sp>
        <p:nvSpPr>
          <p:cNvPr id="39" name="shape-36">
            <a:extLst>
              <a:ext uri="{FF2B5EF4-FFF2-40B4-BE49-F238E27FC236}">
                <a16:creationId xmlns:a16="http://schemas.microsoft.com/office/drawing/2014/main" id="{355A3B7B-DFC0-49EA-9FD7-6D7636241394}"/>
              </a:ext>
            </a:extLst>
          </p:cNvPr>
          <p:cNvSpPr>
            <a:spLocks noGrp="1"/>
          </p:cNvSpPr>
          <p:nvPr/>
        </p:nvSpPr>
        <p:spPr>
          <a:xfrm>
            <a:off x="10715625" y="4667250"/>
            <a:ext cx="1857375" cy="847725"/>
          </a:xfrm>
          <a:prstGeom prst="rect">
            <a:avLst/>
          </a:prstGeom>
          <a:solidFill>
            <a:srgbClr val="ECF5EF"/>
          </a:solidFill>
          <a:ln w="0">
            <a:noFill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0" name="text-37">
            <a:extLst>
              <a:ext uri="{FF2B5EF4-FFF2-40B4-BE49-F238E27FC236}">
                <a16:creationId xmlns:a16="http://schemas.microsoft.com/office/drawing/2014/main" id="{439DD480-DB2A-47CF-BDDE-BAB7063187EC}"/>
              </a:ext>
            </a:extLst>
          </p:cNvPr>
          <p:cNvSpPr>
            <a:spLocks noGrp="1"/>
          </p:cNvSpPr>
          <p:nvPr/>
        </p:nvSpPr>
        <p:spPr>
          <a:xfrm>
            <a:off x="10801350" y="4705350"/>
            <a:ext cx="168592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00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ctr">
              <a:defRPr sz="1500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rPr>
              <a:t>판독 불일치</a:t>
            </a:r>
          </a:p>
        </p:txBody>
      </p:sp>
      <p:sp>
        <p:nvSpPr>
          <p:cNvPr id="41" name="vertical-38">
            <a:extLst>
              <a:ext uri="{FF2B5EF4-FFF2-40B4-BE49-F238E27FC236}">
                <a16:creationId xmlns:a16="http://schemas.microsoft.com/office/drawing/2014/main" id="{35C28E6B-5FC1-4A13-BAEE-792B6A815A00}"/>
              </a:ext>
            </a:extLst>
          </p:cNvPr>
          <p:cNvSpPr>
            <a:spLocks noGrp="1"/>
          </p:cNvSpPr>
          <p:nvPr/>
        </p:nvSpPr>
        <p:spPr>
          <a:xfrm>
            <a:off x="11644313" y="5000625"/>
            <a:ext cx="95" cy="114300"/>
          </a:xfrm>
          <a:prstGeom prst="line">
            <a:avLst/>
          </a:prstGeom>
          <a:noFill/>
          <a:ln w="13335">
            <a:solidFill>
              <a:srgbClr val="00843D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2" name="down-arrow-39">
            <a:extLst>
              <a:ext uri="{FF2B5EF4-FFF2-40B4-BE49-F238E27FC236}">
                <a16:creationId xmlns:a16="http://schemas.microsoft.com/office/drawing/2014/main" id="{A8AF8534-28E3-45FC-93DC-CF58E49B1F18}"/>
              </a:ext>
            </a:extLst>
          </p:cNvPr>
          <p:cNvSpPr>
            <a:spLocks noGrp="1"/>
          </p:cNvSpPr>
          <p:nvPr/>
        </p:nvSpPr>
        <p:spPr>
          <a:xfrm>
            <a:off x="11606213" y="5086350"/>
            <a:ext cx="76200" cy="47625"/>
          </a:xfrm>
          <a:custGeom>
            <a:avLst/>
            <a:gdLst/>
            <a:ahLst/>
            <a:cxnLst/>
            <a:rect l="0" t="0" r="0" b="0"/>
            <a:pathLst>
              <a:path w="76200" h="47625">
                <a:moveTo>
                  <a:pt x="0" y="0"/>
                </a:moveTo>
                <a:lnTo>
                  <a:pt x="76200" y="0"/>
                </a:lnTo>
                <a:lnTo>
                  <a:pt x="38100" y="47625"/>
                </a:lnTo>
                <a:close/>
              </a:path>
            </a:pathLst>
          </a:custGeom>
          <a:solidFill>
            <a:srgbClr val="00843D"/>
          </a:solidFill>
          <a:ln w="0">
            <a:noFill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3" name="text-40">
            <a:extLst>
              <a:ext uri="{FF2B5EF4-FFF2-40B4-BE49-F238E27FC236}">
                <a16:creationId xmlns:a16="http://schemas.microsoft.com/office/drawing/2014/main" id="{5A35B1A2-5304-410D-AE24-8D81CDCF6B34}"/>
              </a:ext>
            </a:extLst>
          </p:cNvPr>
          <p:cNvSpPr>
            <a:spLocks noGrp="1"/>
          </p:cNvSpPr>
          <p:nvPr/>
        </p:nvSpPr>
        <p:spPr>
          <a:xfrm>
            <a:off x="10801350" y="5181600"/>
            <a:ext cx="16859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00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ctr">
              <a:defRPr sz="1800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rPr>
              <a:t>재인식</a:t>
            </a:r>
          </a:p>
        </p:txBody>
      </p:sp>
      <p:sp>
        <p:nvSpPr>
          <p:cNvPr id="44" name="shape-41">
            <a:extLst>
              <a:ext uri="{FF2B5EF4-FFF2-40B4-BE49-F238E27FC236}">
                <a16:creationId xmlns:a16="http://schemas.microsoft.com/office/drawing/2014/main" id="{2608595D-4AE4-4EF3-81DD-B497BF8E93E9}"/>
              </a:ext>
            </a:extLst>
          </p:cNvPr>
          <p:cNvSpPr>
            <a:spLocks noGrp="1"/>
          </p:cNvSpPr>
          <p:nvPr/>
        </p:nvSpPr>
        <p:spPr>
          <a:xfrm>
            <a:off x="12668250" y="4667250"/>
            <a:ext cx="1857375" cy="847725"/>
          </a:xfrm>
          <a:prstGeom prst="rect">
            <a:avLst/>
          </a:prstGeom>
          <a:solidFill>
            <a:srgbClr val="ECF5EF"/>
          </a:solidFill>
          <a:ln w="0">
            <a:noFill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5" name="text-42">
            <a:extLst>
              <a:ext uri="{FF2B5EF4-FFF2-40B4-BE49-F238E27FC236}">
                <a16:creationId xmlns:a16="http://schemas.microsoft.com/office/drawing/2014/main" id="{2B32BEAB-471C-43DF-9389-076374E4FE3A}"/>
              </a:ext>
            </a:extLst>
          </p:cNvPr>
          <p:cNvSpPr>
            <a:spLocks noGrp="1"/>
          </p:cNvSpPr>
          <p:nvPr/>
        </p:nvSpPr>
        <p:spPr>
          <a:xfrm>
            <a:off x="12753975" y="4705350"/>
            <a:ext cx="168592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00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ctr">
              <a:defRPr sz="1500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rPr>
              <a:t>근거 부족</a:t>
            </a:r>
          </a:p>
        </p:txBody>
      </p:sp>
      <p:sp>
        <p:nvSpPr>
          <p:cNvPr id="46" name="vertical-43">
            <a:extLst>
              <a:ext uri="{FF2B5EF4-FFF2-40B4-BE49-F238E27FC236}">
                <a16:creationId xmlns:a16="http://schemas.microsoft.com/office/drawing/2014/main" id="{852B0994-8162-4250-B26C-C4FE4A868E6F}"/>
              </a:ext>
            </a:extLst>
          </p:cNvPr>
          <p:cNvSpPr>
            <a:spLocks noGrp="1"/>
          </p:cNvSpPr>
          <p:nvPr/>
        </p:nvSpPr>
        <p:spPr>
          <a:xfrm>
            <a:off x="13596938" y="5000625"/>
            <a:ext cx="95" cy="114300"/>
          </a:xfrm>
          <a:prstGeom prst="line">
            <a:avLst/>
          </a:prstGeom>
          <a:noFill/>
          <a:ln w="13335">
            <a:solidFill>
              <a:srgbClr val="00843D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7" name="down-arrow-44">
            <a:extLst>
              <a:ext uri="{FF2B5EF4-FFF2-40B4-BE49-F238E27FC236}">
                <a16:creationId xmlns:a16="http://schemas.microsoft.com/office/drawing/2014/main" id="{EC35C2EF-557B-406F-B409-A8AA8C0FBA5B}"/>
              </a:ext>
            </a:extLst>
          </p:cNvPr>
          <p:cNvSpPr>
            <a:spLocks noGrp="1"/>
          </p:cNvSpPr>
          <p:nvPr/>
        </p:nvSpPr>
        <p:spPr>
          <a:xfrm>
            <a:off x="13558838" y="5086350"/>
            <a:ext cx="76200" cy="47625"/>
          </a:xfrm>
          <a:custGeom>
            <a:avLst/>
            <a:gdLst/>
            <a:ahLst/>
            <a:cxnLst/>
            <a:rect l="0" t="0" r="0" b="0"/>
            <a:pathLst>
              <a:path w="76200" h="47625">
                <a:moveTo>
                  <a:pt x="0" y="0"/>
                </a:moveTo>
                <a:lnTo>
                  <a:pt x="76200" y="0"/>
                </a:lnTo>
                <a:lnTo>
                  <a:pt x="38100" y="47625"/>
                </a:lnTo>
                <a:close/>
              </a:path>
            </a:pathLst>
          </a:custGeom>
          <a:solidFill>
            <a:srgbClr val="00843D"/>
          </a:solidFill>
          <a:ln w="0">
            <a:noFill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8" name="text-45">
            <a:extLst>
              <a:ext uri="{FF2B5EF4-FFF2-40B4-BE49-F238E27FC236}">
                <a16:creationId xmlns:a16="http://schemas.microsoft.com/office/drawing/2014/main" id="{102550B2-276A-4D34-B2FB-E157EEA25679}"/>
              </a:ext>
            </a:extLst>
          </p:cNvPr>
          <p:cNvSpPr>
            <a:spLocks noGrp="1"/>
          </p:cNvSpPr>
          <p:nvPr/>
        </p:nvSpPr>
        <p:spPr>
          <a:xfrm>
            <a:off x="12753975" y="5181600"/>
            <a:ext cx="16859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00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ctr">
              <a:defRPr sz="1800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rPr>
              <a:t>문서 재조회</a:t>
            </a:r>
          </a:p>
        </p:txBody>
      </p:sp>
      <p:sp>
        <p:nvSpPr>
          <p:cNvPr id="49" name="text-46">
            <a:extLst>
              <a:ext uri="{FF2B5EF4-FFF2-40B4-BE49-F238E27FC236}">
                <a16:creationId xmlns:a16="http://schemas.microsoft.com/office/drawing/2014/main" id="{EF75D51B-4282-4034-B554-3F7E2326BD38}"/>
              </a:ext>
            </a:extLst>
          </p:cNvPr>
          <p:cNvSpPr>
            <a:spLocks noGrp="1"/>
          </p:cNvSpPr>
          <p:nvPr/>
        </p:nvSpPr>
        <p:spPr>
          <a:xfrm>
            <a:off x="8782050" y="5591175"/>
            <a:ext cx="57721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575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defRPr sz="1575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rPr>
              <a:t>미해결 예외에 사람의 확인 집중</a:t>
            </a:r>
          </a:p>
        </p:txBody>
      </p:sp>
      <p:sp>
        <p:nvSpPr>
          <p:cNvPr id="50" name="circle-47">
            <a:extLst>
              <a:ext uri="{FF2B5EF4-FFF2-40B4-BE49-F238E27FC236}">
                <a16:creationId xmlns:a16="http://schemas.microsoft.com/office/drawing/2014/main" id="{558DAEE8-680E-43A1-979A-EA16E7FD9ECE}"/>
              </a:ext>
            </a:extLst>
          </p:cNvPr>
          <p:cNvSpPr>
            <a:spLocks noGrp="1"/>
          </p:cNvSpPr>
          <p:nvPr/>
        </p:nvSpPr>
        <p:spPr>
          <a:xfrm>
            <a:off x="8029575" y="6019800"/>
            <a:ext cx="476250" cy="47625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00843D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51" name="text-48">
            <a:extLst>
              <a:ext uri="{FF2B5EF4-FFF2-40B4-BE49-F238E27FC236}">
                <a16:creationId xmlns:a16="http://schemas.microsoft.com/office/drawing/2014/main" id="{11AFB6D7-3102-4723-A71D-5D4D79D937C8}"/>
              </a:ext>
            </a:extLst>
          </p:cNvPr>
          <p:cNvSpPr>
            <a:spLocks noGrp="1"/>
          </p:cNvSpPr>
          <p:nvPr/>
        </p:nvSpPr>
        <p:spPr>
          <a:xfrm>
            <a:off x="8067675" y="6076950"/>
            <a:ext cx="4000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ctr">
              <a:defRPr sz="1650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52" name="text-49">
            <a:extLst>
              <a:ext uri="{FF2B5EF4-FFF2-40B4-BE49-F238E27FC236}">
                <a16:creationId xmlns:a16="http://schemas.microsoft.com/office/drawing/2014/main" id="{7F729B85-EC0F-4F6A-9764-D518B37E7ABA}"/>
              </a:ext>
            </a:extLst>
          </p:cNvPr>
          <p:cNvSpPr>
            <a:spLocks noGrp="1"/>
          </p:cNvSpPr>
          <p:nvPr/>
        </p:nvSpPr>
        <p:spPr>
          <a:xfrm>
            <a:off x="8763000" y="5981700"/>
            <a:ext cx="579120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75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defRPr sz="2175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rPr>
              <a:t>대표 작업 기반 현장 실증</a:t>
            </a:r>
          </a:p>
        </p:txBody>
      </p:sp>
      <p:sp>
        <p:nvSpPr>
          <p:cNvPr id="53" name="text-50">
            <a:extLst>
              <a:ext uri="{FF2B5EF4-FFF2-40B4-BE49-F238E27FC236}">
                <a16:creationId xmlns:a16="http://schemas.microsoft.com/office/drawing/2014/main" id="{803CA0DD-E5ED-42B6-8DBA-8E296A1B0681}"/>
              </a:ext>
            </a:extLst>
          </p:cNvPr>
          <p:cNvSpPr>
            <a:spLocks noGrp="1"/>
          </p:cNvSpPr>
          <p:nvPr/>
        </p:nvSpPr>
        <p:spPr>
          <a:xfrm>
            <a:off x="8782050" y="6448425"/>
            <a:ext cx="5772150" cy="809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defRPr sz="1800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rPr>
              <a:t>실제 표기·승인 문서·장비 수신 조건을 적용해</a:t>
            </a:r>
          </a:p>
          <a:p>
            <a:pPr algn="l">
              <a:defRPr sz="1800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rPr>
              <a:t>자동 준비의 정확성과 사람 개입시간,</a:t>
            </a:r>
          </a:p>
          <a:p>
            <a:pPr algn="l">
              <a:defRPr sz="1800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rPr>
              <a:t>추가 운영비 검증</a:t>
            </a:r>
          </a:p>
        </p:txBody>
      </p:sp>
      <p:sp>
        <p:nvSpPr>
          <p:cNvPr id="54" name="shape-51">
            <a:extLst>
              <a:ext uri="{FF2B5EF4-FFF2-40B4-BE49-F238E27FC236}">
                <a16:creationId xmlns:a16="http://schemas.microsoft.com/office/drawing/2014/main" id="{6926BDFD-C83B-4A9E-B5D7-16A277965A83}"/>
              </a:ext>
            </a:extLst>
          </p:cNvPr>
          <p:cNvSpPr>
            <a:spLocks noGrp="1"/>
          </p:cNvSpPr>
          <p:nvPr/>
        </p:nvSpPr>
        <p:spPr>
          <a:xfrm>
            <a:off x="685800" y="7477125"/>
            <a:ext cx="13868400" cy="600075"/>
          </a:xfrm>
          <a:prstGeom prst="rect">
            <a:avLst/>
          </a:prstGeom>
          <a:solidFill>
            <a:srgbClr val="002554"/>
          </a:solidFill>
          <a:ln w="0">
            <a:noFill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55" name="shape-52">
            <a:extLst>
              <a:ext uri="{FF2B5EF4-FFF2-40B4-BE49-F238E27FC236}">
                <a16:creationId xmlns:a16="http://schemas.microsoft.com/office/drawing/2014/main" id="{FD699F87-5B8A-45AF-83DE-D8D219CD21F7}"/>
              </a:ext>
            </a:extLst>
          </p:cNvPr>
          <p:cNvSpPr>
            <a:spLocks noGrp="1"/>
          </p:cNvSpPr>
          <p:nvPr/>
        </p:nvSpPr>
        <p:spPr>
          <a:xfrm>
            <a:off x="685800" y="7477125"/>
            <a:ext cx="66675" cy="600075"/>
          </a:xfrm>
          <a:prstGeom prst="rect">
            <a:avLst/>
          </a:prstGeom>
          <a:solidFill>
            <a:srgbClr val="00E600"/>
          </a:solidFill>
          <a:ln w="0">
            <a:noFill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56" name="text-53">
            <a:extLst>
              <a:ext uri="{FF2B5EF4-FFF2-40B4-BE49-F238E27FC236}">
                <a16:creationId xmlns:a16="http://schemas.microsoft.com/office/drawing/2014/main" id="{484D4765-C952-4AFF-9DBC-18498799C083}"/>
              </a:ext>
            </a:extLst>
          </p:cNvPr>
          <p:cNvSpPr>
            <a:spLocks noGrp="1"/>
          </p:cNvSpPr>
          <p:nvPr/>
        </p:nvSpPr>
        <p:spPr>
          <a:xfrm>
            <a:off x="971550" y="7591425"/>
            <a:ext cx="4591050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0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defRPr sz="20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정상</a:t>
            </a:r>
            <a:r>
              <a:rPr sz="2025" b="0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025" b="0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작업은</a:t>
            </a:r>
            <a:r>
              <a:rPr sz="2025" b="0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025" b="0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자동으로</a:t>
            </a:r>
            <a:r>
              <a:rPr sz="2025" b="0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025" b="0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이어가고</a:t>
            </a:r>
            <a:r>
              <a:rPr sz="2025" b="0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,</a:t>
            </a:r>
          </a:p>
        </p:txBody>
      </p:sp>
      <p:sp>
        <p:nvSpPr>
          <p:cNvPr id="57" name="text-54">
            <a:extLst>
              <a:ext uri="{FF2B5EF4-FFF2-40B4-BE49-F238E27FC236}">
                <a16:creationId xmlns:a16="http://schemas.microsoft.com/office/drawing/2014/main" id="{03FED615-4AB2-4E34-9B0B-98E156013231}"/>
              </a:ext>
            </a:extLst>
          </p:cNvPr>
          <p:cNvSpPr>
            <a:spLocks noGrp="1"/>
          </p:cNvSpPr>
          <p:nvPr/>
        </p:nvSpPr>
        <p:spPr>
          <a:xfrm>
            <a:off x="5505450" y="7591425"/>
            <a:ext cx="8782050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025" b="1">
                <a:solidFill>
                  <a:srgbClr val="00E600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defRPr sz="2025" b="1">
                <a:solidFill>
                  <a:srgbClr val="00E6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00E600"/>
                </a:solidFill>
                <a:latin typeface="Apple SD Gothic Neo"/>
                <a:ea typeface="Apple SD Gothic Neo"/>
                <a:cs typeface="Apple SD Gothic Neo"/>
              </a:rPr>
              <a:t>사람은 해결되지 않는 예외에 집중하도록 하겠습니다.</a:t>
            </a:r>
          </a:p>
        </p:txBody>
      </p:sp>
      <p:sp>
        <p:nvSpPr>
          <p:cNvPr id="58" name="text-55">
            <a:extLst>
              <a:ext uri="{FF2B5EF4-FFF2-40B4-BE49-F238E27FC236}">
                <a16:creationId xmlns:a16="http://schemas.microsoft.com/office/drawing/2014/main" id="{0E284189-3A72-4F60-9BC2-DBA0DB4C04B1}"/>
              </a:ext>
            </a:extLst>
          </p:cNvPr>
          <p:cNvSpPr>
            <a:spLocks noGrp="1"/>
          </p:cNvSpPr>
          <p:nvPr/>
        </p:nvSpPr>
        <p:spPr>
          <a:xfrm>
            <a:off x="704850" y="8220075"/>
            <a:ext cx="138493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defRPr sz="1350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rPr>
              <a:t>※ 기대효과는 설계 목표이며, 실제 개선 수준은 현장 실증으로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6501839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5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oto-backing-409">
            <a:extLst>
              <a:ext uri="{FF2B5EF4-FFF2-40B4-BE49-F238E27FC236}">
                <a16:creationId xmlns:a16="http://schemas.microsoft.com/office/drawing/2014/main" id="{BBC78CD0-94B7-422A-80BC-F4577D55580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002554"/>
          </a:solidFill>
          <a:ln w="0">
            <a:noFill/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" name="placeholder_1">
            <a:extLst>
              <a:ext uri="{FF2B5EF4-FFF2-40B4-BE49-F238E27FC236}">
                <a16:creationId xmlns:a16="http://schemas.microsoft.com/office/drawing/2014/main" id="{8608DCDB-74A9-424B-8645-741576873BFC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0" y="381000"/>
            <a:ext cx="15240000" cy="8572500"/>
          </a:xfrm>
          <a:prstGeom prst="rect">
            <a:avLst/>
          </a:prstGeom>
          <a:solidFill>
            <a:srgbClr val="002554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ext-410">
            <a:extLst>
              <a:ext uri="{FF2B5EF4-FFF2-40B4-BE49-F238E27FC236}">
                <a16:creationId xmlns:a16="http://schemas.microsoft.com/office/drawing/2014/main" id="{6DBF99BE-9B3D-41C8-A3E2-96874989FE31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6191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425" b="1">
                <a:solidFill>
                  <a:srgbClr val="BBD1E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1425" b="1">
                <a:solidFill>
                  <a:srgbClr val="BBD1E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BBD1E5"/>
                </a:solidFill>
                <a:latin typeface="Apple SD Gothic Neo"/>
                <a:ea typeface="Apple SD Gothic Neo"/>
                <a:cs typeface="Apple SD Gothic Neo"/>
              </a:rPr>
              <a:t>ContextWeld</a:t>
            </a:r>
          </a:p>
        </p:txBody>
      </p:sp>
      <p:sp>
        <p:nvSpPr>
          <p:cNvPr id="6" name="text-412">
            <a:extLst>
              <a:ext uri="{FF2B5EF4-FFF2-40B4-BE49-F238E27FC236}">
                <a16:creationId xmlns:a16="http://schemas.microsoft.com/office/drawing/2014/main" id="{B92D3142-50F9-42CA-82B4-8BEB617211DA}"/>
              </a:ext>
            </a:extLst>
          </p:cNvPr>
          <p:cNvSpPr>
            <a:spLocks noGrp="1"/>
          </p:cNvSpPr>
          <p:nvPr/>
        </p:nvSpPr>
        <p:spPr>
          <a:xfrm>
            <a:off x="685800" y="8077200"/>
            <a:ext cx="6667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125" b="0">
                <a:solidFill>
                  <a:srgbClr val="9FB8CD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1125" b="0">
                <a:solidFill>
                  <a:srgbClr val="9FB8C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9FB8CD"/>
                </a:solidFill>
                <a:latin typeface="Apple SD Gothic Neo"/>
                <a:ea typeface="Apple SD Gothic Neo"/>
                <a:cs typeface="Apple SD Gothic Neo"/>
              </a:rPr>
              <a:t>Static Duo</a:t>
            </a:r>
          </a:p>
        </p:txBody>
      </p:sp>
      <p:sp>
        <p:nvSpPr>
          <p:cNvPr id="7" name="text-413">
            <a:extLst>
              <a:ext uri="{FF2B5EF4-FFF2-40B4-BE49-F238E27FC236}">
                <a16:creationId xmlns:a16="http://schemas.microsoft.com/office/drawing/2014/main" id="{EFD62DE3-8A9B-4181-B69A-D9FC76378E6A}"/>
              </a:ext>
            </a:extLst>
          </p:cNvPr>
          <p:cNvSpPr>
            <a:spLocks noGrp="1"/>
          </p:cNvSpPr>
          <p:nvPr/>
        </p:nvSpPr>
        <p:spPr>
          <a:xfrm>
            <a:off x="13868400" y="8020050"/>
            <a:ext cx="6858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 b="0">
                <a:solidFill>
                  <a:srgbClr val="9FB8CD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r">
              <a:buNone/>
              <a:defRPr sz="1350" b="0">
                <a:solidFill>
                  <a:srgbClr val="9FB8C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9FB8CD"/>
                </a:solidFill>
                <a:latin typeface="Apple SD Gothic Neo"/>
                <a:ea typeface="Apple SD Gothic Neo"/>
                <a:cs typeface="Apple SD Gothic Neo"/>
              </a:rPr>
              <a:t>11</a:t>
            </a:r>
          </a:p>
        </p:txBody>
      </p:sp>
      <p:sp>
        <p:nvSpPr>
          <p:cNvPr id="8" name="text-414">
            <a:extLst>
              <a:ext uri="{FF2B5EF4-FFF2-40B4-BE49-F238E27FC236}">
                <a16:creationId xmlns:a16="http://schemas.microsoft.com/office/drawing/2014/main" id="{1BC24306-ECDC-4DFD-B3B4-BE924B50CDE9}"/>
              </a:ext>
            </a:extLst>
          </p:cNvPr>
          <p:cNvSpPr>
            <a:spLocks noGrp="1"/>
          </p:cNvSpPr>
          <p:nvPr/>
        </p:nvSpPr>
        <p:spPr>
          <a:xfrm>
            <a:off x="704850" y="1752600"/>
            <a:ext cx="13335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1">
                <a:solidFill>
                  <a:srgbClr val="73BF9A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1875" b="1">
                <a:solidFill>
                  <a:srgbClr val="73BF9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73BF9A"/>
                </a:solidFill>
                <a:latin typeface="Apple SD Gothic Neo"/>
                <a:ea typeface="Apple SD Gothic Neo"/>
                <a:cs typeface="Apple SD Gothic Neo"/>
              </a:rPr>
              <a:t>공동 실증 제안</a:t>
            </a:r>
          </a:p>
        </p:txBody>
      </p:sp>
      <p:sp>
        <p:nvSpPr>
          <p:cNvPr id="9" name="text-415">
            <a:extLst>
              <a:ext uri="{FF2B5EF4-FFF2-40B4-BE49-F238E27FC236}">
                <a16:creationId xmlns:a16="http://schemas.microsoft.com/office/drawing/2014/main" id="{F3ADB693-FC26-47B1-97A2-799AB2163FAA}"/>
              </a:ext>
            </a:extLst>
          </p:cNvPr>
          <p:cNvSpPr>
            <a:spLocks noGrp="1"/>
          </p:cNvSpPr>
          <p:nvPr/>
        </p:nvSpPr>
        <p:spPr>
          <a:xfrm>
            <a:off x="647700" y="2838450"/>
            <a:ext cx="13849350" cy="2200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7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7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6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대표 작업의 관측부터</a:t>
            </a:r>
            <a:endParaRPr sz="7350" b="1" dirty="0">
              <a:solidFill>
                <a:srgbClr val="FFFFFF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buNone/>
              <a:defRPr sz="7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6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파라미터 전달까지 공동 실증</a:t>
            </a:r>
            <a:endParaRPr sz="7350" b="1" dirty="0">
              <a:solidFill>
                <a:srgbClr val="FFFFFF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0" name="text-416">
            <a:extLst>
              <a:ext uri="{FF2B5EF4-FFF2-40B4-BE49-F238E27FC236}">
                <a16:creationId xmlns:a16="http://schemas.microsoft.com/office/drawing/2014/main" id="{FFBE2090-7BAC-43C4-B8A7-85FD782F6DD4}"/>
              </a:ext>
            </a:extLst>
          </p:cNvPr>
          <p:cNvSpPr>
            <a:spLocks noGrp="1"/>
          </p:cNvSpPr>
          <p:nvPr/>
        </p:nvSpPr>
        <p:spPr>
          <a:xfrm>
            <a:off x="742950" y="5734050"/>
            <a:ext cx="1319212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175" b="0">
                <a:solidFill>
                  <a:srgbClr val="D6E2E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2175" b="0">
                <a:solidFill>
                  <a:srgbClr val="D6E2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 dirty="0" err="1">
                <a:solidFill>
                  <a:srgbClr val="D6E2EF"/>
                </a:solidFill>
                <a:latin typeface="Apple SD Gothic Neo"/>
                <a:ea typeface="Apple SD Gothic Neo"/>
                <a:cs typeface="Apple SD Gothic Neo"/>
              </a:rPr>
              <a:t>대표</a:t>
            </a:r>
            <a:r>
              <a:rPr sz="1800" b="0" dirty="0">
                <a:solidFill>
                  <a:srgbClr val="D6E2E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00" b="0" dirty="0" err="1">
                <a:solidFill>
                  <a:srgbClr val="D6E2EF"/>
                </a:solidFill>
                <a:latin typeface="Apple SD Gothic Neo"/>
                <a:ea typeface="Apple SD Gothic Neo"/>
                <a:cs typeface="Apple SD Gothic Neo"/>
              </a:rPr>
              <a:t>작업에서</a:t>
            </a:r>
            <a:r>
              <a:rPr sz="1800" b="0" dirty="0">
                <a:solidFill>
                  <a:srgbClr val="D6E2E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00" b="0" dirty="0" err="1">
                <a:solidFill>
                  <a:srgbClr val="D6E2EF"/>
                </a:solidFill>
                <a:latin typeface="Apple SD Gothic Neo"/>
                <a:ea typeface="Apple SD Gothic Neo"/>
                <a:cs typeface="Apple SD Gothic Neo"/>
              </a:rPr>
              <a:t>올바른</a:t>
            </a:r>
            <a:r>
              <a:rPr sz="1800" b="0" dirty="0">
                <a:solidFill>
                  <a:srgbClr val="D6E2E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00" b="0" dirty="0" err="1">
                <a:solidFill>
                  <a:srgbClr val="D6E2EF"/>
                </a:solidFill>
                <a:latin typeface="Apple SD Gothic Neo"/>
                <a:ea typeface="Apple SD Gothic Neo"/>
                <a:cs typeface="Apple SD Gothic Neo"/>
              </a:rPr>
              <a:t>작업</a:t>
            </a:r>
            <a:r>
              <a:rPr sz="1800" b="0" dirty="0">
                <a:solidFill>
                  <a:srgbClr val="D6E2E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00" b="0" dirty="0" err="1">
                <a:solidFill>
                  <a:srgbClr val="D6E2EF"/>
                </a:solidFill>
                <a:latin typeface="Apple SD Gothic Neo"/>
                <a:ea typeface="Apple SD Gothic Neo"/>
                <a:cs typeface="Apple SD Gothic Neo"/>
              </a:rPr>
              <a:t>정보를</a:t>
            </a:r>
            <a:r>
              <a:rPr sz="1800" b="0" dirty="0">
                <a:solidFill>
                  <a:srgbClr val="D6E2E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00" b="0" dirty="0" err="1">
                <a:solidFill>
                  <a:srgbClr val="D6E2EF"/>
                </a:solidFill>
                <a:latin typeface="Apple SD Gothic Neo"/>
                <a:ea typeface="Apple SD Gothic Neo"/>
                <a:cs typeface="Apple SD Gothic Neo"/>
              </a:rPr>
              <a:t>자동으로</a:t>
            </a:r>
            <a:r>
              <a:rPr sz="1800" b="0" dirty="0">
                <a:solidFill>
                  <a:srgbClr val="D6E2E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00" b="0" dirty="0" err="1">
                <a:solidFill>
                  <a:srgbClr val="D6E2EF"/>
                </a:solidFill>
                <a:latin typeface="Apple SD Gothic Neo"/>
                <a:ea typeface="Apple SD Gothic Neo"/>
                <a:cs typeface="Apple SD Gothic Neo"/>
              </a:rPr>
              <a:t>준비하는지</a:t>
            </a:r>
            <a:r>
              <a:rPr sz="1800" b="0" dirty="0">
                <a:solidFill>
                  <a:srgbClr val="D6E2EF"/>
                </a:solidFill>
                <a:latin typeface="Apple SD Gothic Neo"/>
                <a:ea typeface="Apple SD Gothic Neo"/>
                <a:cs typeface="Apple SD Gothic Neo"/>
              </a:rPr>
              <a:t>, </a:t>
            </a:r>
            <a:r>
              <a:rPr sz="1800" b="0" dirty="0" err="1">
                <a:solidFill>
                  <a:srgbClr val="D6E2EF"/>
                </a:solidFill>
                <a:latin typeface="Apple SD Gothic Neo"/>
                <a:ea typeface="Apple SD Gothic Neo"/>
                <a:cs typeface="Apple SD Gothic Neo"/>
              </a:rPr>
              <a:t>사람의</a:t>
            </a:r>
            <a:r>
              <a:rPr sz="1800" b="0" dirty="0">
                <a:solidFill>
                  <a:srgbClr val="D6E2E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00" b="0" dirty="0" err="1">
                <a:solidFill>
                  <a:srgbClr val="D6E2EF"/>
                </a:solidFill>
                <a:latin typeface="Apple SD Gothic Neo"/>
                <a:ea typeface="Apple SD Gothic Neo"/>
                <a:cs typeface="Apple SD Gothic Neo"/>
              </a:rPr>
              <a:t>개입과</a:t>
            </a:r>
            <a:r>
              <a:rPr sz="1800" b="0" dirty="0">
                <a:solidFill>
                  <a:srgbClr val="D6E2E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00" b="0" dirty="0" err="1">
                <a:solidFill>
                  <a:srgbClr val="D6E2EF"/>
                </a:solidFill>
                <a:latin typeface="Apple SD Gothic Neo"/>
                <a:ea typeface="Apple SD Gothic Neo"/>
                <a:cs typeface="Apple SD Gothic Neo"/>
              </a:rPr>
              <a:t>운영</a:t>
            </a:r>
            <a:r>
              <a:rPr sz="1800" b="0" dirty="0">
                <a:solidFill>
                  <a:srgbClr val="D6E2E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00" b="0" dirty="0" err="1">
                <a:solidFill>
                  <a:srgbClr val="D6E2EF"/>
                </a:solidFill>
                <a:latin typeface="Apple SD Gothic Neo"/>
                <a:ea typeface="Apple SD Gothic Neo"/>
                <a:cs typeface="Apple SD Gothic Neo"/>
              </a:rPr>
              <a:t>부담을</a:t>
            </a:r>
            <a:r>
              <a:rPr sz="1800" b="0" dirty="0">
                <a:solidFill>
                  <a:srgbClr val="D6E2E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00" b="0" dirty="0" err="1">
                <a:solidFill>
                  <a:srgbClr val="D6E2EF"/>
                </a:solidFill>
                <a:latin typeface="Apple SD Gothic Neo"/>
                <a:ea typeface="Apple SD Gothic Neo"/>
                <a:cs typeface="Apple SD Gothic Neo"/>
              </a:rPr>
              <a:t>얼마나</a:t>
            </a:r>
            <a:r>
              <a:rPr sz="1800" b="0" dirty="0">
                <a:solidFill>
                  <a:srgbClr val="D6E2E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00" b="0" dirty="0" err="1">
                <a:solidFill>
                  <a:srgbClr val="D6E2EF"/>
                </a:solidFill>
                <a:latin typeface="Apple SD Gothic Neo"/>
                <a:ea typeface="Apple SD Gothic Neo"/>
                <a:cs typeface="Apple SD Gothic Neo"/>
              </a:rPr>
              <a:t>줄일</a:t>
            </a:r>
            <a:r>
              <a:rPr sz="1800" b="0" dirty="0">
                <a:solidFill>
                  <a:srgbClr val="D6E2E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00" b="0" dirty="0" err="1">
                <a:solidFill>
                  <a:srgbClr val="D6E2EF"/>
                </a:solidFill>
                <a:latin typeface="Apple SD Gothic Neo"/>
                <a:ea typeface="Apple SD Gothic Neo"/>
                <a:cs typeface="Apple SD Gothic Neo"/>
              </a:rPr>
              <a:t>수</a:t>
            </a:r>
            <a:r>
              <a:rPr sz="1800" b="0" dirty="0">
                <a:solidFill>
                  <a:srgbClr val="D6E2E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00" b="0" dirty="0" err="1">
                <a:solidFill>
                  <a:srgbClr val="D6E2EF"/>
                </a:solidFill>
                <a:latin typeface="Apple SD Gothic Neo"/>
                <a:ea typeface="Apple SD Gothic Neo"/>
                <a:cs typeface="Apple SD Gothic Neo"/>
              </a:rPr>
              <a:t>있는지</a:t>
            </a:r>
            <a:r>
              <a:rPr sz="1800" b="0" dirty="0">
                <a:solidFill>
                  <a:srgbClr val="D6E2E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00" b="0" dirty="0" err="1">
                <a:solidFill>
                  <a:srgbClr val="D6E2EF"/>
                </a:solidFill>
                <a:latin typeface="Apple SD Gothic Neo"/>
                <a:ea typeface="Apple SD Gothic Neo"/>
                <a:cs typeface="Apple SD Gothic Neo"/>
              </a:rPr>
              <a:t>함께</a:t>
            </a:r>
            <a:r>
              <a:rPr sz="1800" b="0" dirty="0">
                <a:solidFill>
                  <a:srgbClr val="D6E2E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00" b="0" dirty="0" err="1">
                <a:solidFill>
                  <a:srgbClr val="D6E2EF"/>
                </a:solidFill>
                <a:latin typeface="Apple SD Gothic Neo"/>
                <a:ea typeface="Apple SD Gothic Neo"/>
                <a:cs typeface="Apple SD Gothic Neo"/>
              </a:rPr>
              <a:t>검증하겠습니다</a:t>
            </a:r>
            <a:r>
              <a:rPr sz="1800" b="0" dirty="0">
                <a:solidFill>
                  <a:srgbClr val="D6E2EF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</a:p>
        </p:txBody>
      </p:sp>
      <p:sp>
        <p:nvSpPr>
          <p:cNvPr id="11" name="rule-417">
            <a:extLst>
              <a:ext uri="{FF2B5EF4-FFF2-40B4-BE49-F238E27FC236}">
                <a16:creationId xmlns:a16="http://schemas.microsoft.com/office/drawing/2014/main" id="{2EAC9ACA-60D7-44D8-A5DB-0974148BD13E}"/>
              </a:ext>
            </a:extLst>
          </p:cNvPr>
          <p:cNvSpPr>
            <a:spLocks noGrp="1"/>
          </p:cNvSpPr>
          <p:nvPr/>
        </p:nvSpPr>
        <p:spPr>
          <a:xfrm>
            <a:off x="742950" y="6934200"/>
            <a:ext cx="13773150" cy="95"/>
          </a:xfrm>
          <a:prstGeom prst="line">
            <a:avLst/>
          </a:prstGeom>
          <a:noFill/>
          <a:ln w="9525">
            <a:solidFill>
              <a:srgbClr val="3E6588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2" name="text-418">
            <a:extLst>
              <a:ext uri="{FF2B5EF4-FFF2-40B4-BE49-F238E27FC236}">
                <a16:creationId xmlns:a16="http://schemas.microsoft.com/office/drawing/2014/main" id="{72D26DE8-3F76-4BE9-B2AC-6AD692BB77BE}"/>
              </a:ext>
            </a:extLst>
          </p:cNvPr>
          <p:cNvSpPr>
            <a:spLocks noGrp="1"/>
          </p:cNvSpPr>
          <p:nvPr/>
        </p:nvSpPr>
        <p:spPr>
          <a:xfrm>
            <a:off x="742950" y="7239000"/>
            <a:ext cx="718185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Static Duo</a:t>
            </a:r>
          </a:p>
        </p:txBody>
      </p:sp>
      <p:sp>
        <p:nvSpPr>
          <p:cNvPr id="13" name="text-419">
            <a:extLst>
              <a:ext uri="{FF2B5EF4-FFF2-40B4-BE49-F238E27FC236}">
                <a16:creationId xmlns:a16="http://schemas.microsoft.com/office/drawing/2014/main" id="{3CBE199E-9868-4607-B0A7-6A961BEB51A7}"/>
              </a:ext>
            </a:extLst>
          </p:cNvPr>
          <p:cNvSpPr>
            <a:spLocks noGrp="1"/>
          </p:cNvSpPr>
          <p:nvPr/>
        </p:nvSpPr>
        <p:spPr>
          <a:xfrm>
            <a:off x="9648825" y="7239000"/>
            <a:ext cx="4867275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875" b="0">
                <a:solidFill>
                  <a:srgbClr val="BDCFD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r">
              <a:buNone/>
              <a:defRPr sz="1875" b="0">
                <a:solidFill>
                  <a:srgbClr val="BDCFDF"/>
                </a:solidFill>
                <a:latin typeface="Apple SD Gothic Neo"/>
                <a:ea typeface="Apple SD Gothic Neo"/>
                <a:cs typeface="Apple SD Gothic Neo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4000" y="7722000"/>
            <a:ext cx="138708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50" b="0" dirty="0" err="1">
                <a:solidFill>
                  <a:srgbClr val="687584"/>
                </a:solidFill>
                <a:latin typeface="Apple SD Gothic Neo"/>
                <a:ea typeface="Apple SD Gothic Neo"/>
              </a:rPr>
              <a:t>현장</a:t>
            </a:r>
            <a:r>
              <a:rPr sz="1050" b="0" dirty="0">
                <a:solidFill>
                  <a:srgbClr val="687584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687584"/>
                </a:solidFill>
                <a:latin typeface="Apple SD Gothic Neo"/>
                <a:ea typeface="Apple SD Gothic Neo"/>
              </a:rPr>
              <a:t>측</a:t>
            </a:r>
            <a:r>
              <a:rPr sz="1050" b="0" dirty="0">
                <a:solidFill>
                  <a:srgbClr val="687584"/>
                </a:solidFill>
                <a:latin typeface="Apple SD Gothic Neo"/>
                <a:ea typeface="Apple SD Gothic Neo"/>
              </a:rPr>
              <a:t>: </a:t>
            </a:r>
            <a:r>
              <a:rPr sz="1050" b="0" dirty="0" err="1">
                <a:solidFill>
                  <a:srgbClr val="687584"/>
                </a:solidFill>
                <a:latin typeface="Apple SD Gothic Neo"/>
                <a:ea typeface="Apple SD Gothic Neo"/>
              </a:rPr>
              <a:t>대상·정답·승인</a:t>
            </a:r>
            <a:r>
              <a:rPr sz="1050" b="0" dirty="0">
                <a:solidFill>
                  <a:srgbClr val="687584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687584"/>
                </a:solidFill>
                <a:latin typeface="Apple SD Gothic Neo"/>
                <a:ea typeface="Apple SD Gothic Neo"/>
              </a:rPr>
              <a:t>문서·수신</a:t>
            </a:r>
            <a:r>
              <a:rPr sz="1050" b="0" dirty="0">
                <a:solidFill>
                  <a:srgbClr val="687584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687584"/>
                </a:solidFill>
                <a:latin typeface="Apple SD Gothic Neo"/>
                <a:ea typeface="Apple SD Gothic Neo"/>
              </a:rPr>
              <a:t>인터페이스</a:t>
            </a:r>
            <a:r>
              <a:rPr sz="1050" b="0" dirty="0">
                <a:solidFill>
                  <a:srgbClr val="687584"/>
                </a:solidFill>
                <a:latin typeface="Apple SD Gothic Neo"/>
                <a:ea typeface="Apple SD Gothic Neo"/>
              </a:rPr>
              <a:t> / </a:t>
            </a:r>
            <a:r>
              <a:rPr sz="1050" b="0" dirty="0" err="1">
                <a:solidFill>
                  <a:srgbClr val="687584"/>
                </a:solidFill>
                <a:latin typeface="Apple SD Gothic Neo"/>
                <a:ea typeface="Apple SD Gothic Neo"/>
              </a:rPr>
              <a:t>팀</a:t>
            </a:r>
            <a:r>
              <a:rPr sz="1050" b="0" dirty="0">
                <a:solidFill>
                  <a:srgbClr val="687584"/>
                </a:solidFill>
                <a:latin typeface="Apple SD Gothic Neo"/>
                <a:ea typeface="Apple SD Gothic Neo"/>
              </a:rPr>
              <a:t>: </a:t>
            </a:r>
            <a:r>
              <a:rPr sz="1050" b="0" dirty="0" err="1">
                <a:solidFill>
                  <a:srgbClr val="687584"/>
                </a:solidFill>
                <a:latin typeface="Apple SD Gothic Neo"/>
                <a:ea typeface="Apple SD Gothic Neo"/>
              </a:rPr>
              <a:t>단계별</a:t>
            </a:r>
            <a:r>
              <a:rPr sz="1050" b="0" dirty="0">
                <a:solidFill>
                  <a:srgbClr val="687584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687584"/>
                </a:solidFill>
                <a:latin typeface="Apple SD Gothic Neo"/>
                <a:ea typeface="Apple SD Gothic Neo"/>
              </a:rPr>
              <a:t>판단·보완·전달·추적</a:t>
            </a:r>
            <a:r>
              <a:rPr sz="1050" b="0" dirty="0">
                <a:solidFill>
                  <a:srgbClr val="687584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687584"/>
                </a:solidFill>
                <a:latin typeface="Apple SD Gothic Neo"/>
                <a:ea typeface="Apple SD Gothic Neo"/>
              </a:rPr>
              <a:t>통합</a:t>
            </a:r>
            <a:r>
              <a:rPr sz="1050" b="0" dirty="0">
                <a:solidFill>
                  <a:srgbClr val="687584"/>
                </a:solidFill>
                <a:latin typeface="Apple SD Gothic Neo"/>
                <a:ea typeface="Apple SD Gothic Neo"/>
              </a:rPr>
              <a:t> · </a:t>
            </a:r>
            <a:r>
              <a:rPr sz="1050" b="0" dirty="0" err="1">
                <a:solidFill>
                  <a:srgbClr val="687584"/>
                </a:solidFill>
                <a:latin typeface="Apple SD Gothic Neo"/>
                <a:ea typeface="Apple SD Gothic Neo"/>
              </a:rPr>
              <a:t>별첨</a:t>
            </a:r>
            <a:r>
              <a:rPr sz="1050" b="0" dirty="0">
                <a:solidFill>
                  <a:srgbClr val="687584"/>
                </a:solidFill>
                <a:latin typeface="Apple SD Gothic Neo"/>
                <a:ea typeface="Apple SD Gothic Neo"/>
              </a:rPr>
              <a:t> A11·A13</a:t>
            </a:r>
          </a:p>
        </p:txBody>
      </p:sp>
    </p:spTree>
    <p:extLst>
      <p:ext uri="{BB962C8B-B14F-4D97-AF65-F5344CB8AC3E}">
        <p14:creationId xmlns:p14="http://schemas.microsoft.com/office/powerpoint/2010/main" val="3962431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5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-201">
            <a:extLst>
              <a:ext uri="{FF2B5EF4-FFF2-40B4-BE49-F238E27FC236}">
                <a16:creationId xmlns:a16="http://schemas.microsoft.com/office/drawing/2014/main" id="{042AB215-4D41-437C-AC59-E42EEA7F88B1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6191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425" b="1">
                <a:solidFill>
                  <a:srgbClr val="BBD1E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1425" b="1">
                <a:solidFill>
                  <a:srgbClr val="BBD1E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BBD1E5"/>
                </a:solidFill>
                <a:latin typeface="Apple SD Gothic Neo"/>
                <a:ea typeface="Apple SD Gothic Neo"/>
                <a:cs typeface="Apple SD Gothic Neo"/>
              </a:rPr>
              <a:t>ContextWeld</a:t>
            </a:r>
          </a:p>
        </p:txBody>
      </p:sp>
      <p:sp>
        <p:nvSpPr>
          <p:cNvPr id="3" name="text-203">
            <a:extLst>
              <a:ext uri="{FF2B5EF4-FFF2-40B4-BE49-F238E27FC236}">
                <a16:creationId xmlns:a16="http://schemas.microsoft.com/office/drawing/2014/main" id="{8E14338E-A17E-4B3B-AE75-6AFFCBEBCB35}"/>
              </a:ext>
            </a:extLst>
          </p:cNvPr>
          <p:cNvSpPr>
            <a:spLocks noGrp="1"/>
          </p:cNvSpPr>
          <p:nvPr/>
        </p:nvSpPr>
        <p:spPr>
          <a:xfrm>
            <a:off x="685800" y="1981200"/>
            <a:ext cx="47625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5700" b="1">
                <a:solidFill>
                  <a:srgbClr val="73BF9A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5700" b="1">
                <a:solidFill>
                  <a:srgbClr val="73BF9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700" b="1">
                <a:solidFill>
                  <a:srgbClr val="73BF9A"/>
                </a:solidFill>
                <a:latin typeface="Apple SD Gothic Neo"/>
                <a:ea typeface="Apple SD Gothic Neo"/>
                <a:cs typeface="Apple SD Gothic Neo"/>
              </a:rPr>
              <a:t>A</a:t>
            </a:r>
          </a:p>
        </p:txBody>
      </p:sp>
      <p:sp>
        <p:nvSpPr>
          <p:cNvPr id="4" name="text-204">
            <a:extLst>
              <a:ext uri="{FF2B5EF4-FFF2-40B4-BE49-F238E27FC236}">
                <a16:creationId xmlns:a16="http://schemas.microsoft.com/office/drawing/2014/main" id="{809C9C5E-786B-487D-8ECD-7D4222706371}"/>
              </a:ext>
            </a:extLst>
          </p:cNvPr>
          <p:cNvSpPr>
            <a:spLocks noGrp="1"/>
          </p:cNvSpPr>
          <p:nvPr/>
        </p:nvSpPr>
        <p:spPr>
          <a:xfrm>
            <a:off x="638175" y="3324225"/>
            <a:ext cx="9906000" cy="2190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6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6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별첨</a:t>
            </a:r>
          </a:p>
          <a:p>
            <a:pPr algn="l">
              <a:buNone/>
              <a:defRPr sz="6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설계 · 근거 · 출처</a:t>
            </a:r>
          </a:p>
        </p:txBody>
      </p:sp>
      <p:sp>
        <p:nvSpPr>
          <p:cNvPr id="5" name="text-205">
            <a:extLst>
              <a:ext uri="{FF2B5EF4-FFF2-40B4-BE49-F238E27FC236}">
                <a16:creationId xmlns:a16="http://schemas.microsoft.com/office/drawing/2014/main" id="{EA97C930-C711-4FA5-89BC-B967D3CEF79E}"/>
              </a:ext>
            </a:extLst>
          </p:cNvPr>
          <p:cNvSpPr>
            <a:spLocks noGrp="1"/>
          </p:cNvSpPr>
          <p:nvPr/>
        </p:nvSpPr>
        <p:spPr>
          <a:xfrm>
            <a:off x="723900" y="6105525"/>
            <a:ext cx="81915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175" b="0">
                <a:solidFill>
                  <a:srgbClr val="BBD1E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2175" b="0">
                <a:solidFill>
                  <a:srgbClr val="BBD1E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BBD1E5"/>
                </a:solidFill>
                <a:latin typeface="Apple SD Gothic Neo"/>
                <a:ea typeface="Apple SD Gothic Neo"/>
                <a:cs typeface="Apple SD Gothic Neo"/>
              </a:rPr>
              <a:t>Appendix · 질의응답 열람용 · 출처는 A14</a:t>
            </a:r>
          </a:p>
        </p:txBody>
      </p:sp>
      <p:sp>
        <p:nvSpPr>
          <p:cNvPr id="6" name="geometric-layout-206">
            <a:extLst>
              <a:ext uri="{FF2B5EF4-FFF2-40B4-BE49-F238E27FC236}">
                <a16:creationId xmlns:a16="http://schemas.microsoft.com/office/drawing/2014/main" id="{E0950B0A-2AD0-493B-9E49-CA09FB4B087F}"/>
              </a:ext>
            </a:extLst>
          </p:cNvPr>
          <p:cNvSpPr>
            <a:spLocks noGrp="1"/>
          </p:cNvSpPr>
          <p:nvPr/>
        </p:nvSpPr>
        <p:spPr>
          <a:xfrm>
            <a:off x="9972675" y="0"/>
            <a:ext cx="5267325" cy="8572500"/>
          </a:xfrm>
          <a:custGeom>
            <a:avLst/>
            <a:gdLst/>
            <a:ahLst/>
            <a:cxnLst/>
            <a:rect l="0" t="0" r="0" b="0"/>
            <a:pathLst>
              <a:path w="5267325" h="8572500">
                <a:moveTo>
                  <a:pt x="1171575" y="0"/>
                </a:moveTo>
                <a:lnTo>
                  <a:pt x="5267325" y="0"/>
                </a:lnTo>
                <a:lnTo>
                  <a:pt x="5267325" y="8572500"/>
                </a:lnTo>
                <a:lnTo>
                  <a:pt x="0" y="8572500"/>
                </a:lnTo>
                <a:lnTo>
                  <a:pt x="3324225" y="2876550"/>
                </a:lnTo>
                <a:close/>
              </a:path>
            </a:pathLst>
          </a:custGeom>
          <a:solidFill>
            <a:srgbClr val="003087"/>
          </a:solidFill>
          <a:ln w="0">
            <a:noFill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7" name="geometric-layout-207">
            <a:extLst>
              <a:ext uri="{FF2B5EF4-FFF2-40B4-BE49-F238E27FC236}">
                <a16:creationId xmlns:a16="http://schemas.microsoft.com/office/drawing/2014/main" id="{E655BF2B-4A5E-4CAF-879D-9259B886CF5A}"/>
              </a:ext>
            </a:extLst>
          </p:cNvPr>
          <p:cNvSpPr>
            <a:spLocks noGrp="1"/>
          </p:cNvSpPr>
          <p:nvPr/>
        </p:nvSpPr>
        <p:spPr>
          <a:xfrm>
            <a:off x="11087100" y="4305300"/>
            <a:ext cx="4152900" cy="4267200"/>
          </a:xfrm>
          <a:custGeom>
            <a:avLst/>
            <a:gdLst/>
            <a:ahLst/>
            <a:cxnLst/>
            <a:rect l="0" t="0" r="0" b="0"/>
            <a:pathLst>
              <a:path w="4152900" h="4267200">
                <a:moveTo>
                  <a:pt x="2466975" y="0"/>
                </a:moveTo>
                <a:lnTo>
                  <a:pt x="4152900" y="0"/>
                </a:lnTo>
                <a:lnTo>
                  <a:pt x="4152900" y="4267200"/>
                </a:lnTo>
                <a:lnTo>
                  <a:pt x="0" y="4267200"/>
                </a:lnTo>
                <a:close/>
              </a:path>
            </a:pathLst>
          </a:custGeom>
          <a:solidFill>
            <a:srgbClr val="00843D"/>
          </a:solidFill>
          <a:ln w="0">
            <a:noFill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8" name="geometric-layout-208">
            <a:extLst>
              <a:ext uri="{FF2B5EF4-FFF2-40B4-BE49-F238E27FC236}">
                <a16:creationId xmlns:a16="http://schemas.microsoft.com/office/drawing/2014/main" id="{90535C15-F6AB-4938-855B-68F318F88C98}"/>
              </a:ext>
            </a:extLst>
          </p:cNvPr>
          <p:cNvSpPr>
            <a:spLocks noGrp="1"/>
          </p:cNvSpPr>
          <p:nvPr/>
        </p:nvSpPr>
        <p:spPr>
          <a:xfrm>
            <a:off x="10220325" y="4305300"/>
            <a:ext cx="2676525" cy="4267200"/>
          </a:xfrm>
          <a:custGeom>
            <a:avLst/>
            <a:gdLst/>
            <a:ahLst/>
            <a:cxnLst/>
            <a:rect l="0" t="0" r="0" b="0"/>
            <a:pathLst>
              <a:path w="2676525" h="4267200">
                <a:moveTo>
                  <a:pt x="2466975" y="0"/>
                </a:moveTo>
                <a:lnTo>
                  <a:pt x="2676525" y="0"/>
                </a:lnTo>
                <a:lnTo>
                  <a:pt x="209550" y="4267200"/>
                </a:lnTo>
                <a:lnTo>
                  <a:pt x="0" y="4267200"/>
                </a:lnTo>
                <a:close/>
              </a:path>
            </a:pathLst>
          </a:custGeom>
          <a:solidFill>
            <a:srgbClr val="73BF9A"/>
          </a:solidFill>
          <a:ln w="0">
            <a:noFill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9" name="text-209">
            <a:extLst>
              <a:ext uri="{FF2B5EF4-FFF2-40B4-BE49-F238E27FC236}">
                <a16:creationId xmlns:a16="http://schemas.microsoft.com/office/drawing/2014/main" id="{D5B64E28-27C4-4509-B03D-01825800E358}"/>
              </a:ext>
            </a:extLst>
          </p:cNvPr>
          <p:cNvSpPr>
            <a:spLocks noGrp="1"/>
          </p:cNvSpPr>
          <p:nvPr/>
        </p:nvSpPr>
        <p:spPr>
          <a:xfrm>
            <a:off x="685800" y="8077200"/>
            <a:ext cx="6667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125" b="0">
                <a:solidFill>
                  <a:srgbClr val="9FB8CD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l">
              <a:buNone/>
              <a:defRPr sz="1125" b="0">
                <a:solidFill>
                  <a:srgbClr val="9FB8C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9FB8CD"/>
                </a:solidFill>
                <a:latin typeface="Apple SD Gothic Neo"/>
                <a:ea typeface="Apple SD Gothic Neo"/>
                <a:cs typeface="Apple SD Gothic Neo"/>
              </a:rPr>
              <a:t>Static Duo</a:t>
            </a:r>
          </a:p>
        </p:txBody>
      </p:sp>
      <p:sp>
        <p:nvSpPr>
          <p:cNvPr id="10" name="text-210">
            <a:extLst>
              <a:ext uri="{FF2B5EF4-FFF2-40B4-BE49-F238E27FC236}">
                <a16:creationId xmlns:a16="http://schemas.microsoft.com/office/drawing/2014/main" id="{8C3BE986-F92F-4515-9700-F8F6AEAEA5E5}"/>
              </a:ext>
            </a:extLst>
          </p:cNvPr>
          <p:cNvSpPr>
            <a:spLocks noGrp="1"/>
          </p:cNvSpPr>
          <p:nvPr/>
        </p:nvSpPr>
        <p:spPr>
          <a:xfrm>
            <a:off x="13868400" y="8020050"/>
            <a:ext cx="6858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 b="0">
                <a:solidFill>
                  <a:srgbClr val="9FB8CD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 algn="r">
              <a:buNone/>
              <a:defRPr sz="1350" b="0">
                <a:solidFill>
                  <a:srgbClr val="9FB8C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9FB8CD"/>
                </a:solidFill>
                <a:latin typeface="Apple SD Gothic Neo"/>
                <a:ea typeface="Apple SD Gothic Neo"/>
                <a:cs typeface="Apple SD Gothic Neo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1327458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4000" y="270000"/>
            <a:ext cx="720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1">
                <a:solidFill>
                  <a:srgbClr val="00843D"/>
                </a:solidFill>
                <a:latin typeface="Apple SD Gothic Neo"/>
                <a:ea typeface="Apple SD Gothic Neo"/>
              </a:rPr>
              <a:t>별첨 A1-1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4000" y="486000"/>
            <a:ext cx="13870800" cy="374906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 dirty="0" err="1">
                <a:solidFill>
                  <a:srgbClr val="002554"/>
                </a:solidFill>
                <a:latin typeface="Apple SD Gothic Neo"/>
                <a:ea typeface="Apple SD Gothic Neo"/>
              </a:rPr>
              <a:t>전체</a:t>
            </a:r>
            <a:r>
              <a:rPr sz="2200" b="1" dirty="0">
                <a:solidFill>
                  <a:srgbClr val="002554"/>
                </a:solidFill>
                <a:latin typeface="Apple SD Gothic Neo"/>
                <a:ea typeface="Apple SD Gothic Neo"/>
              </a:rPr>
              <a:t> </a:t>
            </a:r>
            <a:r>
              <a:rPr sz="2200" b="1" dirty="0" err="1">
                <a:solidFill>
                  <a:srgbClr val="002554"/>
                </a:solidFill>
                <a:latin typeface="Apple SD Gothic Neo"/>
                <a:ea typeface="Apple SD Gothic Neo"/>
              </a:rPr>
              <a:t>시스템</a:t>
            </a:r>
            <a:r>
              <a:rPr sz="2200" b="1" dirty="0">
                <a:solidFill>
                  <a:srgbClr val="002554"/>
                </a:solidFill>
                <a:latin typeface="Apple SD Gothic Neo"/>
                <a:ea typeface="Apple SD Gothic Neo"/>
              </a:rPr>
              <a:t> </a:t>
            </a:r>
            <a:r>
              <a:rPr sz="2200" b="1" dirty="0" err="1">
                <a:solidFill>
                  <a:srgbClr val="002554"/>
                </a:solidFill>
                <a:latin typeface="Apple SD Gothic Neo"/>
                <a:ea typeface="Apple SD Gothic Neo"/>
              </a:rPr>
              <a:t>구조도</a:t>
            </a:r>
            <a:r>
              <a:rPr sz="2200" b="1" dirty="0">
                <a:solidFill>
                  <a:srgbClr val="002554"/>
                </a:solidFill>
                <a:latin typeface="Apple SD Gothic Neo"/>
                <a:ea typeface="Apple SD Gothic Neo"/>
              </a:rPr>
              <a:t> — </a:t>
            </a:r>
            <a:r>
              <a:rPr sz="2200" b="1" dirty="0" err="1">
                <a:solidFill>
                  <a:srgbClr val="002554"/>
                </a:solidFill>
                <a:latin typeface="Apple SD Gothic Neo"/>
                <a:ea typeface="Apple SD Gothic Neo"/>
              </a:rPr>
              <a:t>목표</a:t>
            </a:r>
            <a:r>
              <a:rPr sz="2200" b="1" dirty="0">
                <a:solidFill>
                  <a:srgbClr val="002554"/>
                </a:solidFill>
                <a:latin typeface="Apple SD Gothic Neo"/>
                <a:ea typeface="Apple SD Gothic Neo"/>
              </a:rPr>
              <a:t> </a:t>
            </a:r>
            <a:r>
              <a:rPr sz="2200" b="1" dirty="0" err="1">
                <a:solidFill>
                  <a:srgbClr val="002554"/>
                </a:solidFill>
                <a:latin typeface="Apple SD Gothic Neo"/>
                <a:ea typeface="Apple SD Gothic Neo"/>
              </a:rPr>
              <a:t>시스템</a:t>
            </a:r>
            <a:r>
              <a:rPr sz="2200" b="1" dirty="0">
                <a:solidFill>
                  <a:srgbClr val="002554"/>
                </a:solidFill>
                <a:latin typeface="Apple SD Gothic Neo"/>
                <a:ea typeface="Apple SD Gothic Neo"/>
              </a:rPr>
              <a:t> </a:t>
            </a:r>
          </a:p>
        </p:txBody>
      </p:sp>
      <p:sp>
        <p:nvSpPr>
          <p:cNvPr id="4" name="Rectangle 3"/>
          <p:cNvSpPr/>
          <p:nvPr/>
        </p:nvSpPr>
        <p:spPr>
          <a:xfrm>
            <a:off x="684000" y="1134000"/>
            <a:ext cx="792000" cy="32400"/>
          </a:xfrm>
          <a:prstGeom prst="rect">
            <a:avLst/>
          </a:prstGeom>
          <a:solidFill>
            <a:srgbClr val="00843D"/>
          </a:solidFill>
          <a:ln>
            <a:noFill/>
          </a:ln>
          <a:effectLst/>
        </p:spPr>
        <p:txBody>
          <a:bodyPr wrap="square" lIns="54000" tIns="28800" rIns="54000" bIns="28800" rtlCol="0" anchor="t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674800" y="270000"/>
            <a:ext cx="288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1000" b="0">
                <a:solidFill>
                  <a:srgbClr val="687584"/>
                </a:solidFill>
                <a:latin typeface="Apple SD Gothic Neo"/>
                <a:ea typeface="Apple SD Gothic Neo"/>
              </a:rPr>
              <a:t>ContextWeld · Static Duo · A1-1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4000" y="7722000"/>
            <a:ext cx="138708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50" b="0">
                <a:solidFill>
                  <a:srgbClr val="687584"/>
                </a:solidFill>
                <a:latin typeface="Apple SD Gothic Neo"/>
                <a:ea typeface="Apple SD Gothic Neo"/>
              </a:rPr>
              <a:t>01 현장 관측·인식 → 02 작업 문서 준비·조회 → 03 작업 해석·검증 → 04 장비 변환·전달 → 기록·대시보드 · 실선=처리, 점선=복귀, 회색 점선=장비 연계 · 관계 해석→명세의 연결은 목표 설계이며 현재 문서 데모는 문자 합의 후보로 조회 [실행] · 본문 3장 · 원본 SVG assets/system-structure-20261010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A98B7A2-6C02-0011-A2C9-DE2ACEC673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2987" y="1134000"/>
            <a:ext cx="8582025" cy="600907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D50E0-8C6F-7E74-B543-E2F4953AD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D06A58D-FE2F-77D1-F9B9-8C1F0BC77D56}"/>
              </a:ext>
            </a:extLst>
          </p:cNvPr>
          <p:cNvSpPr txBox="1"/>
          <p:nvPr/>
        </p:nvSpPr>
        <p:spPr>
          <a:xfrm>
            <a:off x="684000" y="270000"/>
            <a:ext cx="720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1">
                <a:solidFill>
                  <a:srgbClr val="00843D"/>
                </a:solidFill>
                <a:latin typeface="Apple SD Gothic Neo"/>
                <a:ea typeface="Apple SD Gothic Neo"/>
              </a:rPr>
              <a:t>별첨 A1-1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D7D108-3B6D-D894-ADE1-FC3BB1EF6F4E}"/>
              </a:ext>
            </a:extLst>
          </p:cNvPr>
          <p:cNvSpPr txBox="1"/>
          <p:nvPr/>
        </p:nvSpPr>
        <p:spPr>
          <a:xfrm>
            <a:off x="684000" y="486000"/>
            <a:ext cx="13870800" cy="374906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 dirty="0" err="1">
                <a:solidFill>
                  <a:srgbClr val="002554"/>
                </a:solidFill>
                <a:latin typeface="Apple SD Gothic Neo"/>
                <a:ea typeface="Apple SD Gothic Neo"/>
              </a:rPr>
              <a:t>전체</a:t>
            </a:r>
            <a:r>
              <a:rPr sz="2200" b="1" dirty="0">
                <a:solidFill>
                  <a:srgbClr val="002554"/>
                </a:solidFill>
                <a:latin typeface="Apple SD Gothic Neo"/>
                <a:ea typeface="Apple SD Gothic Neo"/>
              </a:rPr>
              <a:t> </a:t>
            </a:r>
            <a:r>
              <a:rPr sz="2200" b="1" dirty="0" err="1">
                <a:solidFill>
                  <a:srgbClr val="002554"/>
                </a:solidFill>
                <a:latin typeface="Apple SD Gothic Neo"/>
                <a:ea typeface="Apple SD Gothic Neo"/>
              </a:rPr>
              <a:t>시스템</a:t>
            </a:r>
            <a:r>
              <a:rPr sz="2200" b="1" dirty="0">
                <a:solidFill>
                  <a:srgbClr val="002554"/>
                </a:solidFill>
                <a:latin typeface="Apple SD Gothic Neo"/>
                <a:ea typeface="Apple SD Gothic Neo"/>
              </a:rPr>
              <a:t> </a:t>
            </a:r>
            <a:r>
              <a:rPr sz="2200" b="1" dirty="0" err="1">
                <a:solidFill>
                  <a:srgbClr val="002554"/>
                </a:solidFill>
                <a:latin typeface="Apple SD Gothic Neo"/>
                <a:ea typeface="Apple SD Gothic Neo"/>
              </a:rPr>
              <a:t>구조도</a:t>
            </a:r>
            <a:r>
              <a:rPr sz="2200" b="1" dirty="0">
                <a:solidFill>
                  <a:srgbClr val="002554"/>
                </a:solidFill>
                <a:latin typeface="Apple SD Gothic Neo"/>
                <a:ea typeface="Apple SD Gothic Neo"/>
              </a:rPr>
              <a:t> — </a:t>
            </a:r>
            <a:r>
              <a:rPr sz="2200" b="1" dirty="0" err="1">
                <a:solidFill>
                  <a:srgbClr val="002554"/>
                </a:solidFill>
                <a:latin typeface="Apple SD Gothic Neo"/>
                <a:ea typeface="Apple SD Gothic Neo"/>
              </a:rPr>
              <a:t>목표</a:t>
            </a:r>
            <a:r>
              <a:rPr sz="2200" b="1" dirty="0">
                <a:solidFill>
                  <a:srgbClr val="002554"/>
                </a:solidFill>
                <a:latin typeface="Apple SD Gothic Neo"/>
                <a:ea typeface="Apple SD Gothic Neo"/>
              </a:rPr>
              <a:t> </a:t>
            </a:r>
            <a:r>
              <a:rPr sz="2200" b="1" dirty="0" err="1">
                <a:solidFill>
                  <a:srgbClr val="002554"/>
                </a:solidFill>
                <a:latin typeface="Apple SD Gothic Neo"/>
                <a:ea typeface="Apple SD Gothic Neo"/>
              </a:rPr>
              <a:t>시스템</a:t>
            </a:r>
            <a:r>
              <a:rPr sz="2200" b="1" dirty="0">
                <a:solidFill>
                  <a:srgbClr val="002554"/>
                </a:solidFill>
                <a:latin typeface="Apple SD Gothic Neo"/>
                <a:ea typeface="Apple SD Gothic Neo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F64F37-F067-7094-425B-1DEE2F5C5223}"/>
              </a:ext>
            </a:extLst>
          </p:cNvPr>
          <p:cNvSpPr/>
          <p:nvPr/>
        </p:nvSpPr>
        <p:spPr>
          <a:xfrm>
            <a:off x="684000" y="1134000"/>
            <a:ext cx="792000" cy="32400"/>
          </a:xfrm>
          <a:prstGeom prst="rect">
            <a:avLst/>
          </a:prstGeom>
          <a:solidFill>
            <a:srgbClr val="00843D"/>
          </a:solidFill>
          <a:ln>
            <a:noFill/>
          </a:ln>
          <a:effectLst/>
        </p:spPr>
        <p:txBody>
          <a:bodyPr wrap="square" lIns="54000" tIns="28800" rIns="54000" bIns="28800" rtlCol="0" anchor="t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878972-5C44-CDBC-5EC8-D95112D9B6AB}"/>
              </a:ext>
            </a:extLst>
          </p:cNvPr>
          <p:cNvSpPr txBox="1"/>
          <p:nvPr/>
        </p:nvSpPr>
        <p:spPr>
          <a:xfrm>
            <a:off x="11674800" y="270000"/>
            <a:ext cx="288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1000" b="0">
                <a:solidFill>
                  <a:srgbClr val="687584"/>
                </a:solidFill>
                <a:latin typeface="Apple SD Gothic Neo"/>
                <a:ea typeface="Apple SD Gothic Neo"/>
              </a:rPr>
              <a:t>ContextWeld · Static Duo · A1-1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A993C4-EC5D-BA73-BE61-845BDA219F0D}"/>
              </a:ext>
            </a:extLst>
          </p:cNvPr>
          <p:cNvSpPr txBox="1"/>
          <p:nvPr/>
        </p:nvSpPr>
        <p:spPr>
          <a:xfrm>
            <a:off x="684000" y="7722000"/>
            <a:ext cx="138708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50" b="0">
                <a:solidFill>
                  <a:srgbClr val="687584"/>
                </a:solidFill>
                <a:latin typeface="Apple SD Gothic Neo"/>
                <a:ea typeface="Apple SD Gothic Neo"/>
              </a:rPr>
              <a:t>01 현장 관측·인식 → 02 작업 문서 준비·조회 → 03 작업 해석·검증 → 04 장비 변환·전달 → 기록·대시보드 · 실선=처리, 점선=복귀, 회색 점선=장비 연계 · 관계 해석→명세의 연결은 목표 설계이며 현재 문서 데모는 문자 합의 후보로 조회 [실행] · 본문 3장 · 원본 SVG assets/system-structure-20261010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3933E7E5-5FCC-CCBB-D7A6-9F28841BB9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600" y="1166400"/>
            <a:ext cx="13870800" cy="6048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144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4000" y="270000"/>
            <a:ext cx="720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1">
                <a:solidFill>
                  <a:srgbClr val="00843D"/>
                </a:solidFill>
                <a:latin typeface="Apple SD Gothic Neo"/>
                <a:ea typeface="Apple SD Gothic Neo"/>
              </a:rPr>
              <a:t>별첨 A2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4000" y="486000"/>
            <a:ext cx="13870800" cy="54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>
                <a:solidFill>
                  <a:srgbClr val="002554"/>
                </a:solidFill>
                <a:latin typeface="Apple SD Gothic Neo"/>
                <a:ea typeface="Apple SD Gothic Neo"/>
              </a:rPr>
              <a:t>두 갈래 관측과 AI 역할 분리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684000" y="1134000"/>
            <a:ext cx="792000" cy="32400"/>
          </a:xfrm>
          <a:prstGeom prst="rect">
            <a:avLst/>
          </a:prstGeom>
          <a:solidFill>
            <a:srgbClr val="00843D"/>
          </a:solidFill>
          <a:ln>
            <a:noFill/>
          </a:ln>
          <a:effectLst/>
        </p:spPr>
        <p:txBody>
          <a:bodyPr wrap="square" lIns="54000" tIns="28800" rIns="54000" bIns="28800" rtlCol="0" anchor="t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674800" y="270000"/>
            <a:ext cx="288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1000" b="0">
                <a:solidFill>
                  <a:srgbClr val="687584"/>
                </a:solidFill>
                <a:latin typeface="Apple SD Gothic Neo"/>
                <a:ea typeface="Apple SD Gothic Neo"/>
              </a:rPr>
              <a:t>ContextWeld · Static Duo · A2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4000" y="1512000"/>
            <a:ext cx="13870800" cy="1821599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526477"/>
                </a:solidFill>
                <a:latin typeface="Apple SD Gothic Neo"/>
                <a:ea typeface="Apple SD Gothic Neo"/>
              </a:rPr>
              <a:t>•  OCR(문자 인식)은 문자·숫자·위치, VLM(Vision-Language Model, 이미지와 글을 함께 해석하는 모델)은 독립 문자 판독과 화살표·기호·접합부 단서를 각각 호출한다 (R2).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526477"/>
                </a:solidFill>
                <a:latin typeface="Apple SD Gothic Neo"/>
                <a:ea typeface="Apple SD Gothic Neo"/>
              </a:rPr>
              <a:t>•  관계 해석 호출은 표기와 대상의 연결을 제안한다. 현재 문서 데모는 OCR·VLM 문자 관측의 합의 후보로 문서를 조회하며, 관계 해석 결과를 하위 판정 입력으로 쓰는 자동 연결은 후속 설계다.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526477"/>
                </a:solidFill>
                <a:latin typeface="Apple SD Gothic Neo"/>
                <a:ea typeface="Apple SD Gothic Neo"/>
              </a:rPr>
              <a:t>•  AI 구간: 인식·비정형 해석. 명시적 로직: 작업·개정 정확 조회, 조건·단위·누락·충돌 검사, 상태 관리, 기록, 전달 (R4). 문서 검색·추가 해석에는 필요에 따라 모델 호출이 포함될 수 있다.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526477"/>
                </a:solidFill>
                <a:latin typeface="Apple SD Gothic Neo"/>
                <a:ea typeface="Apple SD Gothic Neo"/>
              </a:rPr>
              <a:t>•  사용 모델: PP-OCRv6 medium(det·rec), Qwen3-VL-8B-Instruct. 모델명은 사용 사실이며 성능·우위 근거가 아니다. 실제 호출 비중·비용은 미측정.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4000" y="3441599"/>
          <a:ext cx="13870798" cy="1450800"/>
        </p:xfrm>
        <a:graphic>
          <a:graphicData uri="http://schemas.openxmlformats.org/drawingml/2006/table">
            <a:tbl>
              <a:tblPr/>
              <a:tblGrid>
                <a:gridCol w="33739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48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484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01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</a:rPr>
                        <a:t>구간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0025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</a:rPr>
                        <a:t>AI 호출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0025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</a:rPr>
                        <a:t>명시적 소프트웨어 로직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0025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1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입력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—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사진 ↔ 작업 ID·시도 연결, 원본 보존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1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판단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OCR 문자열·점수 / VLM 문자·장면 해석 / 관계 해석 제안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두 판독 비교 규칙, 합의 후보 구성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01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검증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— (문서는 제약으로 적용)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정확 조회, 범위 제한 검색, 누락·단위·충돌 검사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01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전달·기록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—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어댑터 변환, 전송 요청·수신 기록, 상태 어휘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4000" y="7722000"/>
            <a:ext cx="138708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50" b="0">
                <a:solidFill>
                  <a:srgbClr val="687584"/>
                </a:solidFill>
                <a:latin typeface="Apple SD Gothic Neo"/>
                <a:ea typeface="Apple SD Gothic Neo"/>
              </a:rPr>
              <a:t>본문 3·5장 · 근거 E15·E21 · 검토 근거 B02·B06 · 출처 A14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4000" y="270000"/>
            <a:ext cx="720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1">
                <a:solidFill>
                  <a:srgbClr val="00843D"/>
                </a:solidFill>
                <a:latin typeface="Apple SD Gothic Neo"/>
                <a:ea typeface="Apple SD Gothic Neo"/>
              </a:rPr>
              <a:t>별첨 A3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4000" y="486000"/>
            <a:ext cx="13870800" cy="54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>
                <a:solidFill>
                  <a:srgbClr val="002554"/>
                </a:solidFill>
                <a:latin typeface="Apple SD Gothic Neo"/>
                <a:ea typeface="Apple SD Gothic Neo"/>
              </a:rPr>
              <a:t>문서 제약 적용 방식</a:t>
            </a:r>
          </a:p>
        </p:txBody>
      </p:sp>
      <p:sp>
        <p:nvSpPr>
          <p:cNvPr id="4" name="Rectangle 3"/>
          <p:cNvSpPr/>
          <p:nvPr/>
        </p:nvSpPr>
        <p:spPr>
          <a:xfrm>
            <a:off x="684000" y="1134000"/>
            <a:ext cx="792000" cy="32400"/>
          </a:xfrm>
          <a:prstGeom prst="rect">
            <a:avLst/>
          </a:prstGeom>
          <a:solidFill>
            <a:srgbClr val="00843D"/>
          </a:solidFill>
          <a:ln>
            <a:noFill/>
          </a:ln>
          <a:effectLst/>
        </p:spPr>
        <p:txBody>
          <a:bodyPr wrap="square" lIns="54000" tIns="28800" rIns="54000" bIns="28800" rtlCol="0" anchor="t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674800" y="270000"/>
            <a:ext cx="288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1000" b="0">
                <a:solidFill>
                  <a:srgbClr val="687584"/>
                </a:solidFill>
                <a:latin typeface="Apple SD Gothic Neo"/>
                <a:ea typeface="Apple SD Gothic Neo"/>
              </a:rPr>
              <a:t>ContextWeld · Static Duo · A3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4000" y="1512000"/>
            <a:ext cx="13870800" cy="1700099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526477"/>
                </a:solidFill>
                <a:latin typeface="Apple SD Gothic Neo"/>
                <a:ea typeface="Apple SD Gothic Neo"/>
              </a:rPr>
              <a:t>•  작업·개정은 정확 조회(작업 ID·부재 ID·개정). 근거는 작업·개정으로 범위를 제한한 검색 (R3).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526477"/>
                </a:solidFill>
                <a:latin typeface="Apple SD Gothic Neo"/>
                <a:ea typeface="Apple SD Gothic Neo"/>
              </a:rPr>
              <a:t>•  공개 참고 문서 4개를 검색 단위 74개로 구성: TWI 용접기호 해설 60 · LANL WTS 빈 양식 1 · LANL WPS 3501-xxxx-1 2 · Hyundai Robotics arccond 11 [실행]. 문서별 원문 해시와 위치를 보존한다.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526477"/>
                </a:solidFill>
                <a:latin typeface="Apple SD Gothic Neo"/>
                <a:ea typeface="Apple SD Gothic Neo"/>
              </a:rPr>
              <a:t>•  TWI 단위에는 제목·일반 문단도 있어 일반 인덱스의 개정은 미확정(null)이다. 선택한 WPS 필드만 값·단위·개정을 별도 검수했다(검수본 reviewed-wps.v1, LANL WPS 3501-xxxx-1 Rev.1).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526477"/>
                </a:solidFill>
                <a:latin typeface="Apple SD Gothic Neo"/>
                <a:ea typeface="Apple SD Gothic Neo"/>
              </a:rPr>
              <a:t>•  시연용 작업지시·도면은 저장된 판독 문자열 BISB30N-15에 맞춰 프로젝트가 작성한 자료 [모의]. 공개 코퍼스와 별개이며 실물 식별 성능의 근거가 아니다.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526477"/>
                </a:solidFill>
                <a:latin typeface="Apple SD Gothic Neo"/>
                <a:ea typeface="Apple SD Gothic Neo"/>
              </a:rPr>
              <a:t>•  WPS 범위값은 장비 설정값·승인이 아니다. 현장 적용은 별도 검토·승인이 필요하다.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4000" y="7722000"/>
            <a:ext cx="138708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50" b="0">
                <a:solidFill>
                  <a:srgbClr val="687584"/>
                </a:solidFill>
                <a:latin typeface="Apple SD Gothic Neo"/>
                <a:ea typeface="Apple SD Gothic Neo"/>
              </a:rPr>
              <a:t>본문 6장 · 근거 E16·E05 · 검토 근거 B03 인덱스·B04 출처 문서(개발 담당 보관) · 출처 A14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4000" y="270000"/>
            <a:ext cx="720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1">
                <a:solidFill>
                  <a:srgbClr val="00843D"/>
                </a:solidFill>
                <a:latin typeface="Apple SD Gothic Neo"/>
                <a:ea typeface="Apple SD Gothic Neo"/>
              </a:rPr>
              <a:t>별첨 A4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4000" y="486000"/>
            <a:ext cx="13870800" cy="54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>
                <a:solidFill>
                  <a:srgbClr val="002554"/>
                </a:solidFill>
                <a:latin typeface="Apple SD Gothic Neo"/>
                <a:ea typeface="Apple SD Gothic Neo"/>
              </a:rPr>
              <a:t>범위값·승인 플래그·전송/수신 분리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684000" y="1134000"/>
            <a:ext cx="792000" cy="32400"/>
          </a:xfrm>
          <a:prstGeom prst="rect">
            <a:avLst/>
          </a:prstGeom>
          <a:solidFill>
            <a:srgbClr val="00843D"/>
          </a:solidFill>
          <a:ln>
            <a:noFill/>
          </a:ln>
          <a:effectLst/>
        </p:spPr>
        <p:txBody>
          <a:bodyPr wrap="square" lIns="54000" tIns="28800" rIns="54000" bIns="28800" rtlCol="0" anchor="t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674800" y="270000"/>
            <a:ext cx="288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1000" b="0">
                <a:solidFill>
                  <a:srgbClr val="687584"/>
                </a:solidFill>
                <a:latin typeface="Apple SD Gothic Neo"/>
                <a:ea typeface="Apple SD Gothic Neo"/>
              </a:rPr>
              <a:t>ContextWeld · Static Duo · A4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4000" y="1512000"/>
            <a:ext cx="13870800" cy="1700099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526477"/>
                </a:solidFill>
                <a:latin typeface="Apple SD Gothic Neo"/>
                <a:ea typeface="Apple SD Gothic Neo"/>
              </a:rPr>
              <a:t>•  조건 후보 준비 상태(candidate_ready)는 로봇 자동 전달·용접 실행 승인을 뜻하지 않는다.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526477"/>
                </a:solidFill>
                <a:latin typeface="Apple SD Gothic Neo"/>
                <a:ea typeface="Apple SD Gothic Neo"/>
              </a:rPr>
              <a:t>•  범위값에서 설정값을 임의로 생성하지 않고 선택 근거와 승인 경계를 플래그로 유지 (R6). 등록 시연 조건(예: 180 A · 26 V)은 사진에서 읽은 값이 아니라 등록된 시연 조건이다.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526477"/>
                </a:solidFill>
                <a:latin typeface="Apple SD Gothic Neo"/>
                <a:ea typeface="Apple SD Gothic Neo"/>
              </a:rPr>
              <a:t>•  상태 어휘: 후보 → 확정 → 보류 / 전송 요청 → 수신 확인. 보류 작업은 전송 요청이 생성되지 않는다.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526477"/>
                </a:solidFill>
                <a:latin typeface="Apple SD Gothic Neo"/>
                <a:ea typeface="Apple SD Gothic Neo"/>
              </a:rPr>
              <a:t>•  현재: 모의 수신기 HTTP 200 received 1건 [모의](모의 수신기 응답이며 로봇 실행 성공 아님). 등록조건 조회와 현대 Hi6·두산 DRL 입력 변환 미리보기는 구현 보고 [실행 보고, B07·B08]. 실제 제어기 통신·로봇 실행 [후속].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526477"/>
                </a:solidFill>
                <a:latin typeface="Apple SD Gothic Neo"/>
                <a:ea typeface="Apple SD Gothic Neo"/>
              </a:rPr>
              <a:t>•  좌표·궤적은 CAD·3D 센서·기존 설비에서 공급 [후속]. 문자만으로 얻지 않는다.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4000" y="7722000"/>
            <a:ext cx="138708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50" b="0">
                <a:solidFill>
                  <a:srgbClr val="687584"/>
                </a:solidFill>
                <a:latin typeface="Apple SD Gothic Neo"/>
                <a:ea typeface="Apple SD Gothic Neo"/>
              </a:rPr>
              <a:t>본문 7장 · 근거 E16 · 검토 근거 B07 입력 미리보기·B08 변환 확인 기록 · 출처 A14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4000" y="270000"/>
            <a:ext cx="720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1">
                <a:solidFill>
                  <a:srgbClr val="00843D"/>
                </a:solidFill>
                <a:latin typeface="Apple SD Gothic Neo"/>
                <a:ea typeface="Apple SD Gothic Neo"/>
              </a:rPr>
              <a:t>별첨 A5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4000" y="486000"/>
            <a:ext cx="13870800" cy="54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>
                <a:solidFill>
                  <a:srgbClr val="002554"/>
                </a:solidFill>
                <a:latin typeface="Apple SD Gothic Neo"/>
                <a:ea typeface="Apple SD Gothic Neo"/>
              </a:rPr>
              <a:t>RGB 카메라 1대와 시점 변경 관측</a:t>
            </a:r>
          </a:p>
        </p:txBody>
      </p:sp>
      <p:sp>
        <p:nvSpPr>
          <p:cNvPr id="4" name="Rectangle 3"/>
          <p:cNvSpPr/>
          <p:nvPr/>
        </p:nvSpPr>
        <p:spPr>
          <a:xfrm>
            <a:off x="684000" y="1134000"/>
            <a:ext cx="792000" cy="32400"/>
          </a:xfrm>
          <a:prstGeom prst="rect">
            <a:avLst/>
          </a:prstGeom>
          <a:solidFill>
            <a:srgbClr val="00843D"/>
          </a:solidFill>
          <a:ln>
            <a:noFill/>
          </a:ln>
          <a:effectLst/>
        </p:spPr>
        <p:txBody>
          <a:bodyPr wrap="square" lIns="54000" tIns="28800" rIns="54000" bIns="28800" rtlCol="0" anchor="t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674800" y="270000"/>
            <a:ext cx="288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1000" b="0">
                <a:solidFill>
                  <a:srgbClr val="687584"/>
                </a:solidFill>
                <a:latin typeface="Apple SD Gothic Neo"/>
                <a:ea typeface="Apple SD Gothic Neo"/>
              </a:rPr>
              <a:t>ContextWeld · Static Duo · A5</a:t>
            </a:r>
          </a:p>
        </p:txBody>
      </p:sp>
      <p:pic>
        <p:nvPicPr>
          <p:cNvPr id="6" name="Picture 5" descr="shipyard-live-03-A-overview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000" y="1834678"/>
            <a:ext cx="3332700" cy="187464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4000" y="4050000"/>
            <a:ext cx="3332700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000" b="0">
                <a:solidFill>
                  <a:srgbClr val="526477"/>
                </a:solidFill>
                <a:latin typeface="Apple SD Gothic Neo"/>
                <a:ea typeface="Apple SD Gothic Neo"/>
              </a:rPr>
              <a:t>A 전경</a:t>
            </a:r>
          </a:p>
        </p:txBody>
      </p:sp>
      <p:pic>
        <p:nvPicPr>
          <p:cNvPr id="8" name="Picture 7" descr="shipyard-live-03-A-wris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6700" y="1834678"/>
            <a:ext cx="3332700" cy="187464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96700" y="4050000"/>
            <a:ext cx="3332700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000" b="0">
                <a:solidFill>
                  <a:srgbClr val="526477"/>
                </a:solidFill>
                <a:latin typeface="Apple SD Gothic Neo"/>
                <a:ea typeface="Apple SD Gothic Neo"/>
              </a:rPr>
              <a:t>A 손목 카메라</a:t>
            </a:r>
          </a:p>
        </p:txBody>
      </p:sp>
      <p:pic>
        <p:nvPicPr>
          <p:cNvPr id="10" name="Picture 9" descr="shipyard-live-03-B-overview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9400" y="1834678"/>
            <a:ext cx="3332700" cy="187464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09400" y="4050000"/>
            <a:ext cx="3332700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000" b="0">
                <a:solidFill>
                  <a:srgbClr val="526477"/>
                </a:solidFill>
                <a:latin typeface="Apple SD Gothic Neo"/>
                <a:ea typeface="Apple SD Gothic Neo"/>
              </a:rPr>
              <a:t>B 전경</a:t>
            </a:r>
          </a:p>
        </p:txBody>
      </p:sp>
      <p:pic>
        <p:nvPicPr>
          <p:cNvPr id="12" name="Picture 11" descr="shipyard-live-03-B-wrist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22100" y="1834678"/>
            <a:ext cx="3332700" cy="187464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222100" y="4050000"/>
            <a:ext cx="3332700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000" b="0">
                <a:solidFill>
                  <a:srgbClr val="526477"/>
                </a:solidFill>
                <a:latin typeface="Apple SD Gothic Neo"/>
                <a:ea typeface="Apple SD Gothic Neo"/>
              </a:rPr>
              <a:t>B 손목 카메라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4000" y="4338000"/>
            <a:ext cx="13870800" cy="1448999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526477"/>
                </a:solidFill>
                <a:latin typeface="Apple SD Gothic Neo"/>
                <a:ea typeface="Apple SD Gothic Neo"/>
              </a:rPr>
              <a:t>•  수집 장치: 기존 용접로봇 액추에이터에 장착한 RGB 카메라 1대 (D17). 별도 촬영 로봇 구상은 폐기.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526477"/>
                </a:solidFill>
                <a:latin typeface="Apple SD Gothic Neo"/>
                <a:ea typeface="Apple SD Gothic Neo"/>
              </a:rPr>
              <a:t>•  Isaac Sim 장면: 야간 작업등 반사, 수직 3면 강판 지그의 가운데 패널에 수기 표기 BISB30N-15·J01, 손목 카메라 두 시점. Foxglove로 영상 수신 [실행].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526477"/>
                </a:solidFill>
                <a:latin typeface="Apple SD Gothic Neo"/>
                <a:ea typeface="Apple SD Gothic Neo"/>
              </a:rPr>
              <a:t>•  A는 반사가 글자 중앙을 가리고 B는 표기 전체가 보인다(육안 확인 기준). 반사는 렌더링된 빛이며 합성 가림막이 아니다.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526477"/>
                </a:solidFill>
                <a:latin typeface="Apple SD Gothic Neo"/>
                <a:ea typeface="Apple SD Gothic Neo"/>
              </a:rPr>
              <a:t>•  카메라 이동은 사전 지정 순서의 반복. 모델이 A의 판독 실패를 판단해 팔을 움직이거나 B를 판독한 결과가 아니다. 인식 연동 자동 재촬영과 인식·문서 처리 통합은 [후속]. A/B 프레임 OCR 성능 미측정.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4000" y="7722000"/>
            <a:ext cx="138708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50" b="0">
                <a:solidFill>
                  <a:srgbClr val="687584"/>
                </a:solidFill>
                <a:latin typeface="Apple SD Gothic Neo"/>
                <a:ea typeface="Apple SD Gothic Neo"/>
              </a:rPr>
              <a:t>본문 4장 · 근거 E17 · 검토 근거 B09 Isaac 장면 문서 · assets/isaac-shipyard-20261010/README.json에 원본 경로·SHA-256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4000" y="270000"/>
            <a:ext cx="720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1">
                <a:solidFill>
                  <a:srgbClr val="00843D"/>
                </a:solidFill>
                <a:latin typeface="Apple SD Gothic Neo"/>
                <a:ea typeface="Apple SD Gothic Neo"/>
              </a:rPr>
              <a:t>별첨 A6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4000" y="486000"/>
            <a:ext cx="13870800" cy="54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>
                <a:solidFill>
                  <a:srgbClr val="002554"/>
                </a:solidFill>
                <a:latin typeface="Apple SD Gothic Neo"/>
                <a:ea typeface="Apple SD Gothic Neo"/>
              </a:rPr>
              <a:t>근거 검색과 원문 위치 보존</a:t>
            </a:r>
          </a:p>
        </p:txBody>
      </p:sp>
      <p:sp>
        <p:nvSpPr>
          <p:cNvPr id="4" name="Rectangle 3"/>
          <p:cNvSpPr/>
          <p:nvPr/>
        </p:nvSpPr>
        <p:spPr>
          <a:xfrm>
            <a:off x="684000" y="1134000"/>
            <a:ext cx="792000" cy="32400"/>
          </a:xfrm>
          <a:prstGeom prst="rect">
            <a:avLst/>
          </a:prstGeom>
          <a:solidFill>
            <a:srgbClr val="00843D"/>
          </a:solidFill>
          <a:ln>
            <a:noFill/>
          </a:ln>
          <a:effectLst/>
        </p:spPr>
        <p:txBody>
          <a:bodyPr wrap="square" lIns="54000" tIns="28800" rIns="54000" bIns="28800" rtlCol="0" anchor="t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674800" y="270000"/>
            <a:ext cx="288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1000" b="0">
                <a:solidFill>
                  <a:srgbClr val="687584"/>
                </a:solidFill>
                <a:latin typeface="Apple SD Gothic Neo"/>
                <a:ea typeface="Apple SD Gothic Neo"/>
              </a:rPr>
              <a:t>ContextWeld · Static Duo · A6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4000" y="1512000"/>
            <a:ext cx="13870800" cy="1448999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526477"/>
                </a:solidFill>
                <a:latin typeface="Apple SD Gothic Neo"/>
                <a:ea typeface="Apple SD Gothic Neo"/>
              </a:rPr>
              <a:t>•  검색 단위 필드: 문서 ID · 원문 해시 · 페이지/위치 · 본문. 선택 WPS 필드에는 값 · 단위 · 개정 · 표 행/열(검수본).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526477"/>
                </a:solidFill>
                <a:latin typeface="Apple SD Gothic Neo"/>
                <a:ea typeface="Apple SD Gothic Neo"/>
              </a:rPr>
              <a:t>•  흐름: 작업·개정 필터 → 범위 제한 검색(BM25) → 근거를 명세의 값에 붙임 → 검증 규칙이 근거 유무·단위·범위를 검사.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526477"/>
                </a:solidFill>
                <a:latin typeface="Apple SD Gothic Neo"/>
                <a:ea typeface="Apple SD Gothic Neo"/>
              </a:rPr>
              <a:t>•  예시: LANL WPS 3501-xxxx-1(2쪽 PDF) Rev.1 — 선택 조건 필드를 원문 페이지·표 위치와 함께 전사·검수(reviewed-wps.v1). TWI 해설 60단위는 일반 참고 문서이며 정답 목록이 아니다.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526477"/>
                </a:solidFill>
                <a:latin typeface="Apple SD Gothic Neo"/>
                <a:ea typeface="Apple SD Gothic Neo"/>
              </a:rPr>
              <a:t>•  모델이 반환한 문서 인용: PV2 E1 실행 8장에서 0건. 문서 맥락이 관계 해석을 바꾸는지는 E1-R(미실행)에서 확인한다. 현재 '맥락으로 인식이 개선됐다'는 결과는 없다.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4000" y="7722000"/>
            <a:ext cx="138708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50" b="0">
                <a:solidFill>
                  <a:srgbClr val="687584"/>
                </a:solidFill>
                <a:latin typeface="Apple SD Gothic Neo"/>
                <a:ea typeface="Apple SD Gothic Neo"/>
              </a:rPr>
              <a:t>본문 6장 · 근거 E16·E21 · 검토 근거 B03·B04 · 출처 A14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4000" y="270000"/>
            <a:ext cx="720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1">
                <a:solidFill>
                  <a:srgbClr val="00843D"/>
                </a:solidFill>
                <a:latin typeface="Apple SD Gothic Neo"/>
                <a:ea typeface="Apple SD Gothic Neo"/>
              </a:rPr>
              <a:t>별첨 A7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4000" y="486000"/>
            <a:ext cx="13870800" cy="54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>
                <a:solidFill>
                  <a:srgbClr val="002554"/>
                </a:solidFill>
                <a:latin typeface="Apple SD Gothic Neo"/>
                <a:ea typeface="Apple SD Gothic Neo"/>
              </a:rPr>
              <a:t>사람 개입 원칙과 화이트박스 기록</a:t>
            </a:r>
          </a:p>
        </p:txBody>
      </p:sp>
      <p:sp>
        <p:nvSpPr>
          <p:cNvPr id="4" name="Rectangle 3"/>
          <p:cNvSpPr/>
          <p:nvPr/>
        </p:nvSpPr>
        <p:spPr>
          <a:xfrm>
            <a:off x="684000" y="1134000"/>
            <a:ext cx="792000" cy="32400"/>
          </a:xfrm>
          <a:prstGeom prst="rect">
            <a:avLst/>
          </a:prstGeom>
          <a:solidFill>
            <a:srgbClr val="00843D"/>
          </a:solidFill>
          <a:ln>
            <a:noFill/>
          </a:ln>
          <a:effectLst/>
        </p:spPr>
        <p:txBody>
          <a:bodyPr wrap="square" lIns="54000" tIns="28800" rIns="54000" bIns="28800" rtlCol="0" anchor="t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674800" y="270000"/>
            <a:ext cx="288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1000" b="0">
                <a:solidFill>
                  <a:srgbClr val="687584"/>
                </a:solidFill>
                <a:latin typeface="Apple SD Gothic Neo"/>
                <a:ea typeface="Apple SD Gothic Neo"/>
              </a:rPr>
              <a:t>ContextWeld · Static Duo · A7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4000" y="1512000"/>
            <a:ext cx="13870800" cy="1886399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526477"/>
                </a:solidFill>
                <a:latin typeface="Apple SD Gothic Neo"/>
                <a:ea typeface="Apple SD Gothic Neo"/>
              </a:rPr>
              <a:t>•  사람 개입은 원인별 예외 (R7): 관측 부족 → 재촬영 / 의미 모호·누락·충돌 → 작업자 확인·수정·보류 → 명시적 재검토.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526477"/>
                </a:solidFill>
                <a:latin typeface="Apple SD Gothic Neo"/>
                <a:ea typeface="Apple SD Gothic Neo"/>
              </a:rPr>
              <a:t>•  현재 명시적 재검토 [실행]: 저장된 모델 관측을 재사용해 선택한 수정과 문서 규칙을 다시 검사한다(새 모델 호출 0회, 관계 재해석 미수행). 시각 관계의 모델 재해석은 후속 설계다.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526477"/>
                </a:solidFill>
                <a:latin typeface="Apple SD Gothic Neo"/>
                <a:ea typeface="Apple SD Gothic Neo"/>
              </a:rPr>
              <a:t>•  정상 흐름에 매번 사람 승인을 두지 않는다. 보류 작업은 자동으로 후속 처리되지 않는다.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526477"/>
                </a:solidFill>
                <a:latin typeface="Apple SD Gothic Neo"/>
                <a:ea typeface="Apple SD Gothic Neo"/>
              </a:rPr>
              <a:t>•  기록 스키마(같은 작업 단위): 원본 사진 · 모델 출력 · 문서 근거 · 검사 결과 · 제안 조치 / 수행 조치 · 수정(원본과 별도 행) · 전송 요청 · 수신 응답 (R5).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526477"/>
                </a:solidFill>
                <a:latin typeface="Apple SD Gothic Neo"/>
                <a:ea typeface="Apple SD Gothic Neo"/>
              </a:rPr>
              <a:t>•  화이트박스 = 저장된 입력·출력·근거·규칙·행동·상태의 추적 가능성. 모델 내부 사고의 복원이 아니다. 작업자 수정은 별도 저장·이력이며 모델을 바꾸지 않는다. 이력 반영 정책은 미결정(D08).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4000" y="7722000"/>
            <a:ext cx="138708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50" b="0">
                <a:solidFill>
                  <a:srgbClr val="687584"/>
                </a:solidFill>
                <a:latin typeface="Apple SD Gothic Neo"/>
                <a:ea typeface="Apple SD Gothic Neo"/>
              </a:rPr>
              <a:t>본문 3·8·10장 · 규칙 R5·R7 · 검토 근거 B05 재검토 문서 · 출처 A14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4000" y="270000"/>
            <a:ext cx="720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1">
                <a:solidFill>
                  <a:srgbClr val="00843D"/>
                </a:solidFill>
                <a:latin typeface="Apple SD Gothic Neo"/>
                <a:ea typeface="Apple SD Gothic Neo"/>
              </a:rPr>
              <a:t>별첨 A8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4000" y="486000"/>
            <a:ext cx="13870800" cy="374906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 dirty="0" err="1">
                <a:solidFill>
                  <a:srgbClr val="002554"/>
                </a:solidFill>
                <a:latin typeface="Apple SD Gothic Neo"/>
                <a:ea typeface="Apple SD Gothic Neo"/>
              </a:rPr>
              <a:t>오프라인</a:t>
            </a:r>
            <a:r>
              <a:rPr sz="2200" b="1" dirty="0">
                <a:solidFill>
                  <a:srgbClr val="002554"/>
                </a:solidFill>
                <a:latin typeface="Apple SD Gothic Neo"/>
                <a:ea typeface="Apple SD Gothic Neo"/>
              </a:rPr>
              <a:t> </a:t>
            </a:r>
            <a:r>
              <a:rPr sz="2200" b="1" dirty="0" err="1">
                <a:solidFill>
                  <a:srgbClr val="002554"/>
                </a:solidFill>
                <a:latin typeface="Apple SD Gothic Neo"/>
                <a:ea typeface="Apple SD Gothic Neo"/>
              </a:rPr>
              <a:t>조회</a:t>
            </a:r>
            <a:r>
              <a:rPr sz="2200" b="1" dirty="0">
                <a:solidFill>
                  <a:srgbClr val="002554"/>
                </a:solidFill>
                <a:latin typeface="Apple SD Gothic Neo"/>
                <a:ea typeface="Apple SD Gothic Neo"/>
              </a:rPr>
              <a:t> </a:t>
            </a:r>
            <a:r>
              <a:rPr sz="2200" b="1" dirty="0" err="1">
                <a:solidFill>
                  <a:srgbClr val="002554"/>
                </a:solidFill>
                <a:latin typeface="Apple SD Gothic Neo"/>
                <a:ea typeface="Apple SD Gothic Neo"/>
              </a:rPr>
              <a:t>화면</a:t>
            </a:r>
            <a:r>
              <a:rPr sz="2200" b="1" dirty="0">
                <a:solidFill>
                  <a:srgbClr val="002554"/>
                </a:solidFill>
                <a:latin typeface="Apple SD Gothic Neo"/>
                <a:ea typeface="Apple SD Gothic Neo"/>
              </a:rPr>
              <a:t> (</a:t>
            </a:r>
            <a:r>
              <a:rPr lang="ko-KR" altLang="en-US" sz="2200" b="1" dirty="0">
                <a:solidFill>
                  <a:srgbClr val="002554"/>
                </a:solidFill>
                <a:latin typeface="Apple SD Gothic Neo"/>
                <a:ea typeface="Apple SD Gothic Neo"/>
              </a:rPr>
              <a:t>지난 작업에 대한 과정 적재</a:t>
            </a:r>
            <a:r>
              <a:rPr sz="2200" b="1" dirty="0">
                <a:solidFill>
                  <a:srgbClr val="002554"/>
                </a:solidFill>
                <a:latin typeface="Apple SD Gothic Neo"/>
                <a:ea typeface="Apple SD Gothic Neo"/>
              </a:rPr>
              <a:t>)</a:t>
            </a:r>
          </a:p>
        </p:txBody>
      </p:sp>
      <p:sp>
        <p:nvSpPr>
          <p:cNvPr id="4" name="Rectangle 3"/>
          <p:cNvSpPr/>
          <p:nvPr/>
        </p:nvSpPr>
        <p:spPr>
          <a:xfrm>
            <a:off x="684000" y="1134000"/>
            <a:ext cx="792000" cy="32400"/>
          </a:xfrm>
          <a:prstGeom prst="rect">
            <a:avLst/>
          </a:prstGeom>
          <a:solidFill>
            <a:srgbClr val="00843D"/>
          </a:solidFill>
          <a:ln>
            <a:noFill/>
          </a:ln>
          <a:effectLst/>
        </p:spPr>
        <p:txBody>
          <a:bodyPr wrap="square" lIns="54000" tIns="28800" rIns="54000" bIns="28800" rtlCol="0" anchor="t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674800" y="270000"/>
            <a:ext cx="288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1000" b="0">
                <a:solidFill>
                  <a:srgbClr val="687584"/>
                </a:solidFill>
                <a:latin typeface="Apple SD Gothic Neo"/>
                <a:ea typeface="Apple SD Gothic Neo"/>
              </a:rPr>
              <a:t>ContextWeld · Static Duo · A8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4000" y="7722000"/>
            <a:ext cx="13870800" cy="197934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50" b="0" dirty="0" err="1">
                <a:solidFill>
                  <a:srgbClr val="687584"/>
                </a:solidFill>
                <a:latin typeface="Apple SD Gothic Neo"/>
                <a:ea typeface="Apple SD Gothic Neo"/>
              </a:rPr>
              <a:t>본문</a:t>
            </a:r>
            <a:r>
              <a:rPr sz="1050" b="0" dirty="0">
                <a:solidFill>
                  <a:srgbClr val="687584"/>
                </a:solidFill>
                <a:latin typeface="Apple SD Gothic Neo"/>
                <a:ea typeface="Apple SD Gothic Neo"/>
              </a:rPr>
              <a:t> 8장 · </a:t>
            </a:r>
            <a:r>
              <a:rPr sz="1050" b="0" dirty="0" err="1">
                <a:solidFill>
                  <a:srgbClr val="687584"/>
                </a:solidFill>
                <a:latin typeface="Apple SD Gothic Neo"/>
                <a:ea typeface="Apple SD Gothic Neo"/>
              </a:rPr>
              <a:t>근거</a:t>
            </a:r>
            <a:r>
              <a:rPr sz="1050" b="0" dirty="0">
                <a:solidFill>
                  <a:srgbClr val="687584"/>
                </a:solidFill>
                <a:latin typeface="Apple SD Gothic Neo"/>
                <a:ea typeface="Apple SD Gothic Neo"/>
              </a:rPr>
              <a:t> E18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14A52C47-DA5A-841F-5910-55E87CDDD5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124" y="2045735"/>
            <a:ext cx="4310940" cy="2329419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CB8E8B5-C5CB-8C2B-C5B8-EB70176CC0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4282" y="2045735"/>
            <a:ext cx="4310940" cy="2329419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F73CF29A-D225-5A4E-EBAC-0921D17293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123" y="4516158"/>
            <a:ext cx="4310939" cy="2327265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48465F48-7196-1E4D-74BC-2E8A6D3BA4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4281" y="4516158"/>
            <a:ext cx="4310939" cy="2327265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C27F31D5-4F59-F9F3-8565-AEB826F524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94438" y="2044976"/>
            <a:ext cx="4310938" cy="2330782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4A6DC616-201A-110A-6441-101857A65AF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94438" y="4516157"/>
            <a:ext cx="4360724" cy="2327266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4000" y="270000"/>
            <a:ext cx="720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1">
                <a:solidFill>
                  <a:srgbClr val="00843D"/>
                </a:solidFill>
                <a:latin typeface="Apple SD Gothic Neo"/>
                <a:ea typeface="Apple SD Gothic Neo"/>
              </a:rPr>
              <a:t>별첨 A9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4000" y="486000"/>
            <a:ext cx="13870800" cy="54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>
                <a:solidFill>
                  <a:srgbClr val="002554"/>
                </a:solidFill>
                <a:latin typeface="Apple SD Gothic Neo"/>
                <a:ea typeface="Apple SD Gothic Neo"/>
              </a:rPr>
              <a:t>실행 근거 요약 (팀원 보고 · 이 세션에서 재실행하지 않음)</a:t>
            </a:r>
          </a:p>
        </p:txBody>
      </p:sp>
      <p:sp>
        <p:nvSpPr>
          <p:cNvPr id="4" name="Rectangle 3"/>
          <p:cNvSpPr/>
          <p:nvPr/>
        </p:nvSpPr>
        <p:spPr>
          <a:xfrm>
            <a:off x="684000" y="1134000"/>
            <a:ext cx="792000" cy="32400"/>
          </a:xfrm>
          <a:prstGeom prst="rect">
            <a:avLst/>
          </a:prstGeom>
          <a:solidFill>
            <a:srgbClr val="00843D"/>
          </a:solidFill>
          <a:ln>
            <a:noFill/>
          </a:ln>
          <a:effectLst/>
        </p:spPr>
        <p:txBody>
          <a:bodyPr wrap="square" lIns="54000" tIns="28800" rIns="54000" bIns="28800" rtlCol="0" anchor="t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674800" y="270000"/>
            <a:ext cx="288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1000" b="0">
                <a:solidFill>
                  <a:srgbClr val="687584"/>
                </a:solidFill>
                <a:latin typeface="Apple SD Gothic Neo"/>
                <a:ea typeface="Apple SD Gothic Neo"/>
              </a:rPr>
              <a:t>ContextWeld · Static Duo · A9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4000" y="1512000"/>
          <a:ext cx="13870798" cy="2902170"/>
        </p:xfrm>
        <a:graphic>
          <a:graphicData uri="http://schemas.openxmlformats.org/drawingml/2006/table">
            <a:tbl>
              <a:tblPr/>
              <a:tblGrid>
                <a:gridCol w="21901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053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51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02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847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</a:rPr>
                        <a:t>항목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0025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</a:rPr>
                        <a:t>내용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0025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</a:rPr>
                        <a:t>태그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0025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</a:rPr>
                        <a:t>읽는 범위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0025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47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공개 사진 판독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공개 철골 사진 10장 OCR·VLM 실행, VLM 20회 형식 저장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[실행]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정확도·정답률 주장 불가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47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문서 처리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공개 참고 문서 4개 → 검색 단위 74개(TWI 60·WTS 1·WPS 2·arccond 11), 원문 해시·위치 보존, 선택 WPS 필드 검수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[실행]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시연 작업지시·도면은 자체 작성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47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문서 데모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저장된 공개 사진 관측(문자 합의 후보)을 읽어 문서 검토 → 정상 1건 모의 수신, 보류 4건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[실행·모의]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연속 실행 아님 · 실물 인식 성공 아님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47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재검토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run_review-20261010-voltage-01 → voltage-deliver-01, 수정 3건 demo_fixture, 새 모델 호출 0회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[실행]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문서 규칙 재검토 · 사람 검수 아님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47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시뮬레이션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Isaac A/B 반사, Foxglove 수신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[실행]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사전 지정 이동 · 육안 확인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847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판정 비교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공개 사진 8장 OCR/VLM/합의 (A10)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[실행]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건수 · 현장 정확도 아님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847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대시보드·변환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로컬 조회·재생, 등록조건, 현대 Hi6·두산 DRL 변환 미리보기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[실행 보고]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자동 적재·제어기 전송 [후속]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4000" y="7722000"/>
            <a:ext cx="138708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50" b="0">
                <a:solidFill>
                  <a:srgbClr val="687584"/>
                </a:solidFill>
                <a:latin typeface="Apple SD Gothic Neo"/>
                <a:ea typeface="Apple SD Gothic Neo"/>
              </a:rPr>
              <a:t>이 세션에서 재실행하지 않음 · 근거 E15~E22 · 검토 근거 B02~B08(개발 담당 보관) · 출처 A14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C6F764-B6B1-4617-A2C7-0531D03A8360}"/>
              </a:ext>
            </a:extLst>
          </p:cNvPr>
          <p:cNvSpPr>
            <a:spLocks noGrp="1"/>
          </p:cNvSpPr>
          <p:nvPr/>
        </p:nvSpPr>
        <p:spPr>
          <a:xfrm>
            <a:off x="684000" y="270000"/>
            <a:ext cx="720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00843D"/>
                </a:solidFill>
                <a:latin typeface="Apple SD Gothic Neo"/>
                <a:ea typeface="Apple SD Gothic Neo"/>
                <a:cs typeface="Apple SD Gothic Neo"/>
              </a:rPr>
              <a:t>별첨 A10-1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F1C316-6C20-4F08-8261-94A0FEA581F1}"/>
              </a:ext>
            </a:extLst>
          </p:cNvPr>
          <p:cNvSpPr>
            <a:spLocks noGrp="1"/>
          </p:cNvSpPr>
          <p:nvPr/>
        </p:nvSpPr>
        <p:spPr>
          <a:xfrm>
            <a:off x="684000" y="486000"/>
            <a:ext cx="13870800" cy="3712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buNone/>
            </a:pPr>
            <a:r>
              <a:rPr sz="2200" b="1">
                <a:solidFill>
                  <a:srgbClr val="002554"/>
                </a:solidFill>
                <a:latin typeface="Apple SD Gothic Neo"/>
                <a:ea typeface="Apple SD Gothic Neo"/>
                <a:cs typeface="Apple SD Gothic Neo"/>
              </a:rPr>
              <a:t>PV2 E1: 새 사진 8장의 실제 판독 결과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F5E5CD-C198-4078-A83B-BDAD06A22801}"/>
              </a:ext>
            </a:extLst>
          </p:cNvPr>
          <p:cNvSpPr>
            <a:spLocks noGrp="1"/>
          </p:cNvSpPr>
          <p:nvPr/>
        </p:nvSpPr>
        <p:spPr>
          <a:xfrm>
            <a:off x="684000" y="1134000"/>
            <a:ext cx="792000" cy="32400"/>
          </a:xfrm>
          <a:prstGeom prst="rect">
            <a:avLst/>
          </a:prstGeom>
          <a:solidFill>
            <a:srgbClr val="00843D"/>
          </a:solidFill>
          <a:ln>
            <a:noFill/>
          </a:ln>
        </p:spPr>
        <p:txBody>
          <a:bodyPr wrap="square" lIns="54000" tIns="28800" rIns="54000" bIns="28800" anchor="t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02B7F9-5959-4211-901B-30015A08B709}"/>
              </a:ext>
            </a:extLst>
          </p:cNvPr>
          <p:cNvSpPr>
            <a:spLocks noGrp="1"/>
          </p:cNvSpPr>
          <p:nvPr/>
        </p:nvSpPr>
        <p:spPr>
          <a:xfrm>
            <a:off x="11674800" y="270000"/>
            <a:ext cx="288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>
              <a:buNone/>
            </a:pPr>
            <a:r>
              <a:rPr sz="1000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rPr>
              <a:t>ContextWeld · Static Duo · A10-1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97B85E2-1160-4B42-925D-EDC66F2B5E9D}"/>
              </a:ext>
            </a:extLst>
          </p:cNvPr>
          <p:cNvGraphicFramePr/>
          <p:nvPr/>
        </p:nvGraphicFramePr>
        <p:xfrm>
          <a:off x="683990" y="2619375"/>
          <a:ext cx="13870800" cy="1160640"/>
        </p:xfrm>
        <a:graphic>
          <a:graphicData uri="http://schemas.openxmlformats.org/drawingml/2006/table">
            <a:tbl>
              <a:tblPr/>
              <a:tblGrid>
                <a:gridCol w="369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4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4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11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11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01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판정 방식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0025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올바른 ID 확정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0025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잘못된 ID 확정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0025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보류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0025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합계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0025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1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OCR 단독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5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8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1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VLM 단독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8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01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OCR·VLM 합의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8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8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FB45FC2-53AE-4B20-AA05-6E55E249D87C}"/>
              </a:ext>
            </a:extLst>
          </p:cNvPr>
          <p:cNvSpPr>
            <a:spLocks noGrp="1"/>
          </p:cNvSpPr>
          <p:nvPr/>
        </p:nvSpPr>
        <p:spPr>
          <a:xfrm>
            <a:off x="684000" y="7722000"/>
            <a:ext cx="13870800" cy="1960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buNone/>
            </a:pPr>
            <a:r>
              <a:rPr sz="1050" b="0">
                <a:solidFill>
                  <a:srgbClr val="687584"/>
                </a:solidFill>
                <a:latin typeface="Apple SD Gothic Neo"/>
                <a:ea typeface="Apple SD Gothic Neo"/>
                <a:cs typeface="Apple SD Gothic Neo"/>
              </a:rPr>
              <a:t>출처: PV2_EXPERIMENT_RESULTS_2026-10-10.md 2절 · ‘확정’은 부재 ID 비교 규칙의 결과 · 기존 7장 저장 출력 재분석은 새 8장과 별도</a:t>
            </a:r>
          </a:p>
        </p:txBody>
      </p:sp>
      <p:sp>
        <p:nvSpPr>
          <p:cNvPr id="10" name="문서 전체 결과 해석">
            <a:extLst>
              <a:ext uri="{FF2B5EF4-FFF2-40B4-BE49-F238E27FC236}">
                <a16:creationId xmlns:a16="http://schemas.microsoft.com/office/drawing/2014/main" id="{FF6E718A-DD8A-4590-99D8-585646911E31}"/>
              </a:ext>
            </a:extLst>
          </p:cNvPr>
          <p:cNvSpPr>
            <a:spLocks noGrp="1"/>
          </p:cNvSpPr>
          <p:nvPr/>
        </p:nvSpPr>
        <p:spPr>
          <a:xfrm>
            <a:off x="683990" y="1495425"/>
            <a:ext cx="13870781" cy="100012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/>
          <a:lstStyle>
            <a:defPPr>
              <a:defRPr sz="135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>
              <a:defRPr sz="135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rPr>
              <a:t>같은 8장의 실제 판독 출력에 OCR 단독·VLM 단독·합의 방식을 적용했다.</a:t>
            </a:r>
          </a:p>
          <a:p>
            <a:pPr>
              <a:defRPr sz="135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rPr>
              <a:t>합의 방식은 불일치나 다른 판독기의 지지 부족으로 8장 모두 보류했다. 자동 확정은 0건이다.</a:t>
            </a:r>
          </a:p>
          <a:p>
            <a:pPr>
              <a:defRPr sz="135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rPr>
              <a:t>보류 8장 중 4장은 두 판독 문자열을 모으면 정답이 있었다. 시스템이 정답을 선택해 해결한 건수는 아니다.</a:t>
            </a:r>
          </a:p>
        </p:txBody>
      </p:sp>
      <p:sp>
        <p:nvSpPr>
          <p:cNvPr id="11" name="사진별 판독 결과 제목">
            <a:extLst>
              <a:ext uri="{FF2B5EF4-FFF2-40B4-BE49-F238E27FC236}">
                <a16:creationId xmlns:a16="http://schemas.microsoft.com/office/drawing/2014/main" id="{A6B2B8D7-C239-4A61-930A-1162339BC0E8}"/>
              </a:ext>
            </a:extLst>
          </p:cNvPr>
          <p:cNvSpPr>
            <a:spLocks noGrp="1"/>
          </p:cNvSpPr>
          <p:nvPr/>
        </p:nvSpPr>
        <p:spPr>
          <a:xfrm>
            <a:off x="683990" y="4048125"/>
            <a:ext cx="13870781" cy="27622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/>
          <a:lstStyle>
            <a:defPPr>
              <a:defRPr sz="1275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>
              <a:defRPr sz="1275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rPr>
              <a:t>사진별 판독 결과 (문서 2절의 표)</a:t>
            </a: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FC81B354-342A-4397-B8CB-864B73E33292}"/>
              </a:ext>
            </a:extLst>
          </p:cNvPr>
          <p:cNvGraphicFramePr/>
          <p:nvPr/>
        </p:nvGraphicFramePr>
        <p:xfrm>
          <a:off x="683990" y="4391025"/>
          <a:ext cx="13870781" cy="2381251"/>
        </p:xfrm>
        <a:graphic>
          <a:graphicData uri="http://schemas.openxmlformats.org/drawingml/2006/table">
            <a:tbl>
              <a:tblPr/>
              <a:tblGrid>
                <a:gridCol w="1047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4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4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14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791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527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사진 ID</a:t>
                      </a:r>
                    </a:p>
                  </a:txBody>
                  <a:tcPr marL="76200" marR="76200" marT="19050" marB="19050">
                    <a:solidFill>
                      <a:srgbClr val="0025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정답 라벨</a:t>
                      </a:r>
                    </a:p>
                  </a:txBody>
                  <a:tcPr marL="76200" marR="76200" marT="19050" marB="19050">
                    <a:solidFill>
                      <a:srgbClr val="0025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OCR 판독</a:t>
                      </a:r>
                    </a:p>
                  </a:txBody>
                  <a:tcPr marL="76200" marR="76200" marT="19050" marB="19050">
                    <a:solidFill>
                      <a:srgbClr val="0025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VLM 판독</a:t>
                      </a:r>
                    </a:p>
                  </a:txBody>
                  <a:tcPr marL="76200" marR="76200" marT="19050" marB="19050">
                    <a:solidFill>
                      <a:srgbClr val="0025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합의 방식의 보류 사유</a:t>
                      </a:r>
                    </a:p>
                  </a:txBody>
                  <a:tcPr marL="76200" marR="76200" marT="19050" marB="19050">
                    <a:solidFill>
                      <a:srgbClr val="0025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747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004</a:t>
                      </a:r>
                    </a:p>
                  </a:txBody>
                  <a:tcPr marL="76200" marR="762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B1SB30N-8</a:t>
                      </a:r>
                    </a:p>
                  </a:txBody>
                  <a:tcPr marL="76200" marR="762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BISBON-8</a:t>
                      </a:r>
                    </a:p>
                  </a:txBody>
                  <a:tcPr marL="76200" marR="762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BISB30N-8</a:t>
                      </a:r>
                    </a:p>
                  </a:txBody>
                  <a:tcPr marL="76200" marR="762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서로 다른 문자열</a:t>
                      </a:r>
                    </a:p>
                  </a:txBody>
                  <a:tcPr marL="76200" marR="76200" marT="19050" marB="1905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747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009</a:t>
                      </a:r>
                    </a:p>
                  </a:txBody>
                  <a:tcPr marL="76200" marR="76200" marT="19050" marB="1905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B1SB40N-23</a:t>
                      </a:r>
                    </a:p>
                  </a:txBody>
                  <a:tcPr marL="76200" marR="76200" marT="19050" marB="1905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B1IS-2</a:t>
                      </a:r>
                    </a:p>
                  </a:txBody>
                  <a:tcPr marL="76200" marR="76200" marT="19050" marB="1905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B1SB40N-23</a:t>
                      </a:r>
                    </a:p>
                  </a:txBody>
                  <a:tcPr marL="76200" marR="76200" marT="19050" marB="1905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서로 다른 문자열</a:t>
                      </a:r>
                    </a:p>
                  </a:txBody>
                  <a:tcPr marL="76200" marR="76200" marT="19050" marB="19050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747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010</a:t>
                      </a:r>
                    </a:p>
                  </a:txBody>
                  <a:tcPr marL="76200" marR="762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B1SB30N-37A</a:t>
                      </a:r>
                    </a:p>
                  </a:txBody>
                  <a:tcPr marL="76200" marR="762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BI563N-37A</a:t>
                      </a:r>
                    </a:p>
                  </a:txBody>
                  <a:tcPr marL="76200" marR="762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없음</a:t>
                      </a:r>
                    </a:p>
                  </a:txBody>
                  <a:tcPr marL="76200" marR="762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VLM의 문자 지지 없음</a:t>
                      </a:r>
                    </a:p>
                  </a:txBody>
                  <a:tcPr marL="76200" marR="76200" marT="19050" marB="1905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747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034</a:t>
                      </a:r>
                    </a:p>
                  </a:txBody>
                  <a:tcPr marL="76200" marR="76200" marT="19050" marB="1905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B1SB30N-37A</a:t>
                      </a:r>
                    </a:p>
                  </a:txBody>
                  <a:tcPr marL="76200" marR="76200" marT="19050" marB="1905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BI53N-37A</a:t>
                      </a:r>
                    </a:p>
                  </a:txBody>
                  <a:tcPr marL="76200" marR="76200" marT="19050" marB="1905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없음</a:t>
                      </a:r>
                    </a:p>
                  </a:txBody>
                  <a:tcPr marL="76200" marR="76200" marT="19050" marB="1905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VLM의 문자 지지 없음</a:t>
                      </a:r>
                    </a:p>
                  </a:txBody>
                  <a:tcPr marL="76200" marR="76200" marT="19050" marB="19050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0747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052</a:t>
                      </a:r>
                    </a:p>
                  </a:txBody>
                  <a:tcPr marL="76200" marR="762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M5SB24-16</a:t>
                      </a:r>
                    </a:p>
                  </a:txBody>
                  <a:tcPr marL="76200" marR="762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M55624-16</a:t>
                      </a:r>
                    </a:p>
                  </a:txBody>
                  <a:tcPr marL="76200" marR="762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M5SB24-16</a:t>
                      </a:r>
                    </a:p>
                  </a:txBody>
                  <a:tcPr marL="76200" marR="762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서로 다른 문자열</a:t>
                      </a:r>
                    </a:p>
                  </a:txBody>
                  <a:tcPr marL="76200" marR="76200" marT="19050" marB="1905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0747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053</a:t>
                      </a:r>
                    </a:p>
                  </a:txBody>
                  <a:tcPr marL="76200" marR="76200" marT="19050" marB="1905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B1SB30N-16</a:t>
                      </a:r>
                    </a:p>
                  </a:txBody>
                  <a:tcPr marL="76200" marR="76200" marT="19050" marB="1905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B1SB30N-16</a:t>
                      </a:r>
                    </a:p>
                  </a:txBody>
                  <a:tcPr marL="76200" marR="76200" marT="19050" marB="1905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없음</a:t>
                      </a:r>
                    </a:p>
                  </a:txBody>
                  <a:tcPr marL="76200" marR="76200" marT="19050" marB="1905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VLM의 문자 지지 없음</a:t>
                      </a:r>
                    </a:p>
                  </a:txBody>
                  <a:tcPr marL="76200" marR="76200" marT="19050" marB="19050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0747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057</a:t>
                      </a:r>
                    </a:p>
                  </a:txBody>
                  <a:tcPr marL="76200" marR="762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B1SB40N-45</a:t>
                      </a:r>
                    </a:p>
                  </a:txBody>
                  <a:tcPr marL="76200" marR="762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없음</a:t>
                      </a:r>
                    </a:p>
                  </a:txBody>
                  <a:tcPr marL="76200" marR="762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B-1000</a:t>
                      </a:r>
                    </a:p>
                  </a:txBody>
                  <a:tcPr marL="76200" marR="762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교차확인할 표기 근거 부족</a:t>
                      </a:r>
                    </a:p>
                  </a:txBody>
                  <a:tcPr marL="76200" marR="76200" marT="19050" marB="1905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0747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065</a:t>
                      </a:r>
                    </a:p>
                  </a:txBody>
                  <a:tcPr marL="76200" marR="76200" marT="19050" marB="1905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B1SB30N-23</a:t>
                      </a:r>
                    </a:p>
                  </a:txBody>
                  <a:tcPr marL="76200" marR="76200" marT="19050" marB="1905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B1SB30N-23</a:t>
                      </a:r>
                    </a:p>
                  </a:txBody>
                  <a:tcPr marL="76200" marR="76200" marT="19050" marB="1905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없음</a:t>
                      </a:r>
                    </a:p>
                  </a:txBody>
                  <a:tcPr marL="76200" marR="76200" marT="19050" marB="1905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 dirty="0" err="1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VLM의</a:t>
                      </a:r>
                      <a:r>
                        <a:rPr sz="1125" b="0" dirty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 </a:t>
                      </a:r>
                      <a:r>
                        <a:rPr sz="1125" b="0" dirty="0" err="1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문자</a:t>
                      </a:r>
                      <a:r>
                        <a:rPr sz="1125" b="0" dirty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 </a:t>
                      </a:r>
                      <a:r>
                        <a:rPr sz="1125" b="0" dirty="0" err="1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지지</a:t>
                      </a:r>
                      <a:r>
                        <a:rPr sz="1125" b="0" dirty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 </a:t>
                      </a:r>
                      <a:r>
                        <a:rPr sz="1125" b="0" dirty="0" err="1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없음</a:t>
                      </a:r>
                      <a:endParaRPr sz="1125" b="0" dirty="0">
                        <a:solidFill>
                          <a:srgbClr val="526477"/>
                        </a:solidFill>
                        <a:latin typeface="Apple SD Gothic Neo"/>
                        <a:ea typeface="Apple SD Gothic Neo"/>
                        <a:cs typeface="Apple SD Gothic Neo"/>
                      </a:endParaRPr>
                    </a:p>
                  </a:txBody>
                  <a:tcPr marL="76200" marR="76200" marT="19050" marB="19050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3" name="데이터와 모델 각주">
            <a:extLst>
              <a:ext uri="{FF2B5EF4-FFF2-40B4-BE49-F238E27FC236}">
                <a16:creationId xmlns:a16="http://schemas.microsoft.com/office/drawing/2014/main" id="{3F52BDCE-CDE4-4FD8-A8F6-DF8E675839E5}"/>
              </a:ext>
            </a:extLst>
          </p:cNvPr>
          <p:cNvSpPr>
            <a:spLocks noGrp="1"/>
          </p:cNvSpPr>
          <p:nvPr/>
        </p:nvSpPr>
        <p:spPr>
          <a:xfrm>
            <a:off x="683990" y="7096125"/>
            <a:ext cx="13870781" cy="5334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/>
          <a:lstStyle>
            <a:defPPr>
              <a:defRPr sz="105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>
            <a:pPr>
              <a:defRPr sz="105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rPr>
              <a:t>¹ 데이터: Hugging Face iput-tk230215의 Steel OCR Dataset 960. 실제 철골 수기 코드 사진 226장 중 기존 미사용 검증 분할의 단일 코드 8장. 정답 라벨은 평가 비교에만 사용.</a:t>
            </a:r>
          </a:p>
          <a:p>
            <a:pPr>
              <a:defRPr sz="105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>
                <a:solidFill>
                  <a:srgbClr val="526477"/>
                </a:solidFill>
                <a:latin typeface="Apple SD Gothic Neo"/>
                <a:ea typeface="Apple SD Gothic Neo"/>
                <a:cs typeface="Apple SD Gothic Neo"/>
              </a:rPr>
              <a:t>² 모델: PP-OCRv6 medium(PaddlePaddle)은 문자 검출·인식용 OCR, Qwen3-VL-8B-Instruct(Qwen)는 독립 시각 판독용 VLM. 이번 8장에는 Isaac 합성 장면을 포함하지 않았다.</a:t>
            </a:r>
          </a:p>
        </p:txBody>
      </p:sp>
    </p:spTree>
    <p:extLst>
      <p:ext uri="{BB962C8B-B14F-4D97-AF65-F5344CB8AC3E}">
        <p14:creationId xmlns:p14="http://schemas.microsoft.com/office/powerpoint/2010/main" val="9388112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4000" y="270000"/>
            <a:ext cx="720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1">
                <a:solidFill>
                  <a:srgbClr val="00843D"/>
                </a:solidFill>
                <a:latin typeface="Apple SD Gothic Neo"/>
                <a:ea typeface="Apple SD Gothic Neo"/>
              </a:rPr>
              <a:t>별첨 A10-2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4000" y="486000"/>
            <a:ext cx="13870800" cy="54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>
                <a:solidFill>
                  <a:srgbClr val="002554"/>
                </a:solidFill>
                <a:latin typeface="Apple SD Gothic Neo"/>
                <a:ea typeface="Apple SD Gothic Neo"/>
              </a:rPr>
              <a:t>PV2 E1 — 사례와 반례</a:t>
            </a:r>
          </a:p>
        </p:txBody>
      </p:sp>
      <p:sp>
        <p:nvSpPr>
          <p:cNvPr id="4" name="Rectangle 3"/>
          <p:cNvSpPr/>
          <p:nvPr/>
        </p:nvSpPr>
        <p:spPr>
          <a:xfrm>
            <a:off x="684000" y="1134000"/>
            <a:ext cx="792000" cy="32400"/>
          </a:xfrm>
          <a:prstGeom prst="rect">
            <a:avLst/>
          </a:prstGeom>
          <a:solidFill>
            <a:srgbClr val="00843D"/>
          </a:solidFill>
          <a:ln>
            <a:noFill/>
          </a:ln>
          <a:effectLst/>
        </p:spPr>
        <p:txBody>
          <a:bodyPr wrap="square" lIns="54000" tIns="28800" rIns="54000" bIns="28800" rtlCol="0" anchor="t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674800" y="270000"/>
            <a:ext cx="288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1000" b="0">
                <a:solidFill>
                  <a:srgbClr val="687584"/>
                </a:solidFill>
                <a:latin typeface="Apple SD Gothic Neo"/>
                <a:ea typeface="Apple SD Gothic Neo"/>
              </a:rPr>
              <a:t>ContextWeld · Static Duo · A10-2</a:t>
            </a:r>
          </a:p>
        </p:txBody>
      </p:sp>
      <p:pic>
        <p:nvPicPr>
          <p:cNvPr id="6" name="Picture 5" descr="pv2-img-05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2700" y="1512000"/>
            <a:ext cx="3648000" cy="273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4000" y="4266000"/>
            <a:ext cx="6845400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000" b="0">
                <a:solidFill>
                  <a:srgbClr val="526477"/>
                </a:solidFill>
                <a:latin typeface="Apple SD Gothic Neo"/>
                <a:ea typeface="Apple SD Gothic Neo"/>
              </a:rPr>
              <a:t>사례 A · 사진 052 · 높은 OCR 점수에도 오독</a:t>
            </a:r>
          </a:p>
        </p:txBody>
      </p:sp>
      <p:pic>
        <p:nvPicPr>
          <p:cNvPr id="8" name="Picture 7" descr="pv2-img-00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6100" y="1512000"/>
            <a:ext cx="2052000" cy="2736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09400" y="4266000"/>
            <a:ext cx="6845400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000" b="0">
                <a:solidFill>
                  <a:srgbClr val="526477"/>
                </a:solidFill>
                <a:latin typeface="Apple SD Gothic Neo"/>
                <a:ea typeface="Apple SD Gothic Neo"/>
              </a:rPr>
              <a:t>사례 B · 사진 004 · 두 판독이 서로 다른 오답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84000" y="4553999"/>
          <a:ext cx="13870798" cy="1450800"/>
        </p:xfrm>
        <a:graphic>
          <a:graphicData uri="http://schemas.openxmlformats.org/drawingml/2006/table">
            <a:tbl>
              <a:tblPr/>
              <a:tblGrid>
                <a:gridCol w="3348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613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613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01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</a:rPr>
                        <a:t>비교 항목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0025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</a:rPr>
                        <a:t>사례 A (052)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0025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</a:rPr>
                        <a:t>사례 B (004)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0025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1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평가 라벨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M5SB24-16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B1SB30N-8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1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OCR 판독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M55624-16 (인식 점수 0.979)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BISBON-8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01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VLM 판독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M5SB24-16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BISB30N-8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01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합의 방식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판독 불일치로 보류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판독 불일치로 보류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84000" y="6148799"/>
            <a:ext cx="13870800" cy="101160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526477"/>
                </a:solidFill>
                <a:latin typeface="Apple SD Gothic Neo"/>
                <a:ea typeface="Apple SD Gothic Neo"/>
              </a:rPr>
              <a:t>•  반례(기존 10장 저장 결과 재분석, 단일 코드 7장): OCR 단독 1·4·2, VLM 단독 0·5·2, 합의 0·2·5. 합의가 통과시킨 2건은 두 모델이 숫자 1을 영문 I로 같이 읽은 동일 오답 — 새 8장과 합산하지 않는다.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526477"/>
                </a:solidFill>
                <a:latin typeface="Apple SD Gothic Neo"/>
                <a:ea typeface="Apple SD Gothic Neo"/>
              </a:rPr>
              <a:t>•  보류 8장 중 4장은 두 판독 문자열 안에 정답이 있었다. 사람이 검토할 참고값이 남았다는 뜻이며 시스템이 해결한 건수가 아니다.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526477"/>
                </a:solidFill>
                <a:latin typeface="Apple SD Gothic Neo"/>
                <a:ea typeface="Apple SD Gothic Neo"/>
              </a:rPr>
              <a:t>•  OCR 점수 0.979는 모델 인식 점수다. 정답 확률로 바꿔 말하지 않는다.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4000" y="7722000"/>
            <a:ext cx="138708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50" b="0">
                <a:solidFill>
                  <a:srgbClr val="687584"/>
                </a:solidFill>
                <a:latin typeface="Apple SD Gothic Neo"/>
                <a:ea typeface="Apple SD Gothic Neo"/>
              </a:rPr>
              <a:t>본문 5장 · 근거 E21·E22 · 사진: Steel OCR Dataset 960 실제 실험 입력(원 촬영자·사업장 미확인) · 출처 A14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4000" y="270000"/>
            <a:ext cx="720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1">
                <a:solidFill>
                  <a:srgbClr val="00843D"/>
                </a:solidFill>
                <a:latin typeface="Apple SD Gothic Neo"/>
                <a:ea typeface="Apple SD Gothic Neo"/>
              </a:rPr>
              <a:t>별첨 A11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4000" y="486000"/>
            <a:ext cx="13870800" cy="54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>
                <a:solidFill>
                  <a:srgbClr val="002554"/>
                </a:solidFill>
                <a:latin typeface="Apple SD Gothic Neo"/>
                <a:ea typeface="Apple SD Gothic Neo"/>
              </a:rPr>
              <a:t>다음 검증 계획</a:t>
            </a:r>
          </a:p>
        </p:txBody>
      </p:sp>
      <p:sp>
        <p:nvSpPr>
          <p:cNvPr id="4" name="Rectangle 3"/>
          <p:cNvSpPr/>
          <p:nvPr/>
        </p:nvSpPr>
        <p:spPr>
          <a:xfrm>
            <a:off x="684000" y="1134000"/>
            <a:ext cx="792000" cy="32400"/>
          </a:xfrm>
          <a:prstGeom prst="rect">
            <a:avLst/>
          </a:prstGeom>
          <a:solidFill>
            <a:srgbClr val="00843D"/>
          </a:solidFill>
          <a:ln>
            <a:noFill/>
          </a:ln>
          <a:effectLst/>
        </p:spPr>
        <p:txBody>
          <a:bodyPr wrap="square" lIns="54000" tIns="28800" rIns="54000" bIns="28800" rtlCol="0" anchor="t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674800" y="270000"/>
            <a:ext cx="288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1000" b="0">
                <a:solidFill>
                  <a:srgbClr val="687584"/>
                </a:solidFill>
                <a:latin typeface="Apple SD Gothic Neo"/>
                <a:ea typeface="Apple SD Gothic Neo"/>
              </a:rPr>
              <a:t>ContextWeld · Static Duo · A11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4000" y="1512000"/>
          <a:ext cx="13870797" cy="1997280"/>
        </p:xfrm>
        <a:graphic>
          <a:graphicData uri="http://schemas.openxmlformats.org/drawingml/2006/table">
            <a:tbl>
              <a:tblPr/>
              <a:tblGrid>
                <a:gridCol w="22493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986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484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4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945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</a:rPr>
                        <a:t>실험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0025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</a:rPr>
                        <a:t>확인할 질문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0025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</a:rPr>
                        <a:t>계획에 포함된 데이터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0025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</a:rPr>
                        <a:t>상태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0025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45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E1-R 문서 맥락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참고 문서를 넣으면 표기와 대상의 관계 해석이 달라지나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공개 사진 검증 분할 70장 관측 결과, TWI 용접기호 해설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미실행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945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E2 반사·가림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표기가 가려졌을 때 확정 대신 멈추나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Isaac A/B 손목·전체 시점 4장, 공개 사진, 반사 합성 이미지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미실행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945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E3 용접조건 생성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사진에서 알 수 없는 조건값을 만들어내나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공개 사진 40장 + Isaac 손목 2장, 일부 조건에 LANL WPS 발췌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미실행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945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E4 문서 결함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작업문서의 누락·충돌을 어떻게 판단하나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시연용 작업지시·도면·대상 설정 + 공개 WPS, 정상·결함 21사례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미실행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4000" y="3653280"/>
            <a:ext cx="13870800" cy="126270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526477"/>
                </a:solidFill>
                <a:latin typeface="Apple SD Gothic Neo"/>
                <a:ea typeface="Apple SD Gothic Neo"/>
              </a:rPr>
              <a:t>•  기록 항목: 올바른 확정 · 잘못된 확정 · 보류 · 처리 시간(서버 공유 상태면 벤치마크 아님). 결과가 나오기 전에는 개선율을 넣지 않는다.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526477"/>
                </a:solidFill>
                <a:latin typeface="Apple SD Gothic Neo"/>
                <a:ea typeface="Apple SD Gothic Neo"/>
              </a:rPr>
              <a:t>•  이후 단계: 저장 관측 기반 문서 데모를 실시간 관측과 연결 → Isaac A/B 관측·전체 파이프라인 연결 → 판단 연동 재촬영 → 제어기 전송·실물 인터페이스 → 현장 데이터.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526477"/>
                </a:solidFill>
                <a:latin typeface="Apple SD Gothic Neo"/>
                <a:ea typeface="Apple SD Gothic Neo"/>
              </a:rPr>
              <a:t>•  의미 해석·작업조건 연결은 정량 검증 전이다. 공동 실증에서 실제 표기 규칙과 작업 문서에 대한 관계 정답을 받아 검증한다.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526477"/>
                </a:solidFill>
                <a:latin typeface="Apple SD Gothic Neo"/>
                <a:ea typeface="Apple SD Gothic Neo"/>
              </a:rPr>
              <a:t>•  공동 실증 확인 항목: 대상·정답, 승인 문서(작업지시·도면·WPS), 수신 인터페이스, 작업당 사람 개입 시간, 추가 운영비. 일정은 협의 후 확정.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4000" y="7722000"/>
            <a:ext cx="138708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50" b="0">
                <a:solidFill>
                  <a:srgbClr val="687584"/>
                </a:solidFill>
                <a:latin typeface="Apple SD Gothic Neo"/>
                <a:ea typeface="Apple SD Gothic Neo"/>
              </a:rPr>
              <a:t>본문 9·11장 · PV2 결과 정리 §4 · 출처 A14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4000" y="270000"/>
            <a:ext cx="720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1">
                <a:solidFill>
                  <a:srgbClr val="00843D"/>
                </a:solidFill>
                <a:latin typeface="Apple SD Gothic Neo"/>
                <a:ea typeface="Apple SD Gothic Neo"/>
              </a:rPr>
              <a:t>별첨 A12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4000" y="486000"/>
            <a:ext cx="13870800" cy="54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>
                <a:solidFill>
                  <a:srgbClr val="002554"/>
                </a:solidFill>
                <a:latin typeface="Apple SD Gothic Neo"/>
                <a:ea typeface="Apple SD Gothic Neo"/>
              </a:rPr>
              <a:t>도입·운영 경제성 산정 항목 (값은 현장 산정)</a:t>
            </a:r>
          </a:p>
        </p:txBody>
      </p:sp>
      <p:sp>
        <p:nvSpPr>
          <p:cNvPr id="4" name="Rectangle 3"/>
          <p:cNvSpPr/>
          <p:nvPr/>
        </p:nvSpPr>
        <p:spPr>
          <a:xfrm>
            <a:off x="684000" y="1134000"/>
            <a:ext cx="792000" cy="32400"/>
          </a:xfrm>
          <a:prstGeom prst="rect">
            <a:avLst/>
          </a:prstGeom>
          <a:solidFill>
            <a:srgbClr val="00843D"/>
          </a:solidFill>
          <a:ln>
            <a:noFill/>
          </a:ln>
          <a:effectLst/>
        </p:spPr>
        <p:txBody>
          <a:bodyPr wrap="square" lIns="54000" tIns="28800" rIns="54000" bIns="28800" rtlCol="0" anchor="t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674800" y="270000"/>
            <a:ext cx="288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1000" b="0">
                <a:solidFill>
                  <a:srgbClr val="687584"/>
                </a:solidFill>
                <a:latin typeface="Apple SD Gothic Neo"/>
                <a:ea typeface="Apple SD Gothic Neo"/>
              </a:rPr>
              <a:t>ContextWeld · Static Duo · A12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4000" y="1512000"/>
          <a:ext cx="13870799" cy="1740960"/>
        </p:xfrm>
        <a:graphic>
          <a:graphicData uri="http://schemas.openxmlformats.org/drawingml/2006/table">
            <a:tbl>
              <a:tblPr/>
              <a:tblGrid>
                <a:gridCol w="32637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59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77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01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</a:rPr>
                        <a:t>항목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0025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</a:rPr>
                        <a:t>산정식 / 정의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0025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</a:rPr>
                        <a:t>값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0025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1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월 확보 업무시간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월 작업 건수 × 작업당 평균 개입시간 감소 (분이면 60으로 나눔). 예외 확인·재처리 시간 포함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87584"/>
                          </a:solidFill>
                          <a:latin typeface="Apple SD Gothic Neo"/>
                          <a:ea typeface="Apple SD Gothic Neo"/>
                        </a:rPr>
                        <a:t>[현장 산정]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1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월 순편익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확보 업무시간의 가치 − 기존 OCR 안 대비 추가 운영비. 실현 방식(재배치·잔업 감소) 확인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87584"/>
                          </a:solidFill>
                          <a:latin typeface="Apple SD Gothic Neo"/>
                          <a:ea typeface="Apple SD Gothic Neo"/>
                        </a:rPr>
                        <a:t>[현장 산정]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01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초기 추가 투자비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소프트웨어 도입·설치·통합 + 필요한 추가 하드웨어(장착·조명·보호)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87584"/>
                          </a:solidFill>
                          <a:latin typeface="Apple SD Gothic Neo"/>
                          <a:ea typeface="Apple SD Gothic Neo"/>
                        </a:rPr>
                        <a:t>[현장 산정]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01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추가 운영비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추론·서버·저장, 문서·규칙 갱신, 소프트웨어 지원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87584"/>
                          </a:solidFill>
                          <a:latin typeface="Apple SD Gothic Neo"/>
                          <a:ea typeface="Apple SD Gothic Neo"/>
                        </a:rPr>
                        <a:t>[현장 산정]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01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회수기간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순편익이 양수일 때만 계산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산정하지 않음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4000" y="3396960"/>
            <a:ext cx="13870800" cy="119790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526477"/>
                </a:solidFill>
                <a:latin typeface="Apple SD Gothic Neo"/>
                <a:ea typeface="Apple SD Gothic Neo"/>
              </a:rPr>
              <a:t>•  비교 기준: '문자 판독만 제공하고 후속 조회·입력을 수작업으로 수행하는 도입안' 대비 ContextWeld 도입 후 같은 작업의 평균 사람 개입 시간. 사람 개입 축소와 기존 설비 재사용은 목표·적용 전제다.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526477"/>
                </a:solidFill>
                <a:latin typeface="Apple SD Gothic Neo"/>
                <a:ea typeface="Apple SD Gothic Neo"/>
              </a:rPr>
              <a:t>•  RGB 카메라 1대는 현장 표기 입력부의 설계다. 기존 로봇·촬영계·컴퓨팅 자원의 활용 가능성과 추가 용량, 장비 연동 비용은 별도 확인. OCR 촬영 예산 활용과 전체 구축비를 구분.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526477"/>
                </a:solidFill>
                <a:latin typeface="Apple SD Gothic Neo"/>
                <a:ea typeface="Apple SD Gothic Neo"/>
              </a:rPr>
              <a:t>•  실제 호출 비중·비용·인력 절감·자동화율은 미측정. 단가·절감률·회수기간을 만들지 않는다.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4000" y="7722000"/>
            <a:ext cx="138708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50" b="0">
                <a:solidFill>
                  <a:srgbClr val="687584"/>
                </a:solidFill>
                <a:latin typeface="Apple SD Gothic Neo"/>
                <a:ea typeface="Apple SD Gothic Neo"/>
              </a:rPr>
              <a:t>본문 10장 · D22 · differentiation-priority.md 경제성 산정 메모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4000" y="270000"/>
            <a:ext cx="720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1">
                <a:solidFill>
                  <a:srgbClr val="00843D"/>
                </a:solidFill>
                <a:latin typeface="Apple SD Gothic Neo"/>
                <a:ea typeface="Apple SD Gothic Neo"/>
              </a:rPr>
              <a:t>별첨 A13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4000" y="486000"/>
            <a:ext cx="13870800" cy="54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>
                <a:solidFill>
                  <a:srgbClr val="002554"/>
                </a:solidFill>
                <a:latin typeface="Apple SD Gothic Neo"/>
                <a:ea typeface="Apple SD Gothic Neo"/>
              </a:rPr>
              <a:t>예상 질문과 답변</a:t>
            </a:r>
          </a:p>
        </p:txBody>
      </p:sp>
      <p:sp>
        <p:nvSpPr>
          <p:cNvPr id="4" name="Rectangle 3"/>
          <p:cNvSpPr/>
          <p:nvPr/>
        </p:nvSpPr>
        <p:spPr>
          <a:xfrm>
            <a:off x="684000" y="1134000"/>
            <a:ext cx="792000" cy="32400"/>
          </a:xfrm>
          <a:prstGeom prst="rect">
            <a:avLst/>
          </a:prstGeom>
          <a:solidFill>
            <a:srgbClr val="00843D"/>
          </a:solidFill>
          <a:ln>
            <a:noFill/>
          </a:ln>
          <a:effectLst/>
        </p:spPr>
        <p:txBody>
          <a:bodyPr wrap="square" lIns="54000" tIns="28800" rIns="54000" bIns="28800" rtlCol="0" anchor="t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674800" y="270000"/>
            <a:ext cx="288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1000" b="0">
                <a:solidFill>
                  <a:srgbClr val="687584"/>
                </a:solidFill>
                <a:latin typeface="Apple SD Gothic Neo"/>
                <a:ea typeface="Apple SD Gothic Neo"/>
              </a:rPr>
              <a:t>ContextWeld · Static Duo · A13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4000" y="1512000"/>
          <a:ext cx="13870799" cy="4143953"/>
        </p:xfrm>
        <a:graphic>
          <a:graphicData uri="http://schemas.openxmlformats.org/drawingml/2006/table">
            <a:tbl>
              <a:tblPr/>
              <a:tblGrid>
                <a:gridCol w="44876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83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6723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</a:rPr>
                        <a:t>질문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0025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</a:rPr>
                        <a:t>답변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0025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723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사람 없이 무엇까지 완료하는가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현재: 공개 사진의 저장된 관측을 문서 데모가 검토해 모의 수신까지 확인. Isaac A/B 관측과 전체 파이프라인 연결은 별도 후속. 실제 로봇 전달·용접은 미포함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6723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단계별 출력과 통과 조건은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입력: 작업에 연결된 사진 / 판단: 문자열·후보·근거, 두 판독 일치 / 검증: 명세+근거, 누락·충돌 없음 / 전달: 파라미터, 필수값·단위·플래그 충족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6723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자동 복구 시 어느 단계로 복귀하나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관측 부족은 입력(재촬영), 의미 모호·충돌은 작업자 확인 후 명시적 재검토. 현재 재검토는 저장 관측 + 수정으로 문서 규칙 재검토이며 시각 재해석·자동 재촬영은 후속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6723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일방향·단계 검증·자동 복구의 차이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일방향은 오류가 전파, 단계 검증은 차단, 자동 복구는 원인별 복귀. 효과 비교는 E1-R·E2 이후 제시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6723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실제 장비 인터페이스는 어디에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공통 명세 → 제조사별 변환(현대 Hi6·두산 DRL 입력 변환 미리보기 구현 보고) → 로봇 프로그램 또는 등록 작업 선택. 제어기 통신·실행은 후속. 좌표는 별도 공급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6723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실제로 검증한 범위와 다음 조건은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공개 사진 8장 판정 비교, 문서 4개·74단위, 모의 수신 1건, 반사 A/B. 다음: E1-R·E2·E3·E4, 통합, 실물 인터페이스 (A11·A16)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6723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의미 해석 정확도는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미측정. 관계 생성 2/8장이며 정답 비교는 하지 않았다. 현재는 문서 처리와 추적 흐름을 시연했고, 공동 실증에서 관계 정답을 받아 검증한다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6723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실제 로봇이 용접했나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아니오. 시뮬레이션 촬영과 모의 수신, 변환 미리보기까지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6723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맥락을 쓰면 정확도가 얼마나 오르나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미측정. 8장 비교는 불일치를 보류한 동작을 보여줄 뿐이다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6723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공개 WPS 값을 현장에 바로 쓸 수 있나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별도 검토·승인이 필요하다. 범위값은 설정값이 아니며 180 A·26 V는 등록 시연 조건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4000" y="7722000"/>
            <a:ext cx="138708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50" b="0">
                <a:solidFill>
                  <a:srgbClr val="687584"/>
                </a:solidFill>
                <a:latin typeface="Apple SD Gothic Neo"/>
                <a:ea typeface="Apple SD Gothic Neo"/>
              </a:rPr>
              <a:t>D14 예상 질문 6 + 인계 DOCX 질문 3 + 의미 해석 정확도 · 근거 A9·A10·A11·A16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4000" y="270000"/>
            <a:ext cx="720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1">
                <a:solidFill>
                  <a:srgbClr val="00843D"/>
                </a:solidFill>
                <a:latin typeface="Apple SD Gothic Neo"/>
                <a:ea typeface="Apple SD Gothic Neo"/>
              </a:rPr>
              <a:t>별첨 A14-1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4000" y="486000"/>
            <a:ext cx="13870800" cy="54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>
                <a:solidFill>
                  <a:srgbClr val="002554"/>
                </a:solidFill>
                <a:latin typeface="Apple SD Gothic Neo"/>
                <a:ea typeface="Apple SD Gothic Neo"/>
              </a:rPr>
              <a:t>출처·근거 목록 ① 근거 ID E01~E10</a:t>
            </a:r>
          </a:p>
        </p:txBody>
      </p:sp>
      <p:sp>
        <p:nvSpPr>
          <p:cNvPr id="4" name="Rectangle 3"/>
          <p:cNvSpPr/>
          <p:nvPr/>
        </p:nvSpPr>
        <p:spPr>
          <a:xfrm>
            <a:off x="684000" y="1134000"/>
            <a:ext cx="792000" cy="32400"/>
          </a:xfrm>
          <a:prstGeom prst="rect">
            <a:avLst/>
          </a:prstGeom>
          <a:solidFill>
            <a:srgbClr val="00843D"/>
          </a:solidFill>
          <a:ln>
            <a:noFill/>
          </a:ln>
          <a:effectLst/>
        </p:spPr>
        <p:txBody>
          <a:bodyPr wrap="square" lIns="54000" tIns="28800" rIns="54000" bIns="28800" rtlCol="0" anchor="t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674800" y="270000"/>
            <a:ext cx="288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1000" b="0">
                <a:solidFill>
                  <a:srgbClr val="687584"/>
                </a:solidFill>
                <a:latin typeface="Apple SD Gothic Neo"/>
                <a:ea typeface="Apple SD Gothic Neo"/>
              </a:rPr>
              <a:t>ContextWeld · Static Duo · A14-1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4000" y="1512000"/>
          <a:ext cx="13870798" cy="3722391"/>
        </p:xfrm>
        <a:graphic>
          <a:graphicData uri="http://schemas.openxmlformats.org/drawingml/2006/table">
            <a:tbl>
              <a:tblPr/>
              <a:tblGrid>
                <a:gridCol w="16318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433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55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6399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</a:rPr>
                        <a:t>ID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0025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</a:rPr>
                        <a:t>주장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0025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</a:rPr>
                        <a:t>상태 · 출처 (확인일 2026-10-10)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0025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399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E01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과제는 분과② 기업 문제 해결형 IR 피칭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공식 확인 · https://ainnov.co.kr/pac2026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399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E02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제출 종료 10/10 12:00, 심사 14:00~17:30, 7분 PT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공식 확인 · https://ainnov.co.kr/pac2026 · 현장 공지 우선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399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E03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표기는 실물과 설계·작업 데이터를 연결하는 단서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특정 공정 확인 · 삼성중공업 블로그 2016 · 원문 대응 [확인 필요]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399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E04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외부 시스템에서 설계·작업계획 사용 가능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미확인 · 확보된 것처럼 발표하지 않음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399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E05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조건 후보를 승인된 기준 DB에서 조회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일반 원리 · MHI 2013 p.58 https://www.mhi.com/technology/review/sites/g/files/jwhtju2326/files/tr/pdf/e502/e502056.pdf · TWI WPS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399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E06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ContextWeld가 기준 방식보다 정확·빠름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미측정 · 우위 주장 안 함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6399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E07·E08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초기 POC(spike-demo f13b57d) 회귀 테스트 17개·시연 코드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초기 POC 당시 범위로 한정 · 현재 제안의 성능 근거 아님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6399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E09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QC 통과 이력만 재사용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구현과 정의 불일치 · D08 미결정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6399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E10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고객은 거의 완전 자동화를 기대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사용자 전달 기획 전제 · 공식 사양 아님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4000" y="7722000"/>
            <a:ext cx="138708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50" b="0">
                <a:solidFill>
                  <a:srgbClr val="687584"/>
                </a:solidFill>
                <a:latin typeface="Apple SD Gothic Neo"/>
                <a:ea typeface="Apple SD Gothic Neo"/>
              </a:rPr>
              <a:t>docs/context/EVIDENCE.md · 상태는 2026-10-10 기준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4000" y="270000"/>
            <a:ext cx="720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1">
                <a:solidFill>
                  <a:srgbClr val="00843D"/>
                </a:solidFill>
                <a:latin typeface="Apple SD Gothic Neo"/>
                <a:ea typeface="Apple SD Gothic Neo"/>
              </a:rPr>
              <a:t>별첨 A14-2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4000" y="486000"/>
            <a:ext cx="13870800" cy="54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>
                <a:solidFill>
                  <a:srgbClr val="002554"/>
                </a:solidFill>
                <a:latin typeface="Apple SD Gothic Neo"/>
                <a:ea typeface="Apple SD Gothic Neo"/>
              </a:rPr>
              <a:t>출처·근거 목록 ② 근거 ID E11~E22</a:t>
            </a:r>
          </a:p>
        </p:txBody>
      </p:sp>
      <p:sp>
        <p:nvSpPr>
          <p:cNvPr id="4" name="Rectangle 3"/>
          <p:cNvSpPr/>
          <p:nvPr/>
        </p:nvSpPr>
        <p:spPr>
          <a:xfrm>
            <a:off x="684000" y="1134000"/>
            <a:ext cx="792000" cy="32400"/>
          </a:xfrm>
          <a:prstGeom prst="rect">
            <a:avLst/>
          </a:prstGeom>
          <a:solidFill>
            <a:srgbClr val="00843D"/>
          </a:solidFill>
          <a:ln>
            <a:noFill/>
          </a:ln>
          <a:effectLst/>
        </p:spPr>
        <p:txBody>
          <a:bodyPr wrap="square" lIns="54000" tIns="28800" rIns="54000" bIns="28800" rtlCol="0" anchor="t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674800" y="270000"/>
            <a:ext cx="288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1000" b="0">
                <a:solidFill>
                  <a:srgbClr val="687584"/>
                </a:solidFill>
                <a:latin typeface="Apple SD Gothic Neo"/>
                <a:ea typeface="Apple SD Gothic Neo"/>
              </a:rPr>
              <a:t>ContextWeld · Static Duo · A14-2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4000" y="1512000"/>
          <a:ext cx="13870798" cy="5580553"/>
        </p:xfrm>
        <a:graphic>
          <a:graphicData uri="http://schemas.openxmlformats.org/drawingml/2006/table">
            <a:tbl>
              <a:tblPr/>
              <a:tblGrid>
                <a:gridCol w="16318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433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55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3723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</a:rPr>
                        <a:t>ID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0025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</a:rPr>
                        <a:t>주장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0025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</a:rPr>
                        <a:t>상태 · 출처 (확인일 2026-10-10)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0025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3723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E11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과제는 환경에 강한 인식, 의미·조건 연결, 불확실성 처리·추적성을 요구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공식 확인 · 미션 03 PDF 1~2쪽 https://ainnov.co.kr/public/assets/download/pac/pac2026_hd-hyundai-robotics_mission_3.pdf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3723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E12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자동화 후에도 작업자 선택·수정이 남는 사례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특정 사례 · MHI 2013 p.59 https://www.mhi.com/technology/review/sites/g/files/jwhtju2326/files/tr/pdf/e502/e502056.pdf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3723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E13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설계·생산 데이터 연결과 DM 용접로봇 구축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회사 공시 · HD현대미포 2025 3Q https://kind.krx.co.kr/external/2025/11/14/001532/20251114003409/11013.htm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3723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E14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CAD 프로그래밍·QR·용접선 센싱이 기존 비교 방식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공급사 설명 · ABB·SSI·igm · 직접 받치는 주장에만 사용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3723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E15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공개 사진 10장 OCR·VLM 실행, VLM 20회 형식 저장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팀원 보고 · 정확도 주장 불가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3723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E16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공개 문서 4개·74단위, 저장 관측의 문서 검토, 정상 1건 수신·4건 보류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팀원 보고 · 시연 문서는 자체 작성 · 연속 실행 아님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3723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E17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금속반사 A/B 시뮬레이션·Foxglove 영상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팀원 보고, 이미지 직접 확인 · 사전 지정 이동 · 육안 확인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3723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E18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조회 HTML 3종·로컬 대시보드·변환 미리보기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팀원 보고(검토 근거 B07·B08) · 자동 적재·제어기 전송 후속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3723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E19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CTX-001 후보 목록 실험(REPORT.md)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폐기 · PV2 결과 정리가 폐기로 명시 · 발표 미사용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3723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E20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개발 브랜치 dev 9451321과 단계별 기술 문서·코드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로컬 확인 · 재실행 없음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13723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E21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공개 사진 8장 OCR/VLM/합의 판정 비교(2·5·1 / 2·2·4 / 0·0·8)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팀원·Claude 실행 보고 · 원본 REPORT·PROTOCOL은 개발 담당 보관(B02) · 건수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13723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E22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기존 10장 재분석: 합의가 동일 오답 2건 통과(1↔I)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팀원 보고 · 새 8장과 합산 금지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4000" y="7722000"/>
            <a:ext cx="138708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50" b="0">
                <a:solidFill>
                  <a:srgbClr val="687584"/>
                </a:solidFill>
                <a:latin typeface="Apple SD Gothic Neo"/>
                <a:ea typeface="Apple SD Gothic Neo"/>
              </a:rPr>
              <a:t>docs/context/EVIDENCE.md · docs/presentation/PV2_EXPERIMENT_RESULTS_2026-10-10.md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4000" y="270000"/>
            <a:ext cx="720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1">
                <a:solidFill>
                  <a:srgbClr val="00843D"/>
                </a:solidFill>
                <a:latin typeface="Apple SD Gothic Neo"/>
                <a:ea typeface="Apple SD Gothic Neo"/>
              </a:rPr>
              <a:t>별첨 A14-3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4000" y="486000"/>
            <a:ext cx="13870800" cy="54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>
                <a:solidFill>
                  <a:srgbClr val="002554"/>
                </a:solidFill>
                <a:latin typeface="Apple SD Gothic Neo"/>
                <a:ea typeface="Apple SD Gothic Neo"/>
              </a:rPr>
              <a:t>출처·근거 목록 ③ 데이터·모델</a:t>
            </a:r>
          </a:p>
        </p:txBody>
      </p:sp>
      <p:sp>
        <p:nvSpPr>
          <p:cNvPr id="4" name="Rectangle 3"/>
          <p:cNvSpPr/>
          <p:nvPr/>
        </p:nvSpPr>
        <p:spPr>
          <a:xfrm>
            <a:off x="684000" y="1134000"/>
            <a:ext cx="792000" cy="32400"/>
          </a:xfrm>
          <a:prstGeom prst="rect">
            <a:avLst/>
          </a:prstGeom>
          <a:solidFill>
            <a:srgbClr val="00843D"/>
          </a:solidFill>
          <a:ln>
            <a:noFill/>
          </a:ln>
          <a:effectLst/>
        </p:spPr>
        <p:txBody>
          <a:bodyPr wrap="square" lIns="54000" tIns="28800" rIns="54000" bIns="28800" rtlCol="0" anchor="t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674800" y="270000"/>
            <a:ext cx="288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1000" b="0">
                <a:solidFill>
                  <a:srgbClr val="687584"/>
                </a:solidFill>
                <a:latin typeface="Apple SD Gothic Neo"/>
                <a:ea typeface="Apple SD Gothic Neo"/>
              </a:rPr>
              <a:t>ContextWeld · Static Duo · A14-3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4000" y="1512000"/>
          <a:ext cx="13870798" cy="2527195"/>
        </p:xfrm>
        <a:graphic>
          <a:graphicData uri="http://schemas.openxmlformats.org/drawingml/2006/table">
            <a:tbl>
              <a:tblPr/>
              <a:tblGrid>
                <a:gridCol w="32637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15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55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5439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</a:rPr>
                        <a:t>구분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0025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</a:rPr>
                        <a:t>자료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0025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</a:rPr>
                        <a:t>입수처 · URL (확인일 2026-10-10)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0025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5439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실제 철골 사진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Steel OCR Dataset 960, 라벨 사진 226장(평가는 새 8장 + 재분석 7장)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Hugging Face iput-tk230215, 커밋 3772528 · https://huggingface.co/datasets/iput-tk230215/steel-ocr-dataset-960 · 원 촬영자·사업장·재배포 조건 [확인 필요]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5439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정답 라벨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train.txt / val.txt 문자·영역 라벨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같은 데이터셋 배포본. 평가 비교에만 사용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5439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OCR 모델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PP-OCRv6 medium det / rec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https://huggingface.co/PaddlePaddle/PP-OCRv6_medium_det · https://huggingface.co/PaddlePaddle/PP-OCRv6_medium_rec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5439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VLM 모델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Qwen3-VL-8B-Instruct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https://huggingface.co/Qwen/Qwen3-VL-8B-Instruct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4000" y="7722000"/>
            <a:ext cx="138708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50" b="0">
                <a:solidFill>
                  <a:srgbClr val="687584"/>
                </a:solidFill>
                <a:latin typeface="Apple SD Gothic Neo"/>
                <a:ea typeface="Apple SD Gothic Neo"/>
              </a:rPr>
              <a:t>로컬 파일 경로는 개발 담당 보관 위치 · 검토 근거 B01~B09는 제출본의 외부 출처 링크를 대신하지 않음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4000" y="270000"/>
            <a:ext cx="720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1">
                <a:solidFill>
                  <a:srgbClr val="00843D"/>
                </a:solidFill>
                <a:latin typeface="Apple SD Gothic Neo"/>
                <a:ea typeface="Apple SD Gothic Neo"/>
              </a:rPr>
              <a:t>별첨 A14-4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4000" y="486000"/>
            <a:ext cx="13870800" cy="54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>
                <a:solidFill>
                  <a:srgbClr val="002554"/>
                </a:solidFill>
                <a:latin typeface="Apple SD Gothic Neo"/>
                <a:ea typeface="Apple SD Gothic Neo"/>
              </a:rPr>
              <a:t>출처·근거 목록 ④ 문서·공식 자료·도메인</a:t>
            </a:r>
          </a:p>
        </p:txBody>
      </p:sp>
      <p:sp>
        <p:nvSpPr>
          <p:cNvPr id="4" name="Rectangle 3"/>
          <p:cNvSpPr/>
          <p:nvPr/>
        </p:nvSpPr>
        <p:spPr>
          <a:xfrm>
            <a:off x="684000" y="1134000"/>
            <a:ext cx="792000" cy="32400"/>
          </a:xfrm>
          <a:prstGeom prst="rect">
            <a:avLst/>
          </a:prstGeom>
          <a:solidFill>
            <a:srgbClr val="00843D"/>
          </a:solidFill>
          <a:ln>
            <a:noFill/>
          </a:ln>
          <a:effectLst/>
        </p:spPr>
        <p:txBody>
          <a:bodyPr wrap="square" lIns="54000" tIns="28800" rIns="54000" bIns="28800" rtlCol="0" anchor="t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674800" y="270000"/>
            <a:ext cx="288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1000" b="0">
                <a:solidFill>
                  <a:srgbClr val="687584"/>
                </a:solidFill>
                <a:latin typeface="Apple SD Gothic Neo"/>
                <a:ea typeface="Apple SD Gothic Neo"/>
              </a:rPr>
              <a:t>ContextWeld · Static Duo · A14-4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5230930"/>
              </p:ext>
            </p:extLst>
          </p:nvPr>
        </p:nvGraphicFramePr>
        <p:xfrm>
          <a:off x="684000" y="1512000"/>
          <a:ext cx="13870800" cy="4433040"/>
        </p:xfrm>
        <a:graphic>
          <a:graphicData uri="http://schemas.openxmlformats.org/drawingml/2006/table">
            <a:tbl>
              <a:tblPr/>
              <a:tblGrid>
                <a:gridCol w="308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2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6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256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</a:rPr>
                        <a:t>구분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0025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</a:rPr>
                        <a:t>자료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0025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</a:rPr>
                        <a:t>입수처 · URL (확인일 2026-10-10)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0025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256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용접기호 해설 (검색 단위 60)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A review of the application of weld symbols on drawings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dirty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hlinkClick r:id="rId3"/>
                        </a:rPr>
                        <a:t>TWI · https://</a:t>
                      </a:r>
                      <a:r>
                        <a:rPr sz="950" b="0" dirty="0" err="1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hlinkClick r:id="rId3"/>
                        </a:rPr>
                        <a:t>www.twi-global.com</a:t>
                      </a:r>
                      <a:r>
                        <a:rPr sz="950" b="0" dirty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hlinkClick r:id="rId3"/>
                        </a:rPr>
                        <a:t>/technical-knowledge/job-knowledge/weld-symbols</a:t>
                      </a:r>
                      <a:endParaRPr sz="950" b="0" dirty="0">
                        <a:solidFill>
                          <a:srgbClr val="526477"/>
                        </a:solidFill>
                        <a:latin typeface="Apple SD Gothic Neo"/>
                        <a:ea typeface="Apple SD Gothic Neo"/>
                      </a:endParaRP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256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WPS (검색 단위 2)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WPS 3501-xxxx-1 (2쪽 PDF) Rev.1 선택 필드 검수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dirty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hlinkClick r:id="rId4"/>
                        </a:rPr>
                        <a:t>LANL Engineering Standards · https://</a:t>
                      </a:r>
                      <a:r>
                        <a:rPr sz="950" b="0" dirty="0" err="1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hlinkClick r:id="rId4"/>
                        </a:rPr>
                        <a:t>engstandards.lanl.gov</a:t>
                      </a:r>
                      <a:r>
                        <a:rPr sz="950" b="0" dirty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hlinkClick r:id="rId4"/>
                        </a:rPr>
                        <a:t>/</a:t>
                      </a:r>
                      <a:r>
                        <a:rPr sz="950" b="0" dirty="0" err="1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hlinkClick r:id="rId4"/>
                        </a:rPr>
                        <a:t>esm</a:t>
                      </a:r>
                      <a:r>
                        <a:rPr sz="950" b="0" dirty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hlinkClick r:id="rId4"/>
                        </a:rPr>
                        <a:t>/welding/</a:t>
                      </a:r>
                      <a:r>
                        <a:rPr sz="950" b="0" dirty="0" err="1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hlinkClick r:id="rId4"/>
                        </a:rPr>
                        <a:t>welding_specs</a:t>
                      </a:r>
                      <a:r>
                        <a:rPr sz="950" b="0" dirty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hlinkClick r:id="rId4"/>
                        </a:rPr>
                        <a:t>/3501-xxxx-1.pdf</a:t>
                      </a:r>
                      <a:endParaRPr sz="950" b="0" dirty="0">
                        <a:solidFill>
                          <a:srgbClr val="526477"/>
                        </a:solidFill>
                        <a:latin typeface="Apple SD Gothic Neo"/>
                        <a:ea typeface="Apple SD Gothic Neo"/>
                      </a:endParaRP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256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WTS 빈 양식 (검색 단위 1)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4-01-Att-1-R1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dirty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hlinkClick r:id="rId5"/>
                        </a:rPr>
                        <a:t>LANL Engineering Standards · https://</a:t>
                      </a:r>
                      <a:r>
                        <a:rPr sz="950" b="0" dirty="0" err="1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hlinkClick r:id="rId5"/>
                        </a:rPr>
                        <a:t>engstandards.lanl.gov</a:t>
                      </a:r>
                      <a:r>
                        <a:rPr sz="950" b="0" dirty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hlinkClick r:id="rId5"/>
                        </a:rPr>
                        <a:t>/</a:t>
                      </a:r>
                      <a:r>
                        <a:rPr sz="950" b="0" dirty="0" err="1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hlinkClick r:id="rId5"/>
                        </a:rPr>
                        <a:t>esm</a:t>
                      </a:r>
                      <a:r>
                        <a:rPr sz="950" b="0" dirty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hlinkClick r:id="rId5"/>
                        </a:rPr>
                        <a:t>/welding/vol4/4-01-Att-1-R1.pdf</a:t>
                      </a:r>
                      <a:endParaRPr sz="950" b="0" dirty="0">
                        <a:solidFill>
                          <a:srgbClr val="526477"/>
                        </a:solidFill>
                        <a:latin typeface="Apple SD Gothic Neo"/>
                        <a:ea typeface="Apple SD Gothic Neo"/>
                      </a:endParaRP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256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제조사 명령 참고 (검색 단위 11)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doc-arc-weld · arccond 명령 문서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dirty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hlinkClick r:id="rId6"/>
                        </a:rPr>
                        <a:t>Hyundai Robotics </a:t>
                      </a:r>
                      <a:r>
                        <a:rPr sz="950" b="0" dirty="0" err="1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hlinkClick r:id="rId6"/>
                        </a:rPr>
                        <a:t>공식</a:t>
                      </a:r>
                      <a:r>
                        <a:rPr sz="950" b="0" dirty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hlinkClick r:id="rId6"/>
                        </a:rPr>
                        <a:t> GitHub · https://</a:t>
                      </a:r>
                      <a:r>
                        <a:rPr sz="950" b="0" dirty="0" err="1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hlinkClick r:id="rId6"/>
                        </a:rPr>
                        <a:t>github.com</a:t>
                      </a:r>
                      <a:r>
                        <a:rPr sz="950" b="0" dirty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hlinkClick r:id="rId6"/>
                        </a:rPr>
                        <a:t>/</a:t>
                      </a:r>
                      <a:r>
                        <a:rPr sz="950" b="0" dirty="0" err="1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hlinkClick r:id="rId6"/>
                        </a:rPr>
                        <a:t>hyundai</a:t>
                      </a:r>
                      <a:r>
                        <a:rPr sz="950" b="0" dirty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hlinkClick r:id="rId6"/>
                        </a:rPr>
                        <a:t>-robotics/doc-arc-weld/blob/ko/2_Command/5_arccond.md</a:t>
                      </a:r>
                      <a:endParaRPr sz="950" b="0" dirty="0">
                        <a:solidFill>
                          <a:srgbClr val="526477"/>
                        </a:solidFill>
                        <a:latin typeface="Apple SD Gothic Neo"/>
                        <a:ea typeface="Apple SD Gothic Neo"/>
                      </a:endParaRP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256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시연용 작업지시·도면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BISB30N-15 연결 키의 작업지시·도면·시연 조건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dirty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PAC2026 </a:t>
                      </a:r>
                      <a:r>
                        <a:rPr sz="950" b="0" dirty="0" err="1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프로젝트</a:t>
                      </a:r>
                      <a:r>
                        <a:rPr sz="950" b="0" dirty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작성</a:t>
                      </a:r>
                      <a:r>
                        <a:rPr sz="950" b="0" dirty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 [</a:t>
                      </a:r>
                      <a:r>
                        <a:rPr sz="950" b="0" dirty="0" err="1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모의</a:t>
                      </a:r>
                      <a:r>
                        <a:rPr sz="950" b="0" dirty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] · </a:t>
                      </a:r>
                      <a:r>
                        <a:rPr sz="950" b="0" dirty="0" err="1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공개</a:t>
                      </a:r>
                      <a:r>
                        <a:rPr sz="950" b="0" dirty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코퍼스와</a:t>
                      </a:r>
                      <a:r>
                        <a:rPr sz="950" b="0" dirty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별개</a:t>
                      </a:r>
                      <a:endParaRPr sz="950" b="0" dirty="0">
                        <a:solidFill>
                          <a:srgbClr val="526477"/>
                        </a:solidFill>
                        <a:latin typeface="Apple SD Gothic Neo"/>
                        <a:ea typeface="Apple SD Gothic Neo"/>
                      </a:endParaRP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256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Isaac 장면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수직 3면 강판 지그·수기 표기·작업등 반사, A/B 시점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PAC2026 NVIDIA Isaac Sim 렌더링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256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공식 자료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PAC2026 안내 · 미션 03 PDF · Microsoft 글꼴 포함 안내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dirty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hlinkClick r:id="rId7"/>
                        </a:rPr>
                        <a:t>https://</a:t>
                      </a:r>
                      <a:r>
                        <a:rPr sz="950" b="0" dirty="0" err="1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hlinkClick r:id="rId7"/>
                        </a:rPr>
                        <a:t>ainnov.co.kr</a:t>
                      </a:r>
                      <a:r>
                        <a:rPr sz="950" b="0" dirty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hlinkClick r:id="rId7"/>
                        </a:rPr>
                        <a:t>/pac2026 · https://</a:t>
                      </a:r>
                      <a:r>
                        <a:rPr sz="950" b="0" dirty="0" err="1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hlinkClick r:id="rId7"/>
                        </a:rPr>
                        <a:t>ainnov.co.kr</a:t>
                      </a:r>
                      <a:r>
                        <a:rPr sz="950" b="0" dirty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hlinkClick r:id="rId7"/>
                        </a:rPr>
                        <a:t>/public/assets/download/</a:t>
                      </a:r>
                      <a:r>
                        <a:rPr sz="950" b="0" dirty="0" err="1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hlinkClick r:id="rId7"/>
                        </a:rPr>
                        <a:t>pac</a:t>
                      </a:r>
                      <a:r>
                        <a:rPr sz="950" b="0" dirty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hlinkClick r:id="rId7"/>
                        </a:rPr>
                        <a:t>/pac2026_hd-hyundai-robotics_mission_3.pdf · https://</a:t>
                      </a:r>
                      <a:r>
                        <a:rPr sz="950" b="0" dirty="0" err="1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hlinkClick r:id="rId7"/>
                        </a:rPr>
                        <a:t>support.microsoft.com</a:t>
                      </a:r>
                      <a:r>
                        <a:rPr sz="950" b="0" dirty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hlinkClick r:id="rId7"/>
                        </a:rPr>
                        <a:t>/</a:t>
                      </a:r>
                      <a:r>
                        <a:rPr sz="950" b="0" dirty="0" err="1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hlinkClick r:id="rId7"/>
                        </a:rPr>
                        <a:t>en-gb</a:t>
                      </a:r>
                      <a:r>
                        <a:rPr sz="950" b="0" dirty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  <a:hlinkClick r:id="rId7"/>
                        </a:rPr>
                        <a:t>/office/fonts/benefits-of-embedding-custom-fonts</a:t>
                      </a:r>
                      <a:endParaRPr sz="950" b="0" dirty="0">
                        <a:solidFill>
                          <a:srgbClr val="526477"/>
                        </a:solidFill>
                        <a:latin typeface="Apple SD Gothic Neo"/>
                        <a:ea typeface="Apple SD Gothic Neo"/>
                      </a:endParaRP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256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도메인·기업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MHI 2013 pp.57-59 · HD현대미포 2025 3Q 공시 · 삼성중공업 2016 · 조선비즈 2026-01-30 · KSOE-2021-088 · KR101724424B1 · ABB·SSI·igm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dirty="0" err="1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직접</a:t>
                      </a:r>
                      <a:r>
                        <a:rPr sz="950" b="0" dirty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받치는</a:t>
                      </a:r>
                      <a:r>
                        <a:rPr sz="950" b="0" dirty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주장</a:t>
                      </a:r>
                      <a:r>
                        <a:rPr sz="950" b="0" dirty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(E03·E05·E12~E14)</a:t>
                      </a:r>
                      <a:r>
                        <a:rPr sz="950" b="0" dirty="0" err="1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에만</a:t>
                      </a:r>
                      <a:r>
                        <a:rPr sz="950" b="0" dirty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사용</a:t>
                      </a:r>
                      <a:r>
                        <a:rPr sz="950" b="0" dirty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 · </a:t>
                      </a:r>
                      <a:r>
                        <a:rPr sz="950" b="0" dirty="0" err="1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URL은</a:t>
                      </a:r>
                      <a:r>
                        <a:rPr sz="950" b="0" dirty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 E </a:t>
                      </a:r>
                      <a:r>
                        <a:rPr sz="950" b="0" dirty="0" err="1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행과</a:t>
                      </a:r>
                      <a:r>
                        <a:rPr sz="950" b="0" dirty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 docs/</a:t>
                      </a:r>
                      <a:r>
                        <a:rPr sz="950" b="0" dirty="0" err="1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SOURCES.md</a:t>
                      </a:r>
                      <a:r>
                        <a:rPr sz="950" b="0" dirty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 · </a:t>
                      </a:r>
                      <a:r>
                        <a:rPr sz="950" b="0" dirty="0" err="1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원문</a:t>
                      </a:r>
                      <a:r>
                        <a:rPr sz="950" b="0" dirty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대응</a:t>
                      </a:r>
                      <a:r>
                        <a:rPr sz="950" b="0" dirty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 [</a:t>
                      </a:r>
                      <a:r>
                        <a:rPr sz="950" b="0" dirty="0" err="1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확인</a:t>
                      </a:r>
                      <a:r>
                        <a:rPr sz="950" b="0" dirty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필요</a:t>
                      </a:r>
                      <a:r>
                        <a:rPr sz="950" b="0" dirty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]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4000" y="7722000"/>
            <a:ext cx="138708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50" b="0">
                <a:solidFill>
                  <a:srgbClr val="687584"/>
                </a:solidFill>
                <a:latin typeface="Apple SD Gothic Neo"/>
                <a:ea typeface="Apple SD Gothic Neo"/>
              </a:rPr>
              <a:t>로컬 파일 경로는 개발 담당 보관 위치 · 검토 근거 B01~B09는 제출본의 외부 출처 링크를 대신하지 않음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4000" y="270000"/>
            <a:ext cx="720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1">
                <a:solidFill>
                  <a:srgbClr val="00843D"/>
                </a:solidFill>
                <a:latin typeface="Apple SD Gothic Neo"/>
                <a:ea typeface="Apple SD Gothic Neo"/>
              </a:rPr>
              <a:t>별첨 A15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4000" y="486000"/>
            <a:ext cx="13870800" cy="54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>
                <a:solidFill>
                  <a:srgbClr val="002554"/>
                </a:solidFill>
                <a:latin typeface="Apple SD Gothic Neo"/>
                <a:ea typeface="Apple SD Gothic Neo"/>
              </a:rPr>
              <a:t>용어와 태그</a:t>
            </a:r>
          </a:p>
        </p:txBody>
      </p:sp>
      <p:sp>
        <p:nvSpPr>
          <p:cNvPr id="4" name="Rectangle 3"/>
          <p:cNvSpPr/>
          <p:nvPr/>
        </p:nvSpPr>
        <p:spPr>
          <a:xfrm>
            <a:off x="684000" y="1134000"/>
            <a:ext cx="792000" cy="32400"/>
          </a:xfrm>
          <a:prstGeom prst="rect">
            <a:avLst/>
          </a:prstGeom>
          <a:solidFill>
            <a:srgbClr val="00843D"/>
          </a:solidFill>
          <a:ln>
            <a:noFill/>
          </a:ln>
          <a:effectLst/>
        </p:spPr>
        <p:txBody>
          <a:bodyPr wrap="square" lIns="54000" tIns="28800" rIns="54000" bIns="28800" rtlCol="0" anchor="t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674800" y="270000"/>
            <a:ext cx="288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1000" b="0">
                <a:solidFill>
                  <a:srgbClr val="687584"/>
                </a:solidFill>
                <a:latin typeface="Apple SD Gothic Neo"/>
                <a:ea typeface="Apple SD Gothic Neo"/>
              </a:rPr>
              <a:t>ContextWeld · Static Duo · A15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4000" y="1512000"/>
          <a:ext cx="13870799" cy="3514310"/>
        </p:xfrm>
        <a:graphic>
          <a:graphicData uri="http://schemas.openxmlformats.org/drawingml/2006/table">
            <a:tbl>
              <a:tblPr/>
              <a:tblGrid>
                <a:gridCol w="36716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991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1431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</a:rPr>
                        <a:t>용어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0025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</a:rPr>
                        <a:t>뜻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0025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431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OCR / VLM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OCR=문자 인식(문자·숫자·위치·점수). VLM=Vision-Language Model, 이미지와 글을 함께 해석하는 모델(독립 문자 판독·기호·접합부 단서)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1431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WPS / WTS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WPS=용접절차시방서(조건값·단위·개정). WTS=용접 작업 양식(LANL 빈 양식)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1431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공통 작업 명세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대상·작업·조건·단위·출처·상태를 담은 제조사별 변환 전 표현. 업계 표준 인증을 뜻하지 않음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1431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관계 해석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문자·숫자와 화살표·기호·접합부, 작업 맥락을 결합해 표기가 가리키는 대상 후보를 제안. 현재 문서 조회는 문자 합의 후보 사용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1431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명시적 재검토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작업자 확인·수정 후 별도 요청으로 재검토. 현재는 저장 관측 + 수정으로 문서 규칙 재검토(새 모델 호출 0회). 시각 재해석은 후속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1431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조건 후보 준비 상태 (candidate_ready)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조건 후보가 준비됐다는 상태. 로봇 전달·용접 승인이 아님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1431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HTTP 200 / bbox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HTTP 200=모의 수신기의 수신 응답(로봇 실행 성공 아님). bbox=사진에서 판독한 문자의 영역 좌표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1431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화이트박스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저장된 입력·출력·근거·규칙·행동·상태의 추적 가능성. 모델 내부 사고의 복원이 아님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1431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태그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[실행] 팀원 보고 실행 결과 · [실행 보고] 검토자 확인 보고 · [설계] 목표 구조 · [모의] 시연용 자료·모의 수신 · [후속] 미구현·미검증 / 값 출처 [관측][해석][문서][수정][모의]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4000" y="7722000"/>
            <a:ext cx="138708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50" b="0">
                <a:solidFill>
                  <a:srgbClr val="687584"/>
                </a:solidFill>
                <a:latin typeface="Apple SD Gothic Neo"/>
                <a:ea typeface="Apple SD Gothic Neo"/>
              </a:rPr>
              <a:t>slide-content-design.md 태그 체계 · DATAFLOW.md 용어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4000" y="270000"/>
            <a:ext cx="720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1">
                <a:solidFill>
                  <a:srgbClr val="00843D"/>
                </a:solidFill>
                <a:latin typeface="Apple SD Gothic Neo"/>
                <a:ea typeface="Apple SD Gothic Neo"/>
              </a:rPr>
              <a:t>별첨 A15-2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4000" y="486000"/>
            <a:ext cx="13870800" cy="54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>
                <a:solidFill>
                  <a:srgbClr val="002554"/>
                </a:solidFill>
                <a:latin typeface="Apple SD Gothic Neo"/>
                <a:ea typeface="Apple SD Gothic Neo"/>
              </a:rPr>
              <a:t>설계 규칙 R1~R7과 결정 ID</a:t>
            </a:r>
          </a:p>
        </p:txBody>
      </p:sp>
      <p:sp>
        <p:nvSpPr>
          <p:cNvPr id="4" name="Rectangle 3"/>
          <p:cNvSpPr/>
          <p:nvPr/>
        </p:nvSpPr>
        <p:spPr>
          <a:xfrm>
            <a:off x="684000" y="1134000"/>
            <a:ext cx="792000" cy="32400"/>
          </a:xfrm>
          <a:prstGeom prst="rect">
            <a:avLst/>
          </a:prstGeom>
          <a:solidFill>
            <a:srgbClr val="00843D"/>
          </a:solidFill>
          <a:ln>
            <a:noFill/>
          </a:ln>
          <a:effectLst/>
        </p:spPr>
        <p:txBody>
          <a:bodyPr wrap="square" lIns="54000" tIns="28800" rIns="54000" bIns="28800" rtlCol="0" anchor="t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674800" y="270000"/>
            <a:ext cx="288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1000" b="0">
                <a:solidFill>
                  <a:srgbClr val="687584"/>
                </a:solidFill>
                <a:latin typeface="Apple SD Gothic Neo"/>
                <a:ea typeface="Apple SD Gothic Neo"/>
              </a:rPr>
              <a:t>ContextWeld · Static Duo · A15-2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4000" y="1512000"/>
          <a:ext cx="13870799" cy="2884671"/>
        </p:xfrm>
        <a:graphic>
          <a:graphicData uri="http://schemas.openxmlformats.org/drawingml/2006/table">
            <a:tbl>
              <a:tblPr/>
              <a:tblGrid>
                <a:gridCol w="20398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59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716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519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</a:rPr>
                        <a:t>규칙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0025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</a:rPr>
                        <a:t>내용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0025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</a:rPr>
                        <a:t>본문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0025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519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R1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수집은 기존 용접로봇 장착 RGB 카메라 1대. 촬영 시점을 바꿔 관측을 보완 (D17)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3·4장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519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R2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문자·숫자와 화살표·기호·접합부를 두 갈래로 관측하고 관계 해석에서 결합. 관측 호출과 관계 호출 분리 (D16)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5장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519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R3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문서는 설명문이 아니라 검증 가능한 제약. 작업·개정은 정확 조회, 근거는 범위 제한 검색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6장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519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R4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AI 호출은 인식·해석에만. 조회·검사·전달·기록은 명시적 로직 (D22)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3·10장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519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R5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모든 단계 결과를 같은 스키마·상태 어휘·출처 구분으로 기록하고 오프라인 조회 (화이트박스)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3·8장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519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R6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범위값에서 설정값을 임의로 만들지 않고 승인 경계를 플래그로 유지. 전송 요청과 수신 구분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7장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519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R7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사람 개입은 원인별 예외. 관측 부족은 재촬영, 모호·충돌은 작업자 확인 후 명시적 재검토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3·4·6장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519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D16·D21·D22·D25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D16 데이터 흐름 기준 채택 · D21 설계 유효성 중심 11장 · D22 도입·운영 경제성 · D25 자동화 목표와 서비스 개요를 먼저 제시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전체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4000" y="7722000"/>
            <a:ext cx="138708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50" b="0">
                <a:solidFill>
                  <a:srgbClr val="687584"/>
                </a:solidFill>
                <a:latin typeface="Apple SD Gothic Neo"/>
                <a:ea typeface="Apple SD Gothic Neo"/>
              </a:rPr>
              <a:t>docs/context/DECISIONS.md · slide-content-design.md '본문이 전달할 큰 결정'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4000" y="270000"/>
            <a:ext cx="720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1">
                <a:solidFill>
                  <a:srgbClr val="00843D"/>
                </a:solidFill>
                <a:latin typeface="Apple SD Gothic Neo"/>
                <a:ea typeface="Apple SD Gothic Neo"/>
              </a:rPr>
              <a:t>별첨 A16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4000" y="486000"/>
            <a:ext cx="13870800" cy="54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>
                <a:solidFill>
                  <a:srgbClr val="002554"/>
                </a:solidFill>
                <a:latin typeface="Apple SD Gothic Neo"/>
                <a:ea typeface="Apple SD Gothic Neo"/>
              </a:rPr>
              <a:t>미션 요구사항별 현재 근거와 남은 확인</a:t>
            </a:r>
          </a:p>
        </p:txBody>
      </p:sp>
      <p:sp>
        <p:nvSpPr>
          <p:cNvPr id="4" name="Rectangle 3"/>
          <p:cNvSpPr/>
          <p:nvPr/>
        </p:nvSpPr>
        <p:spPr>
          <a:xfrm>
            <a:off x="684000" y="1134000"/>
            <a:ext cx="792000" cy="32400"/>
          </a:xfrm>
          <a:prstGeom prst="rect">
            <a:avLst/>
          </a:prstGeom>
          <a:solidFill>
            <a:srgbClr val="00843D"/>
          </a:solidFill>
          <a:ln>
            <a:noFill/>
          </a:ln>
          <a:effectLst/>
        </p:spPr>
        <p:txBody>
          <a:bodyPr wrap="square" lIns="54000" tIns="28800" rIns="54000" bIns="28800" rtlCol="0" anchor="t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674800" y="270000"/>
            <a:ext cx="288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1000" b="0">
                <a:solidFill>
                  <a:srgbClr val="687584"/>
                </a:solidFill>
                <a:latin typeface="Apple SD Gothic Neo"/>
                <a:ea typeface="Apple SD Gothic Neo"/>
              </a:rPr>
              <a:t>ContextWeld · Static Duo · A16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4000" y="1512000"/>
          <a:ext cx="13870800" cy="2080799"/>
        </p:xfrm>
        <a:graphic>
          <a:graphicData uri="http://schemas.openxmlformats.org/drawingml/2006/table">
            <a:tbl>
              <a:tblPr/>
              <a:tblGrid>
                <a:gridCol w="308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0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79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7257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</a:rPr>
                        <a:t>미션 요구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0025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</a:rPr>
                        <a:t>현재 제시할 수 있는 근거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0025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</a:rPr>
                        <a:t>남은 설명과 확인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0025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257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표기 영역 검출과 분리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공개 사진의 OCR 검출 및 좌표 저장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복수 표기와 비문자 요소 구분 성능은 이번 8장 결과로 입증하지 않음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257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정형 마킹과 비정형 수기 인식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공개 철골 수기 코드의 모델 판독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정형 마킹의 별도 실행 근거와 약어·기호 범위는 [확인 필요]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257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표기 의미와 작업지시 해석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관계 해석 호출과 별도 문서 연결 데모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관계 생성은 2/8장, 의미 정답 비교는 미측정. 대상과 작업의 자동 연결은 후속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257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용접 작업과 조건 판단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문서 조건 검사, 등록조건 조회, 제조사 입력 미리보기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작업 위치·방향·순서의 자동 판단, 실물 적용성과 제어기 연계는 미검증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257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결과 시각화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로컬 대시보드 조회, 단계 재생, 조건과 출처 표시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발표 PC에서 실제 화면 시연, 원본·인식 영역 제시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7257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불확실성 처리와 추적성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불일치 보류, 원문 기록, 수정 및 명시적 재검토, 모의 수신 기록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같은 오답의 합의 통과 반례와 문서 규칙 재검토의 범위 유지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4000" y="7722000"/>
            <a:ext cx="138708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50" b="0">
                <a:solidFill>
                  <a:srgbClr val="687584"/>
                </a:solidFill>
                <a:latin typeface="Apple SD Gothic Neo"/>
                <a:ea typeface="Apple SD Gothic Neo"/>
              </a:rPr>
              <a:t>미션 03 PDF 1~2쪽(E11) · 본문 9장 · 의미 해석·조건 연결은 정량 검증 전이며 공동 실증에서 관계 정답을 받아 검증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4000" y="270000"/>
            <a:ext cx="720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1">
                <a:solidFill>
                  <a:srgbClr val="00843D"/>
                </a:solidFill>
                <a:latin typeface="Apple SD Gothic Neo"/>
                <a:ea typeface="Apple SD Gothic Neo"/>
              </a:rPr>
              <a:t>별첨 A17-1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4000" y="486000"/>
            <a:ext cx="13870800" cy="54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>
                <a:solidFill>
                  <a:srgbClr val="002554"/>
                </a:solidFill>
                <a:latin typeface="Apple SD Gothic Neo"/>
                <a:ea typeface="Apple SD Gothic Neo"/>
              </a:rPr>
              <a:t>GitHub 저장소와 README 요약 ① 구현 기준·현재 단계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684000" y="1134000"/>
            <a:ext cx="792000" cy="32400"/>
          </a:xfrm>
          <a:prstGeom prst="rect">
            <a:avLst/>
          </a:prstGeom>
          <a:solidFill>
            <a:srgbClr val="00843D"/>
          </a:solidFill>
          <a:ln>
            <a:noFill/>
          </a:ln>
          <a:effectLst/>
        </p:spPr>
        <p:txBody>
          <a:bodyPr wrap="square" lIns="54000" tIns="28800" rIns="54000" bIns="28800" rtlCol="0" anchor="t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4000" y="1206000"/>
            <a:ext cx="13870800" cy="251795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0" dirty="0">
                <a:solidFill>
                  <a:srgbClr val="526477"/>
                </a:solidFill>
                <a:latin typeface="Apple SD Gothic Neo"/>
                <a:ea typeface="Apple SD Gothic Neo"/>
                <a:hlinkClick r:id="rId3"/>
              </a:rPr>
              <a:t>https://</a:t>
            </a:r>
            <a:r>
              <a:rPr sz="1400" b="0" dirty="0" err="1">
                <a:solidFill>
                  <a:srgbClr val="526477"/>
                </a:solidFill>
                <a:latin typeface="Apple SD Gothic Neo"/>
                <a:ea typeface="Apple SD Gothic Neo"/>
                <a:hlinkClick r:id="rId3"/>
              </a:rPr>
              <a:t>github.com</a:t>
            </a:r>
            <a:r>
              <a:rPr sz="1400" b="0" dirty="0">
                <a:solidFill>
                  <a:srgbClr val="526477"/>
                </a:solidFill>
                <a:latin typeface="Apple SD Gothic Neo"/>
                <a:ea typeface="Apple SD Gothic Neo"/>
                <a:hlinkClick r:id="rId3"/>
              </a:rPr>
              <a:t>/</a:t>
            </a:r>
            <a:r>
              <a:rPr sz="1400" b="0" dirty="0" err="1">
                <a:solidFill>
                  <a:srgbClr val="526477"/>
                </a:solidFill>
                <a:latin typeface="Apple SD Gothic Neo"/>
                <a:ea typeface="Apple SD Gothic Neo"/>
                <a:hlinkClick r:id="rId3"/>
              </a:rPr>
              <a:t>ukkhnn</a:t>
            </a:r>
            <a:r>
              <a:rPr sz="1400" b="0" dirty="0">
                <a:solidFill>
                  <a:srgbClr val="526477"/>
                </a:solidFill>
                <a:latin typeface="Apple SD Gothic Neo"/>
                <a:ea typeface="Apple SD Gothic Neo"/>
                <a:hlinkClick r:id="rId3"/>
              </a:rPr>
              <a:t>/PAC2026 </a:t>
            </a:r>
            <a:r>
              <a:rPr sz="110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· </a:t>
            </a:r>
            <a:r>
              <a:rPr sz="110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브랜치</a:t>
            </a:r>
            <a:r>
              <a:rPr sz="110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main(</a:t>
            </a:r>
            <a:r>
              <a:rPr sz="110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기획·문서</a:t>
            </a:r>
            <a:r>
              <a:rPr sz="110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) / dev(</a:t>
            </a:r>
            <a:r>
              <a:rPr sz="110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개발</a:t>
            </a:r>
            <a:r>
              <a:rPr sz="110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통합</a:t>
            </a:r>
            <a:r>
              <a:rPr sz="110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) / spike-demo(</a:t>
            </a:r>
            <a:r>
              <a:rPr sz="110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초기</a:t>
            </a:r>
            <a:r>
              <a:rPr sz="110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POC) · README </a:t>
            </a:r>
            <a:r>
              <a:rPr sz="110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기준일</a:t>
            </a:r>
            <a:r>
              <a:rPr sz="110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2026-10-10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74800" y="270000"/>
            <a:ext cx="288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1000" b="0">
                <a:solidFill>
                  <a:srgbClr val="687584"/>
                </a:solidFill>
                <a:latin typeface="Apple SD Gothic Neo"/>
                <a:ea typeface="Apple SD Gothic Neo"/>
              </a:rPr>
              <a:t>ContextWeld · Static Duo · A17-1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4000" y="1728000"/>
            <a:ext cx="13870800" cy="226710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• 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저장소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: https://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github.com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/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ukkhnn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/PAC2026 —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ContextWeld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,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작업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맥락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기반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용접표기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해석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및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조건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추천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시스템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. PAC 2026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분과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02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HD현대로보틱스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미션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03,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팀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Static Duo.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• 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현재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구현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기준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: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데모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스펙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v1.5(2026-10-10).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Runpod에서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단일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시나리오의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인식·해석·재촬영·모의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파라미터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전달을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실행·기록하고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로컬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관리자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화면에서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조회·재생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.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근거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원문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적재·정확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조회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/RAG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구성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.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아이디어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피칭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목적이며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정확도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목표·독립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평가를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완료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조건으로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요구하지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않음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• 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현재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단계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(README):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공개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사진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10장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실제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OCR/VLM,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원문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4개 74청크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검색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→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저장된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관측을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모사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작업지시·도면→WPS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조건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범위→HTTP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모의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수신으로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연결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.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정상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사례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수신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응답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기록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,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필수값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누락·공정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충돌·개정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불일치·실제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판독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불일치는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전송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보류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.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사용자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수정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저장→명시적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재검토→선택적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모의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전달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CLI(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succeeded·received·blocked·failed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확인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).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원본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1,173개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파일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해시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보존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,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재검토의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새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모델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호출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0회,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Runpod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테스트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83개·로컬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재검증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83개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통과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• 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장면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: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기존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작업대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장면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보존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+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조선소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수직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3면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강판·중앙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수기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메모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장면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live-03. UR10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손목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카메라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A/B RGB,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고정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작업등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금속반사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, Foxglove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영상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수신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검증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.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팔의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A/B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이동은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pre_captured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예약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시연이며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모델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판단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폐루프가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아님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.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이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장면의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OCR/VLM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판독·문서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연결은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미수행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• 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범위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주의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(README): WPS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검수는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선택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헤더·대표층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1의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전사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확인이며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적용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승인이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아님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.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합성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장면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J01과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문서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JOINT-DEMO-01은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미연결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.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오프라인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HTML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조회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3묶음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내보냄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(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시각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검수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미완료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).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시각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관계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재해석·수정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입력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화면·여러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실행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통합·A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/B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관리자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재생은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미완료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.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자동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학습·이력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자동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재사용은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범위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05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아님</a:t>
            </a:r>
            <a:r>
              <a:rPr sz="105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4000" y="7722000"/>
            <a:ext cx="138708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50" b="0">
                <a:solidFill>
                  <a:srgbClr val="687584"/>
                </a:solidFill>
                <a:latin typeface="Apple SD Gothic Neo"/>
                <a:ea typeface="Apple SD Gothic Neo"/>
              </a:rPr>
              <a:t>README의 '최신 인식 실험 CTX-001' 수치는 PV2 결과 정리(E21)가 폐기로 명시해 발표 근거로 쓰지 않음(A10). 저장소의 원본 현장 자료·생성 산출물(output/)은 Git 제외 · 본문 9장 · 출처 A14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4000" y="270000"/>
            <a:ext cx="720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1">
                <a:solidFill>
                  <a:srgbClr val="00843D"/>
                </a:solidFill>
                <a:latin typeface="Apple SD Gothic Neo"/>
                <a:ea typeface="Apple SD Gothic Neo"/>
              </a:rPr>
              <a:t>별첨 A17-2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4000" y="486000"/>
            <a:ext cx="13870800" cy="54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>
                <a:solidFill>
                  <a:srgbClr val="002554"/>
                </a:solidFill>
                <a:latin typeface="Apple SD Gothic Neo"/>
                <a:ea typeface="Apple SD Gothic Neo"/>
              </a:rPr>
              <a:t>GitHub 저장소와 README 요약 ② 디렉토리·문서 구성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684000" y="1134000"/>
            <a:ext cx="792000" cy="32400"/>
          </a:xfrm>
          <a:prstGeom prst="rect">
            <a:avLst/>
          </a:prstGeom>
          <a:solidFill>
            <a:srgbClr val="00843D"/>
          </a:solidFill>
          <a:ln>
            <a:noFill/>
          </a:ln>
          <a:effectLst/>
        </p:spPr>
        <p:txBody>
          <a:bodyPr wrap="square" lIns="54000" tIns="28800" rIns="54000" bIns="28800" rtlCol="0" anchor="t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4000" y="1206000"/>
            <a:ext cx="13870800" cy="251795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0" dirty="0">
                <a:solidFill>
                  <a:srgbClr val="526477"/>
                </a:solidFill>
                <a:latin typeface="Apple SD Gothic Neo"/>
                <a:ea typeface="Apple SD Gothic Neo"/>
                <a:hlinkClick r:id="rId3"/>
              </a:rPr>
              <a:t>https://</a:t>
            </a:r>
            <a:r>
              <a:rPr sz="1400" b="0" dirty="0" err="1">
                <a:solidFill>
                  <a:srgbClr val="526477"/>
                </a:solidFill>
                <a:latin typeface="Apple SD Gothic Neo"/>
                <a:ea typeface="Apple SD Gothic Neo"/>
                <a:hlinkClick r:id="rId3"/>
              </a:rPr>
              <a:t>github.com</a:t>
            </a:r>
            <a:r>
              <a:rPr sz="1400" b="0" dirty="0">
                <a:solidFill>
                  <a:srgbClr val="526477"/>
                </a:solidFill>
                <a:latin typeface="Apple SD Gothic Neo"/>
                <a:ea typeface="Apple SD Gothic Neo"/>
                <a:hlinkClick r:id="rId3"/>
              </a:rPr>
              <a:t>/</a:t>
            </a:r>
            <a:r>
              <a:rPr sz="1400" b="0" dirty="0" err="1">
                <a:solidFill>
                  <a:srgbClr val="526477"/>
                </a:solidFill>
                <a:latin typeface="Apple SD Gothic Neo"/>
                <a:ea typeface="Apple SD Gothic Neo"/>
                <a:hlinkClick r:id="rId3"/>
              </a:rPr>
              <a:t>ukkhnn</a:t>
            </a:r>
            <a:r>
              <a:rPr sz="1400" b="0" dirty="0">
                <a:solidFill>
                  <a:srgbClr val="526477"/>
                </a:solidFill>
                <a:latin typeface="Apple SD Gothic Neo"/>
                <a:ea typeface="Apple SD Gothic Neo"/>
                <a:hlinkClick r:id="rId3"/>
              </a:rPr>
              <a:t>/PAC2026 </a:t>
            </a:r>
            <a:r>
              <a:rPr sz="110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· </a:t>
            </a:r>
            <a:r>
              <a:rPr sz="110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원본</a:t>
            </a:r>
            <a:r>
              <a:rPr sz="110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현장</a:t>
            </a:r>
            <a:r>
              <a:rPr sz="110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자료</a:t>
            </a:r>
            <a:r>
              <a:rPr sz="110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(data/raw)</a:t>
            </a:r>
            <a:r>
              <a:rPr sz="110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와</a:t>
            </a:r>
            <a:r>
              <a:rPr sz="110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생성</a:t>
            </a:r>
            <a:r>
              <a:rPr sz="110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산출물</a:t>
            </a:r>
            <a:r>
              <a:rPr sz="110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(output/)</a:t>
            </a:r>
            <a:r>
              <a:rPr sz="110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은</a:t>
            </a:r>
            <a:r>
              <a:rPr sz="110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Git </a:t>
            </a:r>
            <a:r>
              <a:rPr sz="110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추적</a:t>
            </a:r>
            <a:r>
              <a:rPr sz="110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제외</a:t>
            </a:r>
            <a:r>
              <a:rPr sz="110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· </a:t>
            </a:r>
            <a:r>
              <a:rPr sz="110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데이터</a:t>
            </a:r>
            <a:r>
              <a:rPr sz="110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공개</a:t>
            </a:r>
            <a:r>
              <a:rPr sz="110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</a:t>
            </a:r>
            <a:r>
              <a:rPr sz="110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기준은</a:t>
            </a:r>
            <a:r>
              <a:rPr sz="1100" b="0" dirty="0">
                <a:solidFill>
                  <a:srgbClr val="526477"/>
                </a:solidFill>
                <a:latin typeface="Apple SD Gothic Neo"/>
                <a:ea typeface="Apple SD Gothic Neo"/>
              </a:rPr>
              <a:t> data/</a:t>
            </a:r>
            <a:r>
              <a:rPr sz="1100" b="0" dirty="0" err="1">
                <a:solidFill>
                  <a:srgbClr val="526477"/>
                </a:solidFill>
                <a:latin typeface="Apple SD Gothic Neo"/>
                <a:ea typeface="Apple SD Gothic Neo"/>
              </a:rPr>
              <a:t>README.md</a:t>
            </a:r>
            <a:endParaRPr sz="1100" b="0" dirty="0">
              <a:solidFill>
                <a:srgbClr val="526477"/>
              </a:solidFill>
              <a:latin typeface="Apple SD Gothic Neo"/>
              <a:ea typeface="Apple SD Gothic Neo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674800" y="270000"/>
            <a:ext cx="288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1000" b="0">
                <a:solidFill>
                  <a:srgbClr val="687584"/>
                </a:solidFill>
                <a:latin typeface="Apple SD Gothic Neo"/>
                <a:ea typeface="Apple SD Gothic Neo"/>
              </a:rPr>
              <a:t>ContextWeld · Static Duo · A17-2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4000" y="1728000"/>
          <a:ext cx="13870798" cy="3961071"/>
        </p:xfrm>
        <a:graphic>
          <a:graphicData uri="http://schemas.openxmlformats.org/drawingml/2006/table">
            <a:tbl>
              <a:tblPr/>
              <a:tblGrid>
                <a:gridCol w="28557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15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0119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</a:rPr>
                        <a:t>디렉토리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0025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</a:rPr>
                        <a:t>내용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0025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</a:rPr>
                        <a:t>주요 문서(docs/)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0025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119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src/contextweld/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후보 연결, 실제 OCR/VLM 실행·기록, 문서 추출·검색, 문서 조건 검사·모의 수신, 수정 저장(corrections.py)·명시적 재검토(review.py)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DEMO_SPEC 현재 데모 구현 기준 · OCR_PIPELINE_SPEC OCR·시각 관계 인식 구성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119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scripts/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인식·검색·문서 연결·묶음 검증, Isaac 장면 생성·ROS 영상 송출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DOCUMENT_APPLICATION_PLAN 문서 적용 계획 · WELDING_ROBOT_INPUT_SPEC 현대·두산 입력 명세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0119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configs/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document_demo(모사 작업지시·도면·범위 검토 프로파일), isaac_scene(작업대·조선소 수기 장면 설정)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RUNPOD_INFERENCE 실제 인식·문서 검색 실행 · DOCUMENT_DEMO 문서 조건·모의 전달 실행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0119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data/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examples(가상 작업지시 예제), knowledge(원문 위치·검수 범위 보존 WPS 구조화 자료), eval, raw(Git 제외)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EXPLICIT_REVIEW 사용자 수정·명시적 재검토 · DOCUMENT_REVIEW_VIEWER 오프라인 HTML 조회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0119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experiments/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기술 선택 실험·실제 출력·레포트(실험실). OCR은 별도 실험용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ISAAC_SCENE 기준 장면 · ISAAC_SHIPYARD_SCENE 조선소 수기 장면 · Pod v1 환경 기록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0119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tests/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자동 테스트(Runpod 83·로컬 83 통과 보고)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PIPELINE_OPEN_RESOURCES_AND_SCENARIO 공개 자료·시나리오 조사 · DATA_MODEL_PROVENANCE 자료 계보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0119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docs/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PROJECT_BRIEF, MILESTONES, DATA_REQUIREMENTS, SOURCES, references(기획서·미션 원문), context, tasks, presentation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Runpod 자료 준비 · 첫 장면 실행 안내 · 개발 기획 · 제출 기획서 · 미션 정의서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0119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output/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evaluations(평가 결과), demo(시연 영상·스크린샷), presentation(발표자료) — Git 제외, 로컬 전달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26477"/>
                          </a:solidFill>
                          <a:latin typeface="Apple SD Gothic Neo"/>
                          <a:ea typeface="Apple SD Gothic Neo"/>
                        </a:rPr>
                        <a:t>—</a:t>
                      </a:r>
                    </a:p>
                  </a:txBody>
                  <a:tcPr marL="54000" marR="54000" marT="28800" marB="28800" anchor="ctr">
                    <a:lnL w="6350">
                      <a:solidFill>
                        <a:srgbClr val="D4DCE4"/>
                      </a:solidFill>
                    </a:lnL>
                    <a:lnR w="6350">
                      <a:solidFill>
                        <a:srgbClr val="D4DCE4"/>
                      </a:solidFill>
                    </a:lnR>
                    <a:lnT w="6350">
                      <a:solidFill>
                        <a:srgbClr val="D4DCE4"/>
                      </a:solidFill>
                    </a:lnT>
                    <a:lnB w="6350">
                      <a:solidFill>
                        <a:srgbClr val="D4DCE4"/>
                      </a:solidFill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4000" y="5833080"/>
            <a:ext cx="13870800" cy="47700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526477"/>
                </a:solidFill>
                <a:latin typeface="Apple SD Gothic Neo"/>
                <a:ea typeface="Apple SD Gothic Neo"/>
              </a:rPr>
              <a:t>•  주요 기능 목표(README): 정형·수기 표기 영역 검출과 인식 후보 표시 → 부재·위치·방향·용접 지시 구조화 → 작업지시·도면·WPS의 대상·개정·유효 시점 일관성 검토 → 표기 규칙·용접 기준 검색으로 근거·조건 후보 제시 → 불확실·충돌 결과의 작업자 승인·수정·보류 → 원본 이미지부터 이력까지 추적성과 명시적 재검토.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4000" y="7722000"/>
            <a:ext cx="138708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50" b="0">
                <a:solidFill>
                  <a:srgbClr val="687584"/>
                </a:solidFill>
                <a:latin typeface="Apple SD Gothic Neo"/>
                <a:ea typeface="Apple SD Gothic Neo"/>
              </a:rPr>
              <a:t>문서 표는 README '문서' 절 요약 · A/B 촬영과 인식·문서 처리의 한 실행 연결, 시각 관계 재해석, 수정 입력 화면, 관리자 화면 통합은 후속 범위 · 본문 3·9장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3019</TotalTime>
  <Words>10752</Words>
  <Application>Microsoft Macintosh PowerPoint</Application>
  <DocSecurity>0</DocSecurity>
  <PresentationFormat>사용자 지정</PresentationFormat>
  <Paragraphs>1011</Paragraphs>
  <Slides>40</Slides>
  <Notes>40</Notes>
  <HiddenSlides>0</HiddenSlides>
  <MMClips>1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40</vt:i4>
      </vt:variant>
    </vt:vector>
  </HeadingPairs>
  <TitlesOfParts>
    <vt:vector size="43" baseType="lpstr">
      <vt:lpstr>Apple SD Gothic Neo</vt:lpstr>
      <vt:lpstr>Aptos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염 승재</cp:lastModifiedBy>
  <cp:revision>16</cp:revision>
  <cp:lastPrinted>2026-10-10T03:36:00Z</cp:lastPrinted>
  <dcterms:created xsi:type="dcterms:W3CDTF">2026-10-09T19:19:03Z</dcterms:created>
  <dcterms:modified xsi:type="dcterms:W3CDTF">2026-10-12T04:48:02Z</dcterms:modified>
</cp:coreProperties>
</file>